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Ronak Sing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07T05:55:18.117">
    <p:pos x="0" y="0"/>
    <p:text>dr abhimanyu</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inpta.iitr.ac.in/" TargetMode="External"/><Relationship Id="rId3" Type="http://schemas.openxmlformats.org/officeDocument/2006/relationships/hyperlink" Target="https://inpta.iitr.ac.in/" TargetMode="External"/><Relationship Id="rId4" Type="http://schemas.openxmlformats.org/officeDocument/2006/relationships/hyperlink" Target="https://inpta.iitr.ac.in/" TargetMode="External"/><Relationship Id="rId5" Type="http://schemas.openxmlformats.org/officeDocument/2006/relationships/hyperlink" Target="https://inspirehep.net/experiments/2609642" TargetMode="External"/><Relationship Id="rId6" Type="http://schemas.openxmlformats.org/officeDocument/2006/relationships/hyperlink" Target="https://inspirehep.net/experiments/2609642" TargetMode="External"/><Relationship Id="rId7" Type="http://schemas.openxmlformats.org/officeDocument/2006/relationships/hyperlink" Target="https://inpta.iitr.ac.in/pdfs/InPTA.3P+.English.pdf" TargetMode="External"/><Relationship Id="rId8" Type="http://schemas.openxmlformats.org/officeDocument/2006/relationships/hyperlink" Target="https://inpta.iitr.ac.in/pdfs/InPTA.3P+.English.pdf"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does not have a deeply embedded ohysics aspect to it</a:t>
            </a:r>
            <a:endParaRPr/>
          </a:p>
        </p:txBody>
      </p:sp>
      <p:sp>
        <p:nvSpPr>
          <p:cNvPr id="195" name="Google Shape;1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9137e73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69137e73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500">
                <a:highlight>
                  <a:srgbClr val="EDEDF0"/>
                </a:highlight>
                <a:latin typeface="Times New Roman"/>
                <a:ea typeface="Times New Roman"/>
                <a:cs typeface="Times New Roman"/>
                <a:sym typeface="Times New Roman"/>
              </a:rPr>
              <a:t>An example of folded pulsar data observed by FAST, speci</a:t>
            </a:r>
            <a:endParaRPr sz="1500">
              <a:highlight>
                <a:srgbClr val="EDEDF0"/>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500">
                <a:highlight>
                  <a:srgbClr val="EDEDF0"/>
                </a:highlight>
                <a:latin typeface="Courier New"/>
                <a:ea typeface="Courier New"/>
                <a:cs typeface="Courier New"/>
                <a:sym typeface="Courier New"/>
              </a:rPr>
              <a:t>fi</a:t>
            </a:r>
            <a:endParaRPr sz="1500">
              <a:highlight>
                <a:srgbClr val="EDEDF0"/>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500">
                <a:highlight>
                  <a:srgbClr val="EDEDF0"/>
                </a:highlight>
                <a:latin typeface="Times New Roman"/>
                <a:ea typeface="Times New Roman"/>
                <a:cs typeface="Times New Roman"/>
                <a:sym typeface="Times New Roman"/>
              </a:rPr>
              <a:t>cally</a:t>
            </a:r>
            <a:endParaRPr sz="1500">
              <a:highlight>
                <a:srgbClr val="EDEDF0"/>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500">
                <a:highlight>
                  <a:srgbClr val="EDEDF0"/>
                </a:highlight>
                <a:latin typeface="Times New Roman"/>
                <a:ea typeface="Times New Roman"/>
                <a:cs typeface="Times New Roman"/>
                <a:sym typeface="Times New Roman"/>
              </a:rPr>
              <a:t>from FAST tracking data for PSR J1859</a:t>
            </a:r>
            <a:endParaRPr sz="1500">
              <a:highlight>
                <a:srgbClr val="EDEDF0"/>
              </a:highlight>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sz="1500">
                <a:highlight>
                  <a:srgbClr val="EDEDF0"/>
                </a:highlight>
                <a:latin typeface="Courier New"/>
                <a:ea typeface="Courier New"/>
                <a:cs typeface="Courier New"/>
                <a:sym typeface="Courier New"/>
              </a:rPr>
              <a:t>+</a:t>
            </a:r>
            <a:endParaRPr sz="1500">
              <a:highlight>
                <a:srgbClr val="EDEDF0"/>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lang="en-US" sz="1500">
                <a:highlight>
                  <a:srgbClr val="EDEDF0"/>
                </a:highlight>
                <a:latin typeface="Times New Roman"/>
                <a:ea typeface="Times New Roman"/>
                <a:cs typeface="Times New Roman"/>
                <a:sym typeface="Times New Roman"/>
              </a:rPr>
              <a:t>0430</a:t>
            </a:r>
            <a:endParaRPr sz="1500">
              <a:highlight>
                <a:srgbClr val="EDEDF0"/>
              </a:highlight>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204" name="Google Shape;204;g3f69137e73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InPTA stands for the</a:t>
            </a:r>
            <a:r>
              <a:rPr lang="en-US">
                <a:uFill>
                  <a:noFill/>
                </a:uFill>
                <a:latin typeface="Arial"/>
                <a:ea typeface="Arial"/>
                <a:cs typeface="Arial"/>
                <a:sym typeface="Arial"/>
                <a:hlinkClick r:id="rId2"/>
              </a:rPr>
              <a:t> </a:t>
            </a:r>
            <a:r>
              <a:rPr lang="en-US">
                <a:solidFill>
                  <a:schemeClr val="hlink"/>
                </a:solidFill>
                <a:uFill>
                  <a:noFill/>
                </a:uFill>
                <a:latin typeface="Arial"/>
                <a:ea typeface="Arial"/>
                <a:cs typeface="Arial"/>
                <a:sym typeface="Arial"/>
                <a:hlinkClick r:id="rId3"/>
              </a:rPr>
              <a:t>Indian Pulsar Timing Array</a:t>
            </a:r>
            <a:r>
              <a:rPr lang="en-US">
                <a:latin typeface="Arial"/>
                <a:ea typeface="Arial"/>
                <a:cs typeface="Arial"/>
                <a:sym typeface="Arial"/>
              </a:rPr>
              <a:t>, a collaborative scientific experiment launched in 2016. It involves Indian and Japanese researchers using the upgraded Giant Metrewave Radio Telescope (uGMRT) near Pune to detect low-frequency, nanoHertz gravitational waves and study millisecond pulsars.</a:t>
            </a:r>
            <a:r>
              <a:rPr lang="en-US" sz="1100">
                <a:latin typeface="Arial"/>
                <a:ea typeface="Arial"/>
                <a:cs typeface="Arial"/>
                <a:sym typeface="Arial"/>
              </a:rPr>
              <a:t> [</a:t>
            </a:r>
            <a:r>
              <a:rPr lang="en-US" sz="1100" u="sng">
                <a:solidFill>
                  <a:schemeClr val="hlink"/>
                </a:solidFill>
                <a:latin typeface="Arial"/>
                <a:ea typeface="Arial"/>
                <a:cs typeface="Arial"/>
                <a:sym typeface="Arial"/>
                <a:hlinkClick r:id="rId4"/>
              </a:rPr>
              <a:t>1</a:t>
            </a:r>
            <a:r>
              <a:rPr lang="en-US" sz="1100">
                <a:latin typeface="Arial"/>
                <a:ea typeface="Arial"/>
                <a:cs typeface="Arial"/>
                <a:sym typeface="Arial"/>
              </a:rPr>
              <a:t>,</a:t>
            </a:r>
            <a:r>
              <a:rPr lang="en-US" sz="1100">
                <a:uFill>
                  <a:noFill/>
                </a:uFill>
                <a:latin typeface="Arial"/>
                <a:ea typeface="Arial"/>
                <a:cs typeface="Arial"/>
                <a:sym typeface="Arial"/>
                <a:hlinkClick r:id="rId5"/>
              </a:rPr>
              <a:t> </a:t>
            </a:r>
            <a:r>
              <a:rPr lang="en-US" sz="1100" u="sng">
                <a:solidFill>
                  <a:schemeClr val="hlink"/>
                </a:solidFill>
                <a:latin typeface="Arial"/>
                <a:ea typeface="Arial"/>
                <a:cs typeface="Arial"/>
                <a:sym typeface="Arial"/>
                <a:hlinkClick r:id="rId6"/>
              </a:rPr>
              <a:t>2</a:t>
            </a:r>
            <a:r>
              <a:rPr lang="en-US" sz="1100">
                <a:latin typeface="Arial"/>
                <a:ea typeface="Arial"/>
                <a:cs typeface="Arial"/>
                <a:sym typeface="Arial"/>
              </a:rPr>
              <a:t>,</a:t>
            </a:r>
            <a:r>
              <a:rPr lang="en-US" sz="1100">
                <a:uFill>
                  <a:noFill/>
                </a:uFill>
                <a:latin typeface="Arial"/>
                <a:ea typeface="Arial"/>
                <a:cs typeface="Arial"/>
                <a:sym typeface="Arial"/>
                <a:hlinkClick r:id="rId7"/>
              </a:rPr>
              <a:t> </a:t>
            </a:r>
            <a:r>
              <a:rPr lang="en-US" sz="1100" u="sng">
                <a:solidFill>
                  <a:schemeClr val="hlink"/>
                </a:solidFill>
                <a:latin typeface="Arial"/>
                <a:ea typeface="Arial"/>
                <a:cs typeface="Arial"/>
                <a:sym typeface="Arial"/>
                <a:hlinkClick r:id="rId8"/>
              </a:rPr>
              <a:t>3</a:t>
            </a:r>
            <a:r>
              <a:rPr lang="en-US" sz="1100">
                <a:latin typeface="Arial"/>
                <a:ea typeface="Arial"/>
                <a:cs typeface="Arial"/>
                <a:sym typeface="Arial"/>
              </a:rPr>
              <a:t>]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in theraw continuous-time domain, the standard deviation of the Gaussian background noise i</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mathematically muchlarger than the amplitude of the intrinsic pulsar signal Because the initi</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ignal-to-noise Ratio is &lt; I, the deterministic signal is completely obscured by stochastic</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Fluctuations over the continuous observation duration.</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To resolve this,we divide the total observation time into N discrete segments, where the len</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phase domain.</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When we integrate, or sum, these aligned segments, two different mathematical scaling laws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signal Because the intrinsic pulsar emission is deterministic and perfectly correlat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across every segment, the signal undergoes constructive interference Is amplitude ad</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linearly scaling by factor of N.</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Noise: The Gaussian background noise is an uncorrelated, stochastic process.Wh</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summing N independent Gaussian variables, their variances sum linearly Therefore, th</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69137e737_0_2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69137e737_0_2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050">
                <a:highlight>
                  <a:srgbClr val="EDEDF0"/>
                </a:highlight>
                <a:latin typeface="Times New Roman"/>
                <a:ea typeface="Times New Roman"/>
                <a:cs typeface="Times New Roman"/>
                <a:sym typeface="Times New Roman"/>
              </a:rPr>
              <a:t>Figure 5. Comparison of RFI labeling results using the threshold based on</a:t>
            </a:r>
            <a:endParaRPr sz="1050">
              <a:highlight>
                <a:srgbClr val="EDEDF0"/>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050">
                <a:highlight>
                  <a:srgbClr val="EDEDF0"/>
                </a:highlight>
                <a:latin typeface="Times New Roman"/>
                <a:ea typeface="Times New Roman"/>
                <a:cs typeface="Times New Roman"/>
                <a:sym typeface="Times New Roman"/>
              </a:rPr>
              <a:t>the distribution of rms values and the final optimized pixel category labels</a:t>
            </a:r>
            <a:endParaRPr sz="1050">
              <a:highlight>
                <a:srgbClr val="EDEDF0"/>
              </a:highlight>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050">
                <a:highlight>
                  <a:srgbClr val="EDEDF0"/>
                </a:highlight>
                <a:latin typeface="Times New Roman"/>
                <a:ea typeface="Times New Roman"/>
                <a:cs typeface="Times New Roman"/>
                <a:sym typeface="Times New Roman"/>
              </a:rPr>
              <a:t>using the CRFs.</a:t>
            </a:r>
            <a:endParaRPr sz="1050">
              <a:highlight>
                <a:srgbClr val="EDEDF0"/>
              </a:highlight>
              <a:latin typeface="Times New Roman"/>
              <a:ea typeface="Times New Roman"/>
              <a:cs typeface="Times New Roman"/>
              <a:sym typeface="Times New Roman"/>
            </a:endParaRPr>
          </a:p>
          <a:p>
            <a:pPr indent="0" lvl="0" marL="0" rtl="0" algn="l">
              <a:spcBef>
                <a:spcPts val="0"/>
              </a:spcBef>
              <a:spcAft>
                <a:spcPts val="0"/>
              </a:spcAft>
              <a:buNone/>
            </a:pPr>
            <a:r>
              <a:t/>
            </a:r>
            <a:endParaRPr sz="1050">
              <a:highlight>
                <a:srgbClr val="EDEDF0"/>
              </a:highlight>
              <a:latin typeface="Times New Roman"/>
              <a:ea typeface="Times New Roman"/>
              <a:cs typeface="Times New Roman"/>
              <a:sym typeface="Times New Roman"/>
            </a:endParaRPr>
          </a:p>
        </p:txBody>
      </p:sp>
      <p:sp>
        <p:nvSpPr>
          <p:cNvPr id="232" name="Google Shape;232;g3f69137e737_0_28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f98c59fdb3_0_327:notes"/>
          <p:cNvSpPr txBox="1"/>
          <p:nvPr>
            <p:ph idx="2"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3f98c59fdb3_0_327:notes"/>
          <p:cNvSpPr txBox="1"/>
          <p:nvPr>
            <p:ph idx="10" type="dt"/>
          </p:nvPr>
        </p:nvSpPr>
        <p:spPr>
          <a:xfrm>
            <a:off x="3884613" y="0"/>
            <a:ext cx="2971800" cy="4587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t/>
            </a:r>
            <a:endParaRPr/>
          </a:p>
        </p:txBody>
      </p:sp>
      <p:sp>
        <p:nvSpPr>
          <p:cNvPr id="247" name="Google Shape;247;g3f98c59fdb3_0_327:notes"/>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f98c59fdb3_0_3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f98c59fdb3_0_327: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f98c59fdb3_0_3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3.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p:nvPr/>
        </p:nvSpPr>
        <p:spPr>
          <a:xfrm>
            <a:off x="0" y="0"/>
            <a:ext cx="12192000" cy="4606724"/>
          </a:xfrm>
          <a:prstGeom prst="rect">
            <a:avLst/>
          </a:prstGeom>
          <a:solidFill>
            <a:srgbClr val="9208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8" name="Google Shape;18;p2"/>
          <p:cNvGrpSpPr/>
          <p:nvPr/>
        </p:nvGrpSpPr>
        <p:grpSpPr>
          <a:xfrm>
            <a:off x="4539436" y="1893116"/>
            <a:ext cx="3113127" cy="3113127"/>
            <a:chOff x="4539436" y="1893116"/>
            <a:chExt cx="3113127" cy="3113127"/>
          </a:xfrm>
        </p:grpSpPr>
        <p:sp>
          <p:nvSpPr>
            <p:cNvPr id="19" name="Google Shape;19;p2"/>
            <p:cNvSpPr/>
            <p:nvPr/>
          </p:nvSpPr>
          <p:spPr>
            <a:xfrm>
              <a:off x="4539436" y="1893116"/>
              <a:ext cx="3113127" cy="3113127"/>
            </a:xfrm>
            <a:prstGeom prst="ellipse">
              <a:avLst/>
            </a:prstGeom>
            <a:solidFill>
              <a:srgbClr val="DA22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 name="Google Shape;20;p2"/>
            <p:cNvSpPr/>
            <p:nvPr/>
          </p:nvSpPr>
          <p:spPr>
            <a:xfrm>
              <a:off x="4648304" y="2001985"/>
              <a:ext cx="2895391" cy="289539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21" name="Google Shape;21;p2"/>
          <p:cNvSpPr/>
          <p:nvPr/>
        </p:nvSpPr>
        <p:spPr>
          <a:xfrm>
            <a:off x="-2" y="3912719"/>
            <a:ext cx="12192000" cy="228263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Logo, company name&#10;&#10;Description automatically generated" id="22" name="Google Shape;22;p2"/>
          <p:cNvPicPr preferRelativeResize="0"/>
          <p:nvPr/>
        </p:nvPicPr>
        <p:blipFill rotWithShape="1">
          <a:blip r:embed="rId2">
            <a:alphaModFix/>
          </a:blip>
          <a:srcRect b="0" l="0" r="0" t="0"/>
          <a:stretch/>
        </p:blipFill>
        <p:spPr>
          <a:xfrm>
            <a:off x="5044975" y="2476877"/>
            <a:ext cx="2102047" cy="1232846"/>
          </a:xfrm>
          <a:prstGeom prst="rect">
            <a:avLst/>
          </a:prstGeom>
          <a:noFill/>
          <a:ln>
            <a:noFill/>
          </a:ln>
        </p:spPr>
      </p:pic>
      <p:pic>
        <p:nvPicPr>
          <p:cNvPr id="23" name="Google Shape;23;p2"/>
          <p:cNvPicPr preferRelativeResize="0"/>
          <p:nvPr/>
        </p:nvPicPr>
        <p:blipFill rotWithShape="1">
          <a:blip r:embed="rId3">
            <a:alphaModFix/>
          </a:blip>
          <a:srcRect b="0" l="0" r="0" t="0"/>
          <a:stretch/>
        </p:blipFill>
        <p:spPr>
          <a:xfrm>
            <a:off x="7956256" y="5877605"/>
            <a:ext cx="4130398" cy="922100"/>
          </a:xfrm>
          <a:prstGeom prst="rect">
            <a:avLst/>
          </a:prstGeom>
          <a:noFill/>
          <a:ln>
            <a:noFill/>
          </a:ln>
        </p:spPr>
      </p:pic>
      <p:pic>
        <p:nvPicPr>
          <p:cNvPr id="24" name="Google Shape;24;p2"/>
          <p:cNvPicPr preferRelativeResize="0"/>
          <p:nvPr/>
        </p:nvPicPr>
        <p:blipFill rotWithShape="1">
          <a:blip r:embed="rId4">
            <a:alphaModFix/>
          </a:blip>
          <a:srcRect b="0" l="0" r="0" t="0"/>
          <a:stretch/>
        </p:blipFill>
        <p:spPr>
          <a:xfrm rot="5400000">
            <a:off x="5782187" y="1367519"/>
            <a:ext cx="30483" cy="5656190"/>
          </a:xfrm>
          <a:prstGeom prst="rect">
            <a:avLst/>
          </a:prstGeom>
          <a:noFill/>
          <a:ln>
            <a:noFill/>
          </a:ln>
        </p:spPr>
      </p:pic>
      <p:pic>
        <p:nvPicPr>
          <p:cNvPr id="25" name="Google Shape;25;p2"/>
          <p:cNvPicPr preferRelativeResize="0"/>
          <p:nvPr/>
        </p:nvPicPr>
        <p:blipFill rotWithShape="1">
          <a:blip r:embed="rId4">
            <a:alphaModFix/>
          </a:blip>
          <a:srcRect b="0" l="0" r="0" t="0"/>
          <a:stretch/>
        </p:blipFill>
        <p:spPr>
          <a:xfrm rot="5400000">
            <a:off x="5976150" y="2885751"/>
            <a:ext cx="30483" cy="5656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
          <p:cNvSpPr txBox="1"/>
          <p:nvPr>
            <p:ph type="title"/>
          </p:nvPr>
        </p:nvSpPr>
        <p:spPr>
          <a:xfrm>
            <a:off x="2209801" y="328976"/>
            <a:ext cx="6721764" cy="91763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0000"/>
              </a:buClr>
              <a:buSzPts val="4400"/>
              <a:buFont typeface="Calibri"/>
              <a:buNone/>
              <a:defRPr b="1">
                <a:solidFill>
                  <a:srgbClr val="FF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2" type="sldNum"/>
          </p:nvPr>
        </p:nvSpPr>
        <p:spPr>
          <a:xfrm>
            <a:off x="3385127" y="63602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Logo, company name&#10;&#10;Description automatically generated" id="31" name="Google Shape;31;p3"/>
          <p:cNvPicPr preferRelativeResize="0"/>
          <p:nvPr/>
        </p:nvPicPr>
        <p:blipFill rotWithShape="1">
          <a:blip r:embed="rId2">
            <a:alphaModFix/>
          </a:blip>
          <a:srcRect b="0" l="0" r="0" t="0"/>
          <a:stretch/>
        </p:blipFill>
        <p:spPr>
          <a:xfrm>
            <a:off x="208684" y="365125"/>
            <a:ext cx="1851025" cy="1085622"/>
          </a:xfrm>
          <a:prstGeom prst="rect">
            <a:avLst/>
          </a:prstGeom>
          <a:noFill/>
          <a:ln>
            <a:noFill/>
          </a:ln>
        </p:spPr>
      </p:pic>
      <p:pic>
        <p:nvPicPr>
          <p:cNvPr id="32" name="Google Shape;32;p3"/>
          <p:cNvPicPr preferRelativeResize="0"/>
          <p:nvPr/>
        </p:nvPicPr>
        <p:blipFill rotWithShape="1">
          <a:blip r:embed="rId3">
            <a:alphaModFix/>
          </a:blip>
          <a:srcRect b="0" l="0" r="0" t="0"/>
          <a:stretch/>
        </p:blipFill>
        <p:spPr>
          <a:xfrm flipH="1" rot="5400000">
            <a:off x="5982501" y="1364002"/>
            <a:ext cx="58278" cy="10813633"/>
          </a:xfrm>
          <a:prstGeom prst="rect">
            <a:avLst/>
          </a:prstGeom>
          <a:noFill/>
          <a:ln>
            <a:noFill/>
          </a:ln>
        </p:spPr>
      </p:pic>
      <p:pic>
        <p:nvPicPr>
          <p:cNvPr id="33" name="Google Shape;33;p3"/>
          <p:cNvPicPr preferRelativeResize="0"/>
          <p:nvPr/>
        </p:nvPicPr>
        <p:blipFill rotWithShape="1">
          <a:blip r:embed="rId3">
            <a:alphaModFix/>
          </a:blip>
          <a:srcRect b="0" l="0" r="0" t="0"/>
          <a:stretch/>
        </p:blipFill>
        <p:spPr>
          <a:xfrm rot="5400000">
            <a:off x="6095648" y="-4527556"/>
            <a:ext cx="65358" cy="12127346"/>
          </a:xfrm>
          <a:prstGeom prst="rect">
            <a:avLst/>
          </a:prstGeom>
          <a:noFill/>
          <a:ln>
            <a:noFill/>
          </a:ln>
        </p:spPr>
      </p:pic>
      <p:pic>
        <p:nvPicPr>
          <p:cNvPr descr="A blue logo with a head and lines&#10;&#10;Description automatically generated with medium confidence" id="34" name="Google Shape;34;p3"/>
          <p:cNvPicPr preferRelativeResize="0"/>
          <p:nvPr/>
        </p:nvPicPr>
        <p:blipFill rotWithShape="1">
          <a:blip r:embed="rId4">
            <a:alphaModFix/>
          </a:blip>
          <a:srcRect b="0" l="0" r="0" t="0"/>
          <a:stretch/>
        </p:blipFill>
        <p:spPr>
          <a:xfrm>
            <a:off x="10670576" y="86881"/>
            <a:ext cx="1366447" cy="139021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5"/>
          <p:cNvSpPr txBox="1"/>
          <p:nvPr>
            <p:ph type="title"/>
          </p:nvPr>
        </p:nvSpPr>
        <p:spPr>
          <a:xfrm>
            <a:off x="2179782" y="365125"/>
            <a:ext cx="6834909"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7"/>
          <p:cNvSpPr txBox="1"/>
          <p:nvPr>
            <p:ph type="title"/>
          </p:nvPr>
        </p:nvSpPr>
        <p:spPr>
          <a:xfrm>
            <a:off x="2179782" y="365125"/>
            <a:ext cx="6834909"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9" name="Google Shape;69;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0"/>
          <p:cNvSpPr/>
          <p:nvPr>
            <p:ph idx="2" type="pic"/>
          </p:nvPr>
        </p:nvSpPr>
        <p:spPr>
          <a:xfrm>
            <a:off x="5183188" y="987425"/>
            <a:ext cx="6172200" cy="4873625"/>
          </a:xfrm>
          <a:prstGeom prst="rect">
            <a:avLst/>
          </a:prstGeom>
          <a:noFill/>
          <a:ln>
            <a:noFill/>
          </a:ln>
        </p:spPr>
      </p:sp>
      <p:sp>
        <p:nvSpPr>
          <p:cNvPr id="76" name="Google Shape;76;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11"/>
          <p:cNvSpPr txBox="1"/>
          <p:nvPr>
            <p:ph type="title"/>
          </p:nvPr>
        </p:nvSpPr>
        <p:spPr>
          <a:xfrm>
            <a:off x="2179782" y="365125"/>
            <a:ext cx="6834909"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6" name="Shape 86"/>
        <p:cNvGrpSpPr/>
        <p:nvPr/>
      </p:nvGrpSpPr>
      <p:grpSpPr>
        <a:xfrm>
          <a:off x="0" y="0"/>
          <a:ext cx="0" cy="0"/>
          <a:chOff x="0" y="0"/>
          <a:chExt cx="0" cy="0"/>
        </a:xfrm>
      </p:grpSpPr>
      <p:sp>
        <p:nvSpPr>
          <p:cNvPr id="87" name="Google Shape;87;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제목 슬라이드">
  <p:cSld name="9_제목 슬라이드">
    <p:bg>
      <p:bgPr>
        <a:solidFill>
          <a:srgbClr val="920815"/>
        </a:solidFill>
      </p:bgPr>
    </p:bg>
    <p:spTree>
      <p:nvGrpSpPr>
        <p:cNvPr id="92" name="Shape 92"/>
        <p:cNvGrpSpPr/>
        <p:nvPr/>
      </p:nvGrpSpPr>
      <p:grpSpPr>
        <a:xfrm>
          <a:off x="0" y="0"/>
          <a:ext cx="0" cy="0"/>
          <a:chOff x="0" y="0"/>
          <a:chExt cx="0" cy="0"/>
        </a:xfrm>
      </p:grpSpPr>
      <p:sp>
        <p:nvSpPr>
          <p:cNvPr id="93" name="Google Shape;93;p13"/>
          <p:cNvSpPr/>
          <p:nvPr/>
        </p:nvSpPr>
        <p:spPr>
          <a:xfrm>
            <a:off x="2204720" y="0"/>
            <a:ext cx="9774801" cy="6858000"/>
          </a:xfrm>
          <a:custGeom>
            <a:rect b="b" l="l" r="r" t="t"/>
            <a:pathLst>
              <a:path extrusionOk="0" h="6858000" w="9365635">
                <a:moveTo>
                  <a:pt x="9044683" y="0"/>
                </a:moveTo>
                <a:lnTo>
                  <a:pt x="9365635" y="0"/>
                </a:lnTo>
                <a:lnTo>
                  <a:pt x="9365635" y="6858000"/>
                </a:lnTo>
                <a:lnTo>
                  <a:pt x="0" y="6858000"/>
                </a:lnTo>
                <a:lnTo>
                  <a:pt x="346277" y="6761053"/>
                </a:lnTo>
                <a:cubicBezTo>
                  <a:pt x="4078056" y="5668626"/>
                  <a:pt x="7180770" y="3232391"/>
                  <a:pt x="9015435" y="53746"/>
                </a:cubicBezTo>
                <a:close/>
              </a:path>
            </a:pathLst>
          </a:custGeom>
          <a:solidFill>
            <a:srgbClr val="C70B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3"/>
          <p:cNvSpPr/>
          <p:nvPr/>
        </p:nvSpPr>
        <p:spPr>
          <a:xfrm>
            <a:off x="2826365" y="0"/>
            <a:ext cx="9365635" cy="6858000"/>
          </a:xfrm>
          <a:custGeom>
            <a:rect b="b" l="l" r="r" t="t"/>
            <a:pathLst>
              <a:path extrusionOk="0" h="6858000" w="9365635">
                <a:moveTo>
                  <a:pt x="9044683" y="0"/>
                </a:moveTo>
                <a:lnTo>
                  <a:pt x="9365635" y="0"/>
                </a:lnTo>
                <a:lnTo>
                  <a:pt x="9365635" y="6858000"/>
                </a:lnTo>
                <a:lnTo>
                  <a:pt x="0" y="6858000"/>
                </a:lnTo>
                <a:lnTo>
                  <a:pt x="346277" y="6761053"/>
                </a:lnTo>
                <a:cubicBezTo>
                  <a:pt x="4078056" y="5668626"/>
                  <a:pt x="7180770" y="3232391"/>
                  <a:pt x="9015435" y="5374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Logo, company name&#10;&#10;Description automatically generated" id="95" name="Google Shape;95;p13"/>
          <p:cNvPicPr preferRelativeResize="0"/>
          <p:nvPr/>
        </p:nvPicPr>
        <p:blipFill rotWithShape="1">
          <a:blip r:embed="rId2">
            <a:alphaModFix amt="5000"/>
          </a:blip>
          <a:srcRect b="0" l="0" r="0" t="0"/>
          <a:stretch/>
        </p:blipFill>
        <p:spPr>
          <a:xfrm>
            <a:off x="2360757" y="794085"/>
            <a:ext cx="5433589" cy="3186787"/>
          </a:xfrm>
          <a:prstGeom prst="rect">
            <a:avLst/>
          </a:prstGeom>
          <a:noFill/>
          <a:ln>
            <a:noFill/>
          </a:ln>
        </p:spPr>
      </p:pic>
      <p:pic>
        <p:nvPicPr>
          <p:cNvPr id="96" name="Google Shape;96;p13"/>
          <p:cNvPicPr preferRelativeResize="0"/>
          <p:nvPr/>
        </p:nvPicPr>
        <p:blipFill rotWithShape="1">
          <a:blip r:embed="rId3">
            <a:alphaModFix/>
          </a:blip>
          <a:srcRect b="0" l="0" r="0" t="0"/>
          <a:stretch/>
        </p:blipFill>
        <p:spPr>
          <a:xfrm>
            <a:off x="6648840" y="5457398"/>
            <a:ext cx="5433589" cy="121303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3" name="Shape 103"/>
        <p:cNvGrpSpPr/>
        <p:nvPr/>
      </p:nvGrpSpPr>
      <p:grpSpPr>
        <a:xfrm>
          <a:off x="0" y="0"/>
          <a:ext cx="0" cy="0"/>
          <a:chOff x="0" y="0"/>
          <a:chExt cx="0" cy="0"/>
        </a:xfrm>
      </p:grpSpPr>
      <p:sp>
        <p:nvSpPr>
          <p:cNvPr id="104" name="Google Shape;104;p15"/>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15"/>
          <p:cNvSpPr/>
          <p:nvPr/>
        </p:nvSpPr>
        <p:spPr>
          <a:xfrm>
            <a:off x="0" y="0"/>
            <a:ext cx="12192000" cy="4606800"/>
          </a:xfrm>
          <a:prstGeom prst="rect">
            <a:avLst/>
          </a:prstGeom>
          <a:solidFill>
            <a:srgbClr val="9208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06" name="Google Shape;106;p15"/>
          <p:cNvGrpSpPr/>
          <p:nvPr/>
        </p:nvGrpSpPr>
        <p:grpSpPr>
          <a:xfrm>
            <a:off x="4539436" y="1893116"/>
            <a:ext cx="3113100" cy="3113100"/>
            <a:chOff x="4539436" y="1893116"/>
            <a:chExt cx="3113100" cy="3113100"/>
          </a:xfrm>
        </p:grpSpPr>
        <p:sp>
          <p:nvSpPr>
            <p:cNvPr id="107" name="Google Shape;107;p15"/>
            <p:cNvSpPr/>
            <p:nvPr/>
          </p:nvSpPr>
          <p:spPr>
            <a:xfrm>
              <a:off x="4539436" y="1893116"/>
              <a:ext cx="3113100" cy="3113100"/>
            </a:xfrm>
            <a:prstGeom prst="ellipse">
              <a:avLst/>
            </a:prstGeom>
            <a:solidFill>
              <a:srgbClr val="DA22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15"/>
            <p:cNvSpPr/>
            <p:nvPr/>
          </p:nvSpPr>
          <p:spPr>
            <a:xfrm>
              <a:off x="4648304" y="2001985"/>
              <a:ext cx="2895300" cy="28953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09" name="Google Shape;109;p15"/>
          <p:cNvSpPr/>
          <p:nvPr/>
        </p:nvSpPr>
        <p:spPr>
          <a:xfrm>
            <a:off x="-2" y="3912719"/>
            <a:ext cx="12192000" cy="2282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Logo, company name&#10;&#10;Description automatically generated" id="110" name="Google Shape;110;p15"/>
          <p:cNvPicPr preferRelativeResize="0"/>
          <p:nvPr/>
        </p:nvPicPr>
        <p:blipFill rotWithShape="1">
          <a:blip r:embed="rId2">
            <a:alphaModFix/>
          </a:blip>
          <a:srcRect b="0" l="0" r="0" t="0"/>
          <a:stretch/>
        </p:blipFill>
        <p:spPr>
          <a:xfrm>
            <a:off x="5044975" y="2476877"/>
            <a:ext cx="2102047" cy="1232846"/>
          </a:xfrm>
          <a:prstGeom prst="rect">
            <a:avLst/>
          </a:prstGeom>
          <a:noFill/>
          <a:ln>
            <a:noFill/>
          </a:ln>
        </p:spPr>
      </p:pic>
      <p:pic>
        <p:nvPicPr>
          <p:cNvPr id="111" name="Google Shape;111;p15"/>
          <p:cNvPicPr preferRelativeResize="0"/>
          <p:nvPr/>
        </p:nvPicPr>
        <p:blipFill rotWithShape="1">
          <a:blip r:embed="rId3">
            <a:alphaModFix/>
          </a:blip>
          <a:srcRect b="0" l="0" r="0" t="0"/>
          <a:stretch/>
        </p:blipFill>
        <p:spPr>
          <a:xfrm>
            <a:off x="7956256" y="5877605"/>
            <a:ext cx="4130398" cy="922100"/>
          </a:xfrm>
          <a:prstGeom prst="rect">
            <a:avLst/>
          </a:prstGeom>
          <a:noFill/>
          <a:ln>
            <a:noFill/>
          </a:ln>
        </p:spPr>
      </p:pic>
      <p:pic>
        <p:nvPicPr>
          <p:cNvPr id="112" name="Google Shape;112;p15"/>
          <p:cNvPicPr preferRelativeResize="0"/>
          <p:nvPr/>
        </p:nvPicPr>
        <p:blipFill rotWithShape="1">
          <a:blip r:embed="rId4">
            <a:alphaModFix/>
          </a:blip>
          <a:srcRect b="0" l="0" r="0" t="0"/>
          <a:stretch/>
        </p:blipFill>
        <p:spPr>
          <a:xfrm rot="5400000">
            <a:off x="5782187" y="1367519"/>
            <a:ext cx="30483" cy="5656190"/>
          </a:xfrm>
          <a:prstGeom prst="rect">
            <a:avLst/>
          </a:prstGeom>
          <a:noFill/>
          <a:ln>
            <a:noFill/>
          </a:ln>
        </p:spPr>
      </p:pic>
      <p:pic>
        <p:nvPicPr>
          <p:cNvPr id="113" name="Google Shape;113;p15"/>
          <p:cNvPicPr preferRelativeResize="0"/>
          <p:nvPr/>
        </p:nvPicPr>
        <p:blipFill rotWithShape="1">
          <a:blip r:embed="rId4">
            <a:alphaModFix/>
          </a:blip>
          <a:srcRect b="0" l="0" r="0" t="0"/>
          <a:stretch/>
        </p:blipFill>
        <p:spPr>
          <a:xfrm rot="5400000">
            <a:off x="5976150" y="2885751"/>
            <a:ext cx="30483" cy="565619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4" name="Shape 114"/>
        <p:cNvGrpSpPr/>
        <p:nvPr/>
      </p:nvGrpSpPr>
      <p:grpSpPr>
        <a:xfrm>
          <a:off x="0" y="0"/>
          <a:ext cx="0" cy="0"/>
          <a:chOff x="0" y="0"/>
          <a:chExt cx="0" cy="0"/>
        </a:xfrm>
      </p:grpSpPr>
      <p:sp>
        <p:nvSpPr>
          <p:cNvPr id="115" name="Google Shape;115;p16"/>
          <p:cNvSpPr txBox="1"/>
          <p:nvPr>
            <p:ph type="title"/>
          </p:nvPr>
        </p:nvSpPr>
        <p:spPr>
          <a:xfrm>
            <a:off x="2209801" y="328976"/>
            <a:ext cx="6721800" cy="917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0000"/>
              </a:buClr>
              <a:buSzPts val="4400"/>
              <a:buFont typeface="Calibri"/>
              <a:buNone/>
              <a:defRPr b="1">
                <a:solidFill>
                  <a:srgbClr val="FF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1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6"/>
          <p:cNvSpPr txBox="1"/>
          <p:nvPr>
            <p:ph idx="12" type="sldNum"/>
          </p:nvPr>
        </p:nvSpPr>
        <p:spPr>
          <a:xfrm>
            <a:off x="3385127" y="63602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Logo, company name&#10;&#10;Description automatically generated" id="119" name="Google Shape;119;p16"/>
          <p:cNvPicPr preferRelativeResize="0"/>
          <p:nvPr/>
        </p:nvPicPr>
        <p:blipFill rotWithShape="1">
          <a:blip r:embed="rId2">
            <a:alphaModFix/>
          </a:blip>
          <a:srcRect b="0" l="0" r="0" t="0"/>
          <a:stretch/>
        </p:blipFill>
        <p:spPr>
          <a:xfrm>
            <a:off x="208684" y="365125"/>
            <a:ext cx="1851025" cy="1085622"/>
          </a:xfrm>
          <a:prstGeom prst="rect">
            <a:avLst/>
          </a:prstGeom>
          <a:noFill/>
          <a:ln>
            <a:noFill/>
          </a:ln>
        </p:spPr>
      </p:pic>
      <p:pic>
        <p:nvPicPr>
          <p:cNvPr id="120" name="Google Shape;120;p16"/>
          <p:cNvPicPr preferRelativeResize="0"/>
          <p:nvPr/>
        </p:nvPicPr>
        <p:blipFill rotWithShape="1">
          <a:blip r:embed="rId3">
            <a:alphaModFix/>
          </a:blip>
          <a:srcRect b="0" l="0" r="0" t="0"/>
          <a:stretch/>
        </p:blipFill>
        <p:spPr>
          <a:xfrm flipH="1" rot="5400000">
            <a:off x="5982501" y="1364002"/>
            <a:ext cx="58278" cy="10813632"/>
          </a:xfrm>
          <a:prstGeom prst="rect">
            <a:avLst/>
          </a:prstGeom>
          <a:noFill/>
          <a:ln>
            <a:noFill/>
          </a:ln>
        </p:spPr>
      </p:pic>
      <p:pic>
        <p:nvPicPr>
          <p:cNvPr id="121" name="Google Shape;121;p16"/>
          <p:cNvPicPr preferRelativeResize="0"/>
          <p:nvPr/>
        </p:nvPicPr>
        <p:blipFill rotWithShape="1">
          <a:blip r:embed="rId3">
            <a:alphaModFix/>
          </a:blip>
          <a:srcRect b="0" l="0" r="0" t="0"/>
          <a:stretch/>
        </p:blipFill>
        <p:spPr>
          <a:xfrm rot="5400000">
            <a:off x="6095648" y="-4527556"/>
            <a:ext cx="65358" cy="12127346"/>
          </a:xfrm>
          <a:prstGeom prst="rect">
            <a:avLst/>
          </a:prstGeom>
          <a:noFill/>
          <a:ln>
            <a:noFill/>
          </a:ln>
        </p:spPr>
      </p:pic>
      <p:pic>
        <p:nvPicPr>
          <p:cNvPr descr="A blue logo with a head and lines&#10;&#10;Description automatically generated with medium confidence" id="122" name="Google Shape;122;p16"/>
          <p:cNvPicPr preferRelativeResize="0"/>
          <p:nvPr/>
        </p:nvPicPr>
        <p:blipFill rotWithShape="1">
          <a:blip r:embed="rId4">
            <a:alphaModFix/>
          </a:blip>
          <a:srcRect b="0" l="0" r="0" t="0"/>
          <a:stretch/>
        </p:blipFill>
        <p:spPr>
          <a:xfrm>
            <a:off x="10670576" y="86881"/>
            <a:ext cx="1366447" cy="139021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3" name="Shape 123"/>
        <p:cNvGrpSpPr/>
        <p:nvPr/>
      </p:nvGrpSpPr>
      <p:grpSpPr>
        <a:xfrm>
          <a:off x="0" y="0"/>
          <a:ext cx="0" cy="0"/>
          <a:chOff x="0" y="0"/>
          <a:chExt cx="0" cy="0"/>
        </a:xfrm>
      </p:grpSpPr>
      <p:sp>
        <p:nvSpPr>
          <p:cNvPr id="124" name="Google Shape;124;p17"/>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5" name="Google Shape;125;p17"/>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6" name="Google Shape;126;p1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9" name="Shape 129"/>
        <p:cNvGrpSpPr/>
        <p:nvPr/>
      </p:nvGrpSpPr>
      <p:grpSpPr>
        <a:xfrm>
          <a:off x="0" y="0"/>
          <a:ext cx="0" cy="0"/>
          <a:chOff x="0" y="0"/>
          <a:chExt cx="0" cy="0"/>
        </a:xfrm>
      </p:grpSpPr>
      <p:sp>
        <p:nvSpPr>
          <p:cNvPr id="130" name="Google Shape;130;p18"/>
          <p:cNvSpPr txBox="1"/>
          <p:nvPr>
            <p:ph type="title"/>
          </p:nvPr>
        </p:nvSpPr>
        <p:spPr>
          <a:xfrm>
            <a:off x="2179782" y="365125"/>
            <a:ext cx="6834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8"/>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8"/>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6" name="Shape 136"/>
        <p:cNvGrpSpPr/>
        <p:nvPr/>
      </p:nvGrpSpPr>
      <p:grpSpPr>
        <a:xfrm>
          <a:off x="0" y="0"/>
          <a:ext cx="0" cy="0"/>
          <a:chOff x="0" y="0"/>
          <a:chExt cx="0" cy="0"/>
        </a:xfrm>
      </p:grpSpPr>
      <p:sp>
        <p:nvSpPr>
          <p:cNvPr id="137" name="Google Shape;137;p19"/>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19"/>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9" name="Google Shape;139;p19"/>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19"/>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1" name="Google Shape;141;p19"/>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1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 name="Shape 145"/>
        <p:cNvGrpSpPr/>
        <p:nvPr/>
      </p:nvGrpSpPr>
      <p:grpSpPr>
        <a:xfrm>
          <a:off x="0" y="0"/>
          <a:ext cx="0" cy="0"/>
          <a:chOff x="0" y="0"/>
          <a:chExt cx="0" cy="0"/>
        </a:xfrm>
      </p:grpSpPr>
      <p:sp>
        <p:nvSpPr>
          <p:cNvPr id="146" name="Google Shape;146;p20"/>
          <p:cNvSpPr txBox="1"/>
          <p:nvPr>
            <p:ph type="title"/>
          </p:nvPr>
        </p:nvSpPr>
        <p:spPr>
          <a:xfrm>
            <a:off x="2179782" y="365125"/>
            <a:ext cx="6834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2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2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4" name="Shape 154"/>
        <p:cNvGrpSpPr/>
        <p:nvPr/>
      </p:nvGrpSpPr>
      <p:grpSpPr>
        <a:xfrm>
          <a:off x="0" y="0"/>
          <a:ext cx="0" cy="0"/>
          <a:chOff x="0" y="0"/>
          <a:chExt cx="0" cy="0"/>
        </a:xfrm>
      </p:grpSpPr>
      <p:sp>
        <p:nvSpPr>
          <p:cNvPr id="155" name="Google Shape;155;p22"/>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 name="Google Shape;156;p22"/>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7" name="Google Shape;157;p22"/>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8" name="Google Shape;158;p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1" name="Shape 161"/>
        <p:cNvGrpSpPr/>
        <p:nvPr/>
      </p:nvGrpSpPr>
      <p:grpSpPr>
        <a:xfrm>
          <a:off x="0" y="0"/>
          <a:ext cx="0" cy="0"/>
          <a:chOff x="0" y="0"/>
          <a:chExt cx="0" cy="0"/>
        </a:xfrm>
      </p:grpSpPr>
      <p:sp>
        <p:nvSpPr>
          <p:cNvPr id="162" name="Google Shape;162;p2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23"/>
          <p:cNvSpPr/>
          <p:nvPr>
            <p:ph idx="2" type="pic"/>
          </p:nvPr>
        </p:nvSpPr>
        <p:spPr>
          <a:xfrm>
            <a:off x="5183188" y="987425"/>
            <a:ext cx="6172200" cy="4873500"/>
          </a:xfrm>
          <a:prstGeom prst="rect">
            <a:avLst/>
          </a:prstGeom>
          <a:noFill/>
          <a:ln>
            <a:noFill/>
          </a:ln>
        </p:spPr>
      </p:sp>
      <p:sp>
        <p:nvSpPr>
          <p:cNvPr id="164" name="Google Shape;164;p23"/>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65" name="Google Shape;165;p2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2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2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8" name="Shape 168"/>
        <p:cNvGrpSpPr/>
        <p:nvPr/>
      </p:nvGrpSpPr>
      <p:grpSpPr>
        <a:xfrm>
          <a:off x="0" y="0"/>
          <a:ext cx="0" cy="0"/>
          <a:chOff x="0" y="0"/>
          <a:chExt cx="0" cy="0"/>
        </a:xfrm>
      </p:grpSpPr>
      <p:sp>
        <p:nvSpPr>
          <p:cNvPr id="169" name="Google Shape;169;p24"/>
          <p:cNvSpPr txBox="1"/>
          <p:nvPr>
            <p:ph type="title"/>
          </p:nvPr>
        </p:nvSpPr>
        <p:spPr>
          <a:xfrm>
            <a:off x="2179782" y="365125"/>
            <a:ext cx="68349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24"/>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4" name="Shape 174"/>
        <p:cNvGrpSpPr/>
        <p:nvPr/>
      </p:nvGrpSpPr>
      <p:grpSpPr>
        <a:xfrm>
          <a:off x="0" y="0"/>
          <a:ext cx="0" cy="0"/>
          <a:chOff x="0" y="0"/>
          <a:chExt cx="0" cy="0"/>
        </a:xfrm>
      </p:grpSpPr>
      <p:sp>
        <p:nvSpPr>
          <p:cNvPr id="175" name="Google Shape;175;p25"/>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25"/>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제목 슬라이드">
  <p:cSld name="9_제목 슬라이드">
    <p:bg>
      <p:bgPr>
        <a:solidFill>
          <a:srgbClr val="920815"/>
        </a:solidFill>
      </p:bgPr>
    </p:bg>
    <p:spTree>
      <p:nvGrpSpPr>
        <p:cNvPr id="180" name="Shape 180"/>
        <p:cNvGrpSpPr/>
        <p:nvPr/>
      </p:nvGrpSpPr>
      <p:grpSpPr>
        <a:xfrm>
          <a:off x="0" y="0"/>
          <a:ext cx="0" cy="0"/>
          <a:chOff x="0" y="0"/>
          <a:chExt cx="0" cy="0"/>
        </a:xfrm>
      </p:grpSpPr>
      <p:sp>
        <p:nvSpPr>
          <p:cNvPr id="181" name="Google Shape;181;p26"/>
          <p:cNvSpPr/>
          <p:nvPr/>
        </p:nvSpPr>
        <p:spPr>
          <a:xfrm>
            <a:off x="2204720" y="0"/>
            <a:ext cx="9763674" cy="6858000"/>
          </a:xfrm>
          <a:custGeom>
            <a:rect b="b" l="l" r="r" t="t"/>
            <a:pathLst>
              <a:path extrusionOk="0" h="6858000" w="9365635">
                <a:moveTo>
                  <a:pt x="9044683" y="0"/>
                </a:moveTo>
                <a:lnTo>
                  <a:pt x="9365635" y="0"/>
                </a:lnTo>
                <a:lnTo>
                  <a:pt x="9365635" y="6858000"/>
                </a:lnTo>
                <a:lnTo>
                  <a:pt x="0" y="6858000"/>
                </a:lnTo>
                <a:lnTo>
                  <a:pt x="346277" y="6761053"/>
                </a:lnTo>
                <a:cubicBezTo>
                  <a:pt x="4078056" y="5668626"/>
                  <a:pt x="7180770" y="3232391"/>
                  <a:pt x="9015435" y="53746"/>
                </a:cubicBezTo>
                <a:close/>
              </a:path>
            </a:pathLst>
          </a:custGeom>
          <a:solidFill>
            <a:srgbClr val="C70B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26"/>
          <p:cNvSpPr/>
          <p:nvPr/>
        </p:nvSpPr>
        <p:spPr>
          <a:xfrm>
            <a:off x="2826365" y="0"/>
            <a:ext cx="9365635" cy="6858000"/>
          </a:xfrm>
          <a:custGeom>
            <a:rect b="b" l="l" r="r" t="t"/>
            <a:pathLst>
              <a:path extrusionOk="0" h="6858000" w="9365635">
                <a:moveTo>
                  <a:pt x="9044683" y="0"/>
                </a:moveTo>
                <a:lnTo>
                  <a:pt x="9365635" y="0"/>
                </a:lnTo>
                <a:lnTo>
                  <a:pt x="9365635" y="6858000"/>
                </a:lnTo>
                <a:lnTo>
                  <a:pt x="0" y="6858000"/>
                </a:lnTo>
                <a:lnTo>
                  <a:pt x="346277" y="6761053"/>
                </a:lnTo>
                <a:cubicBezTo>
                  <a:pt x="4078056" y="5668626"/>
                  <a:pt x="7180770" y="3232391"/>
                  <a:pt x="9015435" y="5374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Logo, company name&#10;&#10;Description automatically generated" id="183" name="Google Shape;183;p26"/>
          <p:cNvPicPr preferRelativeResize="0"/>
          <p:nvPr/>
        </p:nvPicPr>
        <p:blipFill rotWithShape="1">
          <a:blip r:embed="rId2">
            <a:alphaModFix amt="5000"/>
          </a:blip>
          <a:srcRect b="0" l="0" r="0" t="0"/>
          <a:stretch/>
        </p:blipFill>
        <p:spPr>
          <a:xfrm>
            <a:off x="2360757" y="794085"/>
            <a:ext cx="5433589" cy="3186787"/>
          </a:xfrm>
          <a:prstGeom prst="rect">
            <a:avLst/>
          </a:prstGeom>
          <a:noFill/>
          <a:ln>
            <a:noFill/>
          </a:ln>
        </p:spPr>
      </p:pic>
      <p:pic>
        <p:nvPicPr>
          <p:cNvPr id="184" name="Google Shape;184;p26"/>
          <p:cNvPicPr preferRelativeResize="0"/>
          <p:nvPr/>
        </p:nvPicPr>
        <p:blipFill rotWithShape="1">
          <a:blip r:embed="rId3">
            <a:alphaModFix/>
          </a:blip>
          <a:srcRect b="0" l="0" r="0" t="0"/>
          <a:stretch/>
        </p:blipFill>
        <p:spPr>
          <a:xfrm>
            <a:off x="6648840" y="5457398"/>
            <a:ext cx="5433589" cy="1213034"/>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8e7f2f61_23_0)">
  <p:cSld name="Generated (g3f68e7f2f61_23_0)">
    <p:spTree>
      <p:nvGrpSpPr>
        <p:cNvPr id="185" name="Shape 18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3.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2179782" y="365125"/>
            <a:ext cx="6834909"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4"/>
          <p:cNvSpPr txBox="1"/>
          <p:nvPr>
            <p:ph type="title"/>
          </p:nvPr>
        </p:nvSpPr>
        <p:spPr>
          <a:xfrm>
            <a:off x="2179782" y="365125"/>
            <a:ext cx="68349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9" name="Google Shape;99;p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 name="Google Shape;100;p1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 name="Google Shape;102;p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8"/>
          <p:cNvSpPr txBox="1"/>
          <p:nvPr>
            <p:ph type="ctrTitle"/>
          </p:nvPr>
        </p:nvSpPr>
        <p:spPr>
          <a:xfrm>
            <a:off x="1632155" y="4532672"/>
            <a:ext cx="9144000" cy="55060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E31837"/>
              </a:buClr>
              <a:buSzPct val="100000"/>
              <a:buFont typeface="Calibri"/>
              <a:buNone/>
            </a:pPr>
            <a:r>
              <a:rPr b="1" lang="en-US" sz="3600">
                <a:solidFill>
                  <a:srgbClr val="E31837"/>
                </a:solidFill>
              </a:rPr>
              <a:t>Weekly Report - Week 2</a:t>
            </a:r>
            <a:endParaRPr/>
          </a:p>
        </p:txBody>
      </p:sp>
      <p:sp>
        <p:nvSpPr>
          <p:cNvPr id="191" name="Google Shape;191;p28"/>
          <p:cNvSpPr txBox="1"/>
          <p:nvPr/>
        </p:nvSpPr>
        <p:spPr>
          <a:xfrm>
            <a:off x="5396379" y="5083265"/>
            <a:ext cx="60960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rgbClr val="1E1E1E"/>
                </a:solidFill>
                <a:latin typeface="Calibri"/>
                <a:ea typeface="Calibri"/>
                <a:cs typeface="Calibri"/>
                <a:sym typeface="Calibri"/>
              </a:rPr>
              <a:t>07/08/2026</a:t>
            </a:r>
            <a:endParaRPr sz="2100"/>
          </a:p>
        </p:txBody>
      </p:sp>
      <p:sp>
        <p:nvSpPr>
          <p:cNvPr id="192" name="Google Shape;192;p28"/>
          <p:cNvSpPr txBox="1"/>
          <p:nvPr/>
        </p:nvSpPr>
        <p:spPr>
          <a:xfrm>
            <a:off x="73847" y="6055690"/>
            <a:ext cx="35985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chemeClr val="dk1"/>
                </a:solidFill>
                <a:latin typeface="Calibri"/>
                <a:ea typeface="Calibri"/>
                <a:cs typeface="Calibri"/>
                <a:sym typeface="Calibri"/>
              </a:rPr>
              <a:t>Ronak Singh (BS-MS 4th Year)</a:t>
            </a:r>
            <a:endParaRPr/>
          </a:p>
          <a:p>
            <a:pPr indent="0" lvl="0" marL="0" marR="0" rtl="0" algn="l">
              <a:spcBef>
                <a:spcPts val="0"/>
              </a:spcBef>
              <a:spcAft>
                <a:spcPts val="0"/>
              </a:spcAft>
              <a:buNone/>
            </a:pPr>
            <a:r>
              <a:rPr b="1" lang="en-US">
                <a:solidFill>
                  <a:schemeClr val="dk1"/>
                </a:solidFill>
                <a:latin typeface="Calibri"/>
                <a:ea typeface="Calibri"/>
                <a:cs typeface="Calibri"/>
                <a:sym typeface="Calibri"/>
              </a:rPr>
              <a:t>IMS23319</a:t>
            </a:r>
            <a:endParaRPr b="1">
              <a:solidFill>
                <a:schemeClr val="dk1"/>
              </a:solidFill>
              <a:latin typeface="Calibri"/>
              <a:ea typeface="Calibri"/>
              <a:cs typeface="Calibri"/>
              <a:sym typeface="Calibri"/>
            </a:endParaRPr>
          </a:p>
          <a:p>
            <a:pPr indent="0" lvl="0" marL="0" marR="0" rtl="0" algn="l">
              <a:spcBef>
                <a:spcPts val="0"/>
              </a:spcBef>
              <a:spcAft>
                <a:spcPts val="0"/>
              </a:spcAft>
              <a:buNone/>
            </a:pPr>
            <a:r>
              <a:rPr b="1" lang="en-US">
                <a:solidFill>
                  <a:schemeClr val="dk1"/>
                </a:solidFill>
                <a:latin typeface="Calibri"/>
                <a:ea typeface="Calibri"/>
                <a:cs typeface="Calibri"/>
                <a:sym typeface="Calibri"/>
              </a:rPr>
              <a:t>School of Physics</a:t>
            </a:r>
            <a:endParaRPr b="1">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2209801" y="328976"/>
            <a:ext cx="6721764" cy="917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31837"/>
              </a:buClr>
              <a:buSzPts val="2600"/>
              <a:buFont typeface="Calibri"/>
              <a:buNone/>
            </a:pPr>
            <a:r>
              <a:rPr b="1" lang="en-US" sz="2600">
                <a:solidFill>
                  <a:srgbClr val="E31837"/>
                </a:solidFill>
              </a:rPr>
              <a:t> </a:t>
            </a:r>
            <a:r>
              <a:rPr b="1" lang="en-US" sz="3700" u="sng">
                <a:solidFill>
                  <a:srgbClr val="E31837"/>
                </a:solidFill>
              </a:rPr>
              <a:t>Summary</a:t>
            </a:r>
            <a:endParaRPr sz="5500"/>
          </a:p>
        </p:txBody>
      </p:sp>
      <p:sp>
        <p:nvSpPr>
          <p:cNvPr id="198" name="Google Shape;198;p29"/>
          <p:cNvSpPr txBox="1"/>
          <p:nvPr>
            <p:ph idx="12" type="sldNum"/>
          </p:nvPr>
        </p:nvSpPr>
        <p:spPr>
          <a:xfrm>
            <a:off x="3385127" y="63602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9" name="Google Shape;199;p29"/>
          <p:cNvSpPr/>
          <p:nvPr/>
        </p:nvSpPr>
        <p:spPr>
          <a:xfrm>
            <a:off x="783300" y="2147975"/>
            <a:ext cx="5100300" cy="4287300"/>
          </a:xfrm>
          <a:prstGeom prst="rect">
            <a:avLst/>
          </a:prstGeom>
          <a:solidFill>
            <a:srgbClr val="FAFCFF"/>
          </a:solidFill>
          <a:ln cap="flat" cmpd="sng" w="9525">
            <a:solidFill>
              <a:srgbClr val="E1E6EE"/>
            </a:solidFill>
            <a:prstDash val="solid"/>
            <a:miter lim="8000"/>
            <a:headEnd len="sm" w="sm" type="none"/>
            <a:tailEnd len="sm" w="sm" type="none"/>
          </a:ln>
        </p:spPr>
        <p:txBody>
          <a:bodyPr anchorCtr="0" anchor="ctr" bIns="274300" lIns="274300" spcFirstLastPara="1" rIns="274300" wrap="square" tIns="274300">
            <a:noAutofit/>
          </a:bodyPr>
          <a:lstStyle/>
          <a:p>
            <a:pPr indent="0" lvl="0" marL="0" marR="0" rtl="0" algn="ctr">
              <a:spcBef>
                <a:spcPts val="1200"/>
              </a:spcBef>
              <a:spcAft>
                <a:spcPts val="0"/>
              </a:spcAft>
              <a:buNone/>
            </a:pPr>
            <a:r>
              <a:rPr b="1" lang="en-US" sz="2100">
                <a:solidFill>
                  <a:srgbClr val="E31837"/>
                </a:solidFill>
                <a:latin typeface="Calibri"/>
                <a:ea typeface="Calibri"/>
                <a:cs typeface="Calibri"/>
                <a:sym typeface="Calibri"/>
              </a:rPr>
              <a:t>Research Topic</a:t>
            </a:r>
            <a:endParaRPr b="1" sz="2100">
              <a:solidFill>
                <a:srgbClr val="E31837"/>
              </a:solidFill>
              <a:latin typeface="Calibri"/>
              <a:ea typeface="Calibri"/>
              <a:cs typeface="Calibri"/>
              <a:sym typeface="Calibri"/>
            </a:endParaRPr>
          </a:p>
          <a:p>
            <a:pPr indent="0" lvl="0" marL="0" marR="0" rtl="0" algn="l">
              <a:spcBef>
                <a:spcPts val="1200"/>
              </a:spcBef>
              <a:spcAft>
                <a:spcPts val="0"/>
              </a:spcAft>
              <a:buNone/>
            </a:pPr>
            <a:r>
              <a:rPr b="1" i="0" lang="en-US" sz="1500" u="none" cap="none" strike="noStrike">
                <a:solidFill>
                  <a:srgbClr val="1E1E1E"/>
                </a:solidFill>
                <a:latin typeface="Calibri"/>
                <a:ea typeface="Calibri"/>
                <a:cs typeface="Calibri"/>
                <a:sym typeface="Calibri"/>
              </a:rPr>
              <a:t>Radio frequency Interference mitigation for GMRT pulsar data using </a:t>
            </a:r>
            <a:r>
              <a:rPr b="1" lang="en-US" sz="1500">
                <a:solidFill>
                  <a:srgbClr val="1E1E1E"/>
                </a:solidFill>
                <a:latin typeface="Calibri"/>
                <a:ea typeface="Calibri"/>
                <a:cs typeface="Calibri"/>
                <a:sym typeface="Calibri"/>
              </a:rPr>
              <a:t>U-net architecture</a:t>
            </a:r>
            <a:r>
              <a:rPr b="1" i="0" lang="en-US" sz="1500" u="none" cap="none" strike="noStrike">
                <a:solidFill>
                  <a:srgbClr val="1E1E1E"/>
                </a:solidFill>
                <a:latin typeface="Calibri"/>
                <a:ea typeface="Calibri"/>
                <a:cs typeface="Calibri"/>
                <a:sym typeface="Calibri"/>
              </a:rPr>
              <a:t>.</a:t>
            </a:r>
            <a:endParaRPr sz="1600"/>
          </a:p>
          <a:p>
            <a:pPr indent="0" lvl="0" marL="0" marR="0" rtl="0" algn="l">
              <a:spcBef>
                <a:spcPts val="1400"/>
              </a:spcBef>
              <a:spcAft>
                <a:spcPts val="0"/>
              </a:spcAft>
              <a:buNone/>
            </a:pPr>
            <a:r>
              <a:rPr b="1" i="0" lang="en-US" sz="1450" u="none" cap="none" strike="noStrike">
                <a:solidFill>
                  <a:srgbClr val="1E1E1E"/>
                </a:solidFill>
                <a:latin typeface="Calibri"/>
                <a:ea typeface="Calibri"/>
                <a:cs typeface="Calibri"/>
                <a:sym typeface="Calibri"/>
              </a:rPr>
              <a:t>Goal: </a:t>
            </a:r>
            <a:r>
              <a:rPr b="0" i="0" lang="en-US" sz="1450" u="none" cap="none" strike="noStrike">
                <a:solidFill>
                  <a:srgbClr val="1E1E1E"/>
                </a:solidFill>
                <a:latin typeface="Calibri"/>
                <a:ea typeface="Calibri"/>
                <a:cs typeface="Calibri"/>
                <a:sym typeface="Calibri"/>
              </a:rPr>
              <a:t>Extract weak, periodic millisecond pulsar signals from GMRT data by removing non-Gaussian Radio Frequency Interference (RFI) without losing the actual signal.</a:t>
            </a:r>
            <a:endParaRPr sz="1600"/>
          </a:p>
          <a:p>
            <a:pPr indent="0" lvl="0" marL="0" marR="0" rtl="0" algn="l">
              <a:spcBef>
                <a:spcPts val="1000"/>
              </a:spcBef>
              <a:spcAft>
                <a:spcPts val="0"/>
              </a:spcAft>
              <a:buNone/>
            </a:pPr>
            <a:r>
              <a:rPr b="1" i="0" lang="en-US" sz="1450" u="none" cap="none" strike="noStrike">
                <a:solidFill>
                  <a:srgbClr val="1E1E1E"/>
                </a:solidFill>
                <a:latin typeface="Calibri"/>
                <a:ea typeface="Calibri"/>
                <a:cs typeface="Calibri"/>
                <a:sym typeface="Calibri"/>
              </a:rPr>
              <a:t>Due Date: </a:t>
            </a:r>
            <a:r>
              <a:rPr b="0" i="0" lang="en-US" sz="1450" u="none" cap="none" strike="noStrike">
                <a:solidFill>
                  <a:srgbClr val="1E1E1E"/>
                </a:solidFill>
                <a:latin typeface="Calibri"/>
                <a:ea typeface="Calibri"/>
                <a:cs typeface="Calibri"/>
                <a:sym typeface="Calibri"/>
              </a:rPr>
              <a:t>November 2026</a:t>
            </a:r>
            <a:endParaRPr sz="1600"/>
          </a:p>
        </p:txBody>
      </p:sp>
      <p:sp>
        <p:nvSpPr>
          <p:cNvPr id="200" name="Google Shape;200;p29"/>
          <p:cNvSpPr/>
          <p:nvPr/>
        </p:nvSpPr>
        <p:spPr>
          <a:xfrm>
            <a:off x="6210200" y="2148025"/>
            <a:ext cx="5259000" cy="4287300"/>
          </a:xfrm>
          <a:prstGeom prst="rect">
            <a:avLst/>
          </a:prstGeom>
          <a:solidFill>
            <a:srgbClr val="FAFCFF"/>
          </a:solidFill>
          <a:ln cap="flat" cmpd="sng" w="9525">
            <a:solidFill>
              <a:srgbClr val="E1E6EE"/>
            </a:solidFill>
            <a:prstDash val="solid"/>
            <a:miter lim="8000"/>
            <a:headEnd len="sm" w="sm" type="none"/>
            <a:tailEnd len="sm" w="sm" type="none"/>
          </a:ln>
        </p:spPr>
        <p:txBody>
          <a:bodyPr anchorCtr="0" anchor="ctr" bIns="274300" lIns="274300" spcFirstLastPara="1" rIns="274300" wrap="square" tIns="274300">
            <a:noAutofit/>
          </a:bodyPr>
          <a:lstStyle/>
          <a:p>
            <a:pPr indent="0" lvl="0" marL="0" rtl="0" algn="l">
              <a:spcBef>
                <a:spcPts val="0"/>
              </a:spcBef>
              <a:spcAft>
                <a:spcPts val="0"/>
              </a:spcAft>
              <a:buNone/>
            </a:pPr>
            <a:r>
              <a:rPr b="1" lang="en-US" sz="2000">
                <a:solidFill>
                  <a:srgbClr val="E31837"/>
                </a:solidFill>
                <a:latin typeface="Calibri"/>
                <a:ea typeface="Calibri"/>
                <a:cs typeface="Calibri"/>
                <a:sym typeface="Calibri"/>
              </a:rPr>
              <a:t>                  </a:t>
            </a:r>
            <a:r>
              <a:rPr b="1" lang="en-US" sz="2000">
                <a:solidFill>
                  <a:srgbClr val="E31837"/>
                </a:solidFill>
                <a:latin typeface="Calibri"/>
                <a:ea typeface="Calibri"/>
                <a:cs typeface="Calibri"/>
                <a:sym typeface="Calibri"/>
              </a:rPr>
              <a:t>Weekly Achievements</a:t>
            </a:r>
            <a:endParaRPr b="1">
              <a:solidFill>
                <a:srgbClr val="0F2043"/>
              </a:solidFill>
              <a:latin typeface="Calibri"/>
              <a:ea typeface="Calibri"/>
              <a:cs typeface="Calibri"/>
              <a:sym typeface="Calibri"/>
            </a:endParaRPr>
          </a:p>
          <a:p>
            <a:pPr indent="0" lvl="0" marL="0" marR="0" rtl="0" algn="l">
              <a:spcBef>
                <a:spcPts val="800"/>
              </a:spcBef>
              <a:spcAft>
                <a:spcPts val="0"/>
              </a:spcAft>
              <a:buNone/>
            </a:pPr>
            <a:r>
              <a:rPr b="1" i="0" lang="en-US" sz="1600" u="none" cap="none" strike="noStrike">
                <a:solidFill>
                  <a:srgbClr val="0F2043"/>
                </a:solidFill>
                <a:latin typeface="Calibri"/>
                <a:ea typeface="Calibri"/>
                <a:cs typeface="Calibri"/>
                <a:sym typeface="Calibri"/>
              </a:rPr>
              <a:t>Key Accomplishments</a:t>
            </a:r>
            <a:endParaRPr sz="1600"/>
          </a:p>
          <a:p>
            <a:pPr indent="0" lvl="0" marL="0" marR="0" rtl="0" algn="l">
              <a:spcBef>
                <a:spcPts val="1200"/>
              </a:spcBef>
              <a:spcAft>
                <a:spcPts val="0"/>
              </a:spcAft>
              <a:buNone/>
            </a:pPr>
            <a:r>
              <a:rPr b="1" i="0" lang="en-US" sz="1450" u="none" cap="none" strike="noStrike">
                <a:solidFill>
                  <a:srgbClr val="1E1E1E"/>
                </a:solidFill>
                <a:latin typeface="Calibri"/>
                <a:ea typeface="Calibri"/>
                <a:cs typeface="Calibri"/>
                <a:sym typeface="Calibri"/>
              </a:rPr>
              <a:t>• Paper Review: </a:t>
            </a:r>
            <a:r>
              <a:rPr b="0" i="0" lang="en-US" sz="1450" u="none" cap="none" strike="noStrike">
                <a:solidFill>
                  <a:srgbClr val="1E1E1E"/>
                </a:solidFill>
                <a:latin typeface="Calibri"/>
                <a:ea typeface="Calibri"/>
                <a:cs typeface="Calibri"/>
                <a:sym typeface="Calibri"/>
              </a:rPr>
              <a:t>Completed study of the reference paper (Chen et al. 2023, 2σCRF method).</a:t>
            </a:r>
            <a:endParaRPr sz="1600"/>
          </a:p>
          <a:p>
            <a:pPr indent="0" lvl="0" marL="0" marR="0" rtl="0" algn="l">
              <a:spcBef>
                <a:spcPts val="800"/>
              </a:spcBef>
              <a:spcAft>
                <a:spcPts val="0"/>
              </a:spcAft>
              <a:buNone/>
            </a:pPr>
            <a:r>
              <a:rPr b="1" i="0" lang="en-US" sz="1450" u="none" cap="none" strike="noStrike">
                <a:solidFill>
                  <a:srgbClr val="1E1E1E"/>
                </a:solidFill>
                <a:latin typeface="Calibri"/>
                <a:ea typeface="Calibri"/>
                <a:cs typeface="Calibri"/>
                <a:sym typeface="Calibri"/>
              </a:rPr>
              <a:t>• Method Selection: </a:t>
            </a:r>
            <a:r>
              <a:rPr b="0" i="0" lang="en-US" sz="1450" u="none" cap="none" strike="noStrike">
                <a:solidFill>
                  <a:srgbClr val="1E1E1E"/>
                </a:solidFill>
                <a:latin typeface="Calibri"/>
                <a:ea typeface="Calibri"/>
                <a:cs typeface="Calibri"/>
                <a:sym typeface="Calibri"/>
              </a:rPr>
              <a:t>Identified limitations of statistical priors &amp; selected U-Net + CRF post-processing as the novel solution.</a:t>
            </a:r>
            <a:endParaRPr sz="1600"/>
          </a:p>
          <a:p>
            <a:pPr indent="0" lvl="0" marL="0" marR="0" rtl="0" algn="l">
              <a:spcBef>
                <a:spcPts val="800"/>
              </a:spcBef>
              <a:spcAft>
                <a:spcPts val="0"/>
              </a:spcAft>
              <a:buNone/>
            </a:pPr>
            <a:r>
              <a:rPr b="1" i="0" lang="en-US" sz="1450" u="none" cap="none" strike="noStrike">
                <a:solidFill>
                  <a:srgbClr val="1E1E1E"/>
                </a:solidFill>
                <a:latin typeface="Calibri"/>
                <a:ea typeface="Calibri"/>
                <a:cs typeface="Calibri"/>
                <a:sym typeface="Calibri"/>
              </a:rPr>
              <a:t>• Next Goal: </a:t>
            </a:r>
            <a:r>
              <a:rPr b="0" i="0" lang="en-US" sz="1450" u="none" cap="none" strike="noStrike">
                <a:solidFill>
                  <a:srgbClr val="1E1E1E"/>
                </a:solidFill>
                <a:latin typeface="Calibri"/>
                <a:ea typeface="Calibri"/>
                <a:cs typeface="Calibri"/>
                <a:sym typeface="Calibri"/>
              </a:rPr>
              <a:t>Acquire folded PSRFITS dataset &amp; ground truth RFI masks </a:t>
            </a:r>
            <a:r>
              <a:rPr lang="en-US" sz="1450">
                <a:solidFill>
                  <a:srgbClr val="1E1E1E"/>
                </a:solidFill>
                <a:latin typeface="Calibri"/>
                <a:ea typeface="Calibri"/>
                <a:cs typeface="Calibri"/>
                <a:sym typeface="Calibri"/>
              </a:rPr>
              <a:t>apply U-Net on them</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2209800" y="328976"/>
            <a:ext cx="6721800" cy="917700"/>
          </a:xfrm>
          <a:prstGeom prst="rect">
            <a:avLst/>
          </a:prstGeom>
          <a:solidFill>
            <a:srgbClr val="000000">
              <a:alpha val="0"/>
            </a:srgbClr>
          </a:solidFill>
          <a:ln>
            <a:noFill/>
          </a:ln>
        </p:spPr>
        <p:txBody>
          <a:bodyPr anchorCtr="0" anchor="ctr" bIns="47625" lIns="95250" spcFirstLastPara="1" rIns="95250" wrap="square" tIns="47625">
            <a:normAutofit/>
          </a:bodyPr>
          <a:lstStyle/>
          <a:p>
            <a:pPr indent="0" lvl="0" marL="0" rtl="0" algn="l">
              <a:spcBef>
                <a:spcPts val="0"/>
              </a:spcBef>
              <a:spcAft>
                <a:spcPts val="0"/>
              </a:spcAft>
              <a:buNone/>
            </a:pPr>
            <a:r>
              <a:rPr b="1" lang="en-US" sz="2600">
                <a:solidFill>
                  <a:srgbClr val="E31837"/>
                </a:solidFill>
                <a:latin typeface="Calibri"/>
                <a:ea typeface="Calibri"/>
                <a:cs typeface="Calibri"/>
                <a:sym typeface="Calibri"/>
              </a:rPr>
              <a:t>➢ </a:t>
            </a:r>
            <a:r>
              <a:rPr b="1" lang="en-US" sz="2600" u="sng">
                <a:solidFill>
                  <a:srgbClr val="E31837"/>
                </a:solidFill>
                <a:latin typeface="Calibri"/>
                <a:ea typeface="Calibri"/>
                <a:cs typeface="Calibri"/>
                <a:sym typeface="Calibri"/>
              </a:rPr>
              <a:t>Types of RFI</a:t>
            </a:r>
            <a:endParaRPr b="1" sz="2600">
              <a:solidFill>
                <a:srgbClr val="E31837"/>
              </a:solidFill>
              <a:latin typeface="Calibri"/>
              <a:ea typeface="Calibri"/>
              <a:cs typeface="Calibri"/>
              <a:sym typeface="Calibri"/>
            </a:endParaRPr>
          </a:p>
        </p:txBody>
      </p:sp>
      <p:sp>
        <p:nvSpPr>
          <p:cNvPr id="207" name="Google Shape;207;p30"/>
          <p:cNvSpPr txBox="1"/>
          <p:nvPr>
            <p:ph idx="1" type="body"/>
          </p:nvPr>
        </p:nvSpPr>
        <p:spPr>
          <a:xfrm>
            <a:off x="5143500" y="1762125"/>
            <a:ext cx="6667500" cy="4667400"/>
          </a:xfrm>
          <a:prstGeom prst="rect">
            <a:avLst/>
          </a:prstGeom>
          <a:solidFill>
            <a:srgbClr val="000000">
              <a:alpha val="0"/>
            </a:srgbClr>
          </a:solidFill>
          <a:ln>
            <a:noFill/>
          </a:ln>
        </p:spPr>
        <p:txBody>
          <a:bodyPr anchorCtr="0" anchor="t" bIns="95250" lIns="95250" spcFirstLastPara="1" rIns="95250" wrap="square" tIns="95250">
            <a:noAutofit/>
          </a:bodyPr>
          <a:lstStyle/>
          <a:p>
            <a:pPr indent="0" lvl="0" marL="0" rtl="0" algn="l">
              <a:spcBef>
                <a:spcPts val="1000"/>
              </a:spcBef>
              <a:spcAft>
                <a:spcPts val="0"/>
              </a:spcAft>
              <a:buNone/>
            </a:pPr>
            <a:r>
              <a:rPr b="0" lang="en-US" sz="1750">
                <a:solidFill>
                  <a:srgbClr val="1E1E1E"/>
                </a:solidFill>
                <a:latin typeface="Calibri"/>
                <a:ea typeface="Calibri"/>
                <a:cs typeface="Calibri"/>
                <a:sym typeface="Calibri"/>
              </a:rPr>
              <a:t>• </a:t>
            </a:r>
            <a:r>
              <a:rPr b="1" lang="en-US" sz="1750">
                <a:solidFill>
                  <a:srgbClr val="E31837"/>
                </a:solidFill>
                <a:latin typeface="Calibri"/>
                <a:ea typeface="Calibri"/>
                <a:cs typeface="Calibri"/>
                <a:sym typeface="Calibri"/>
              </a:rPr>
              <a:t>Constant Broadband RFI (The thick horizontal bands):</a:t>
            </a:r>
            <a:r>
              <a:rPr b="0" lang="en-US" sz="1750">
                <a:solidFill>
                  <a:srgbClr val="1E1E1E"/>
                </a:solidFill>
                <a:latin typeface="Calibri"/>
                <a:ea typeface="Calibri"/>
                <a:cs typeface="Calibri"/>
                <a:sym typeface="Calibri"/>
              </a:rPr>
              <a:t> </a:t>
            </a:r>
            <a:r>
              <a:rPr lang="en-US" sz="1750">
                <a:solidFill>
                  <a:srgbClr val="1E1E1E"/>
                </a:solidFill>
              </a:rPr>
              <a:t>These are</a:t>
            </a:r>
            <a:r>
              <a:rPr b="0" lang="en-US" sz="1750">
                <a:solidFill>
                  <a:srgbClr val="1E1E1E"/>
                </a:solidFill>
                <a:latin typeface="Calibri"/>
                <a:ea typeface="Calibri"/>
                <a:cs typeface="Calibri"/>
                <a:sym typeface="Calibri"/>
              </a:rPr>
              <a:t> thick, horizontal light-blue/white stripes between 1.16 GHz and 1.3 GHz. "Constant" means it lasts for the entire observation (all the way across the X-axis). "Broadband" means it covers a wide range of frequencies. The text notes this is usually caused by satellites continuously broadcasting.</a:t>
            </a:r>
            <a:endParaRPr b="0" sz="1750">
              <a:solidFill>
                <a:srgbClr val="1E1E1E"/>
              </a:solidFill>
              <a:latin typeface="Calibri"/>
              <a:ea typeface="Calibri"/>
              <a:cs typeface="Calibri"/>
              <a:sym typeface="Calibri"/>
            </a:endParaRPr>
          </a:p>
          <a:p>
            <a:pPr indent="0" lvl="0" marL="0" rtl="0" algn="l">
              <a:spcBef>
                <a:spcPts val="1050"/>
              </a:spcBef>
              <a:spcAft>
                <a:spcPts val="0"/>
              </a:spcAft>
              <a:buNone/>
            </a:pPr>
            <a:r>
              <a:rPr b="0" lang="en-US" sz="1750">
                <a:solidFill>
                  <a:srgbClr val="1E1E1E"/>
                </a:solidFill>
                <a:latin typeface="Calibri"/>
                <a:ea typeface="Calibri"/>
                <a:cs typeface="Calibri"/>
                <a:sym typeface="Calibri"/>
              </a:rPr>
              <a:t>• </a:t>
            </a:r>
            <a:r>
              <a:rPr b="1" lang="en-US" sz="1750">
                <a:solidFill>
                  <a:srgbClr val="E31837"/>
                </a:solidFill>
                <a:latin typeface="Calibri"/>
                <a:ea typeface="Calibri"/>
                <a:cs typeface="Calibri"/>
                <a:sym typeface="Calibri"/>
              </a:rPr>
              <a:t>Constant Narrowband RFI (The thin horizontal lines):</a:t>
            </a:r>
            <a:r>
              <a:rPr b="0" lang="en-US" sz="1750">
                <a:solidFill>
                  <a:srgbClr val="1E1E1E"/>
                </a:solidFill>
                <a:latin typeface="Calibri"/>
                <a:ea typeface="Calibri"/>
                <a:cs typeface="Calibri"/>
                <a:sym typeface="Calibri"/>
              </a:rPr>
              <a:t> </a:t>
            </a:r>
            <a:r>
              <a:rPr lang="en-US" sz="1750">
                <a:solidFill>
                  <a:srgbClr val="1E1E1E"/>
                </a:solidFill>
              </a:rPr>
              <a:t>These are </a:t>
            </a:r>
            <a:r>
              <a:rPr b="0" lang="en-US" sz="1750">
                <a:solidFill>
                  <a:srgbClr val="1E1E1E"/>
                </a:solidFill>
                <a:latin typeface="Calibri"/>
                <a:ea typeface="Calibri"/>
                <a:cs typeface="Calibri"/>
                <a:sym typeface="Calibri"/>
              </a:rPr>
              <a:t>very thin, sharp horizontal lines. These last the whole observation but only affect one specific frequency channel. This is often caused by local terrestrial transmitters (like a specific TV or radio station).</a:t>
            </a:r>
            <a:endParaRPr b="0" sz="1750">
              <a:solidFill>
                <a:srgbClr val="1E1E1E"/>
              </a:solidFill>
              <a:latin typeface="Calibri"/>
              <a:ea typeface="Calibri"/>
              <a:cs typeface="Calibri"/>
              <a:sym typeface="Calibri"/>
            </a:endParaRPr>
          </a:p>
          <a:p>
            <a:pPr indent="0" lvl="0" marL="0" rtl="0" algn="l">
              <a:spcBef>
                <a:spcPts val="1050"/>
              </a:spcBef>
              <a:spcAft>
                <a:spcPts val="0"/>
              </a:spcAft>
              <a:buNone/>
            </a:pPr>
            <a:r>
              <a:rPr b="0" lang="en-US" sz="1750">
                <a:solidFill>
                  <a:srgbClr val="1E1E1E"/>
                </a:solidFill>
                <a:latin typeface="Calibri"/>
                <a:ea typeface="Calibri"/>
                <a:cs typeface="Calibri"/>
                <a:sym typeface="Calibri"/>
              </a:rPr>
              <a:t>• </a:t>
            </a:r>
            <a:r>
              <a:rPr b="1" lang="en-US" sz="1750">
                <a:solidFill>
                  <a:srgbClr val="E31837"/>
                </a:solidFill>
                <a:latin typeface="Calibri"/>
                <a:ea typeface="Calibri"/>
                <a:cs typeface="Calibri"/>
                <a:sym typeface="Calibri"/>
              </a:rPr>
              <a:t>Instantaneous Wideband RFI (The vertical line):</a:t>
            </a:r>
            <a:r>
              <a:rPr b="0" lang="en-US" sz="1750">
                <a:solidFill>
                  <a:srgbClr val="1E1E1E"/>
                </a:solidFill>
                <a:latin typeface="Calibri"/>
                <a:ea typeface="Calibri"/>
                <a:cs typeface="Calibri"/>
                <a:sym typeface="Calibri"/>
              </a:rPr>
              <a:t> </a:t>
            </a:r>
            <a:r>
              <a:rPr lang="en-US" sz="1750">
                <a:solidFill>
                  <a:srgbClr val="1E1E1E"/>
                </a:solidFill>
              </a:rPr>
              <a:t>The </a:t>
            </a:r>
            <a:r>
              <a:rPr b="0" lang="en-US" sz="1750">
                <a:solidFill>
                  <a:srgbClr val="1E1E1E"/>
                </a:solidFill>
                <a:latin typeface="Calibri"/>
                <a:ea typeface="Calibri"/>
                <a:cs typeface="Calibri"/>
                <a:sym typeface="Calibri"/>
              </a:rPr>
              <a:t>bright vertical stripe around subint 20. "Instantaneous" means it happened very quickly (just one or two sub-integrations). "Wideband" means it </a:t>
            </a:r>
            <a:r>
              <a:rPr lang="en-US" sz="1750">
                <a:solidFill>
                  <a:srgbClr val="1E1E1E"/>
                </a:solidFill>
              </a:rPr>
              <a:t>goes</a:t>
            </a:r>
            <a:r>
              <a:rPr b="0" lang="en-US" sz="1750">
                <a:solidFill>
                  <a:srgbClr val="1E1E1E"/>
                </a:solidFill>
                <a:latin typeface="Calibri"/>
                <a:ea typeface="Calibri"/>
                <a:cs typeface="Calibri"/>
                <a:sym typeface="Calibri"/>
              </a:rPr>
              <a:t> across almost all frequencies at once. This can be caused by lightning, power line arcs, or radar sweeps.</a:t>
            </a:r>
            <a:endParaRPr b="0" sz="1750">
              <a:solidFill>
                <a:srgbClr val="1E1E1E"/>
              </a:solidFill>
              <a:latin typeface="Calibri"/>
              <a:ea typeface="Calibri"/>
              <a:cs typeface="Calibri"/>
              <a:sym typeface="Calibri"/>
            </a:endParaRPr>
          </a:p>
          <a:p>
            <a:pPr indent="0" lvl="0" marL="0" rtl="0" algn="l">
              <a:spcBef>
                <a:spcPts val="1050"/>
              </a:spcBef>
              <a:spcAft>
                <a:spcPts val="0"/>
              </a:spcAft>
              <a:buNone/>
            </a:pPr>
            <a:r>
              <a:rPr b="0" lang="en-US" sz="1750">
                <a:solidFill>
                  <a:srgbClr val="1E1E1E"/>
                </a:solidFill>
                <a:latin typeface="Calibri"/>
                <a:ea typeface="Calibri"/>
                <a:cs typeface="Calibri"/>
                <a:sym typeface="Calibri"/>
              </a:rPr>
              <a:t>• </a:t>
            </a:r>
            <a:r>
              <a:rPr b="1" lang="en-US" sz="1750">
                <a:solidFill>
                  <a:srgbClr val="E31837"/>
                </a:solidFill>
                <a:latin typeface="Calibri"/>
                <a:ea typeface="Calibri"/>
                <a:cs typeface="Calibri"/>
                <a:sym typeface="Calibri"/>
              </a:rPr>
              <a:t>Broadband RFI (The patchy horizontal/vertical blobs):</a:t>
            </a:r>
            <a:r>
              <a:rPr b="0" lang="en-US" sz="1750">
                <a:solidFill>
                  <a:srgbClr val="1E1E1E"/>
                </a:solidFill>
                <a:latin typeface="Calibri"/>
                <a:ea typeface="Calibri"/>
                <a:cs typeface="Calibri"/>
                <a:sym typeface="Calibri"/>
              </a:rPr>
              <a:t> </a:t>
            </a:r>
            <a:r>
              <a:rPr lang="en-US" sz="1750">
                <a:solidFill>
                  <a:srgbClr val="1E1E1E"/>
                </a:solidFill>
              </a:rPr>
              <a:t>The p</a:t>
            </a:r>
            <a:r>
              <a:rPr b="0" lang="en-US" sz="1750">
                <a:solidFill>
                  <a:srgbClr val="1E1E1E"/>
                </a:solidFill>
                <a:latin typeface="Calibri"/>
                <a:ea typeface="Calibri"/>
                <a:cs typeface="Calibri"/>
                <a:sym typeface="Calibri"/>
              </a:rPr>
              <a:t>atchy, cloud-like areas around subint 45. These last for a few minutes and cover several frequencies, but then fade away.</a:t>
            </a:r>
            <a:endParaRPr b="0" sz="1750">
              <a:solidFill>
                <a:srgbClr val="1E1E1E"/>
              </a:solidFill>
              <a:latin typeface="Calibri"/>
              <a:ea typeface="Calibri"/>
              <a:cs typeface="Calibri"/>
              <a:sym typeface="Calibri"/>
            </a:endParaRPr>
          </a:p>
        </p:txBody>
      </p:sp>
      <p:sp>
        <p:nvSpPr>
          <p:cNvPr id="208" name="Google Shape;208;p30"/>
          <p:cNvSpPr txBox="1"/>
          <p:nvPr>
            <p:ph idx="12" type="sldNum"/>
          </p:nvPr>
        </p:nvSpPr>
        <p:spPr>
          <a:xfrm>
            <a:off x="3385127" y="6360251"/>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pic>
        <p:nvPicPr>
          <p:cNvPr id="209" name="Google Shape;209;p30"/>
          <p:cNvPicPr preferRelativeResize="0"/>
          <p:nvPr/>
        </p:nvPicPr>
        <p:blipFill>
          <a:blip r:embed="rId3">
            <a:alphaModFix/>
          </a:blip>
          <a:stretch>
            <a:fillRect/>
          </a:stretch>
        </p:blipFill>
        <p:spPr>
          <a:xfrm>
            <a:off x="438350" y="1825625"/>
            <a:ext cx="4416050" cy="46217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type="title"/>
          </p:nvPr>
        </p:nvSpPr>
        <p:spPr>
          <a:xfrm>
            <a:off x="2209801" y="328976"/>
            <a:ext cx="6721764" cy="917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31837"/>
              </a:buClr>
              <a:buSzPts val="2600"/>
              <a:buFont typeface="Calibri"/>
              <a:buNone/>
            </a:pPr>
            <a:r>
              <a:t/>
            </a:r>
            <a:endParaRPr/>
          </a:p>
        </p:txBody>
      </p:sp>
      <p:sp>
        <p:nvSpPr>
          <p:cNvPr id="215" name="Google Shape;215;p31"/>
          <p:cNvSpPr txBox="1"/>
          <p:nvPr>
            <p:ph idx="12" type="sldNum"/>
          </p:nvPr>
        </p:nvSpPr>
        <p:spPr>
          <a:xfrm>
            <a:off x="3385127" y="6360251"/>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6" name="Google Shape;216;p31"/>
          <p:cNvSpPr txBox="1"/>
          <p:nvPr/>
        </p:nvSpPr>
        <p:spPr>
          <a:xfrm>
            <a:off x="1194600" y="1601075"/>
            <a:ext cx="9802800" cy="5124300"/>
          </a:xfrm>
          <a:prstGeom prst="rect">
            <a:avLst/>
          </a:prstGeom>
          <a:noFill/>
          <a:ln>
            <a:noFill/>
          </a:ln>
        </p:spPr>
        <p:txBody>
          <a:bodyPr anchorCtr="0" anchor="t" bIns="45700" lIns="91425" spcFirstLastPara="1" rIns="91425" wrap="square" tIns="45700">
            <a:spAutoFit/>
          </a:bodyPr>
          <a:lstStyle/>
          <a:p>
            <a:pPr indent="0" lvl="0" marL="0" marR="0" rtl="0" algn="l">
              <a:lnSpc>
                <a:spcPct val="125000"/>
              </a:lnSpc>
              <a:spcBef>
                <a:spcPts val="0"/>
              </a:spcBef>
              <a:spcAft>
                <a:spcPts val="0"/>
              </a:spcAft>
              <a:buNone/>
            </a:pPr>
            <a:r>
              <a:rPr b="1" i="0" lang="en-US" sz="1900" u="none" cap="none" strike="noStrike">
                <a:solidFill>
                  <a:srgbClr val="1E1E1E"/>
                </a:solidFill>
                <a:latin typeface="Calibri"/>
                <a:ea typeface="Calibri"/>
                <a:cs typeface="Calibri"/>
                <a:sym typeface="Calibri"/>
              </a:rPr>
              <a:t>• The RFI Challenge: </a:t>
            </a:r>
            <a:r>
              <a:rPr b="0" i="0" lang="en-US" sz="1900" u="none" cap="none" strike="noStrike">
                <a:solidFill>
                  <a:srgbClr val="1E1E1E"/>
                </a:solidFill>
                <a:latin typeface="Calibri"/>
                <a:ea typeface="Calibri"/>
                <a:cs typeface="Calibri"/>
                <a:sym typeface="Calibri"/>
              </a:rPr>
              <a:t>Radio telescopes (FAST, uGMRT) record faint astronomical pulsar signals which are corrupted by strong terrestrial Radio Frequency Interference (cell towers, spark plugs, satellite communications).</a:t>
            </a:r>
            <a:endParaRPr sz="1800"/>
          </a:p>
          <a:p>
            <a:pPr indent="0" lvl="0" marL="0" marR="0" rtl="0" algn="l">
              <a:lnSpc>
                <a:spcPct val="125000"/>
              </a:lnSpc>
              <a:spcBef>
                <a:spcPts val="1400"/>
              </a:spcBef>
              <a:spcAft>
                <a:spcPts val="0"/>
              </a:spcAft>
              <a:buNone/>
            </a:pPr>
            <a:r>
              <a:rPr b="1" i="0" lang="en-US" sz="1900" u="none" cap="none" strike="noStrike">
                <a:solidFill>
                  <a:srgbClr val="1E1E1E"/>
                </a:solidFill>
                <a:latin typeface="Calibri"/>
                <a:ea typeface="Calibri"/>
                <a:cs typeface="Calibri"/>
                <a:sym typeface="Calibri"/>
              </a:rPr>
              <a:t>• Why Basic Tools Fail: </a:t>
            </a:r>
            <a:r>
              <a:rPr b="0" i="0" lang="en-US" sz="1900" u="none" cap="none" strike="noStrike">
                <a:solidFill>
                  <a:srgbClr val="1E1E1E"/>
                </a:solidFill>
                <a:latin typeface="Calibri"/>
                <a:ea typeface="Calibri"/>
                <a:cs typeface="Calibri"/>
                <a:sym typeface="Calibri"/>
              </a:rPr>
              <a:t>Traditional tools like paz -r &amp; CLFD rely on simple statistical median filters. They miss weak broadband RFI or corrupt true pulsar profiles because RFI is non-Gaussian and non-stationary.</a:t>
            </a:r>
            <a:endParaRPr sz="1800"/>
          </a:p>
          <a:p>
            <a:pPr indent="0" lvl="0" marL="0" marR="0" rtl="0" algn="l">
              <a:lnSpc>
                <a:spcPct val="125000"/>
              </a:lnSpc>
              <a:spcBef>
                <a:spcPts val="1400"/>
              </a:spcBef>
              <a:spcAft>
                <a:spcPts val="0"/>
              </a:spcAft>
              <a:buNone/>
            </a:pPr>
            <a:r>
              <a:rPr b="1" i="0" lang="en-US" sz="1900" u="none" cap="none" strike="noStrike">
                <a:solidFill>
                  <a:srgbClr val="1E1E1E"/>
                </a:solidFill>
                <a:latin typeface="Calibri"/>
                <a:ea typeface="Calibri"/>
                <a:cs typeface="Calibri"/>
                <a:sym typeface="Calibri"/>
              </a:rPr>
              <a:t>• Impact on GW Detection: </a:t>
            </a:r>
            <a:r>
              <a:rPr b="0" i="0" lang="en-US" sz="1900" u="none" cap="none" strike="noStrike">
                <a:solidFill>
                  <a:srgbClr val="1E1E1E"/>
                </a:solidFill>
                <a:latin typeface="Calibri"/>
                <a:ea typeface="Calibri"/>
                <a:cs typeface="Calibri"/>
                <a:sym typeface="Calibri"/>
              </a:rPr>
              <a:t>InPTA timing relies on sub-microsecond precision. Uncleaned RFI distorts Times of Arrival (TOAs) and invalidates gravitational wave background detection.</a:t>
            </a:r>
            <a:endParaRPr sz="1800"/>
          </a:p>
          <a:p>
            <a:pPr indent="0" lvl="0" marL="0" marR="0" rtl="0" algn="l">
              <a:lnSpc>
                <a:spcPct val="125000"/>
              </a:lnSpc>
              <a:spcBef>
                <a:spcPts val="1400"/>
              </a:spcBef>
              <a:spcAft>
                <a:spcPts val="0"/>
              </a:spcAft>
              <a:buNone/>
            </a:pPr>
            <a:r>
              <a:rPr b="1" i="0" lang="en-US" sz="1900" u="none" cap="none" strike="noStrike">
                <a:solidFill>
                  <a:srgbClr val="1E1E1E"/>
                </a:solidFill>
                <a:latin typeface="Calibri"/>
                <a:ea typeface="Calibri"/>
                <a:cs typeface="Calibri"/>
                <a:sym typeface="Calibri"/>
              </a:rPr>
              <a:t>• 3D Tensor Data Structure: </a:t>
            </a:r>
            <a:r>
              <a:rPr b="0" i="0" lang="en-US" sz="1900" u="none" cap="none" strike="noStrike">
                <a:solidFill>
                  <a:srgbClr val="1E1E1E"/>
                </a:solidFill>
                <a:latin typeface="Calibri"/>
                <a:ea typeface="Calibri"/>
                <a:cs typeface="Calibri"/>
                <a:sym typeface="Calibri"/>
              </a:rPr>
              <a:t>Raw data is folded into a 3D Tensor T(i, j, k) where i = Phase Bins (rotation period), j = Frequency Channels, and k = Time Subintegrations.</a:t>
            </a:r>
            <a:endParaRPr sz="1800"/>
          </a:p>
          <a:p>
            <a:pPr indent="0" lvl="0" marL="0" marR="0" rtl="0" algn="l">
              <a:lnSpc>
                <a:spcPct val="125000"/>
              </a:lnSpc>
              <a:spcBef>
                <a:spcPts val="1400"/>
              </a:spcBef>
              <a:spcAft>
                <a:spcPts val="0"/>
              </a:spcAft>
              <a:buNone/>
            </a:pPr>
            <a:r>
              <a:rPr b="1" i="0" lang="en-US" sz="1900" u="none" cap="none" strike="noStrike">
                <a:solidFill>
                  <a:srgbClr val="1E1E1E"/>
                </a:solidFill>
                <a:latin typeface="Calibri"/>
                <a:ea typeface="Calibri"/>
                <a:cs typeface="Calibri"/>
                <a:sym typeface="Calibri"/>
              </a:rPr>
              <a:t>• 2D RFI Mapping: </a:t>
            </a:r>
            <a:r>
              <a:rPr b="0" i="0" lang="en-US" sz="1900" u="none" cap="none" strike="noStrike">
                <a:solidFill>
                  <a:srgbClr val="1E1E1E"/>
                </a:solidFill>
                <a:latin typeface="Calibri"/>
                <a:ea typeface="Calibri"/>
                <a:cs typeface="Calibri"/>
                <a:sym typeface="Calibri"/>
              </a:rPr>
              <a:t>RFI detection is framed as a 2D image segmentation task on the Frequency vs. Time subintegration plane using RMS (standard deviation) values of folded profiles.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2209801" y="328976"/>
            <a:ext cx="6721764" cy="917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31837"/>
              </a:buClr>
              <a:buSzPts val="2600"/>
              <a:buFont typeface="Calibri"/>
              <a:buNone/>
            </a:pPr>
            <a:r>
              <a:rPr b="1" lang="en-US" sz="2600">
                <a:solidFill>
                  <a:srgbClr val="E31837"/>
                </a:solidFill>
              </a:rPr>
              <a:t>➢ </a:t>
            </a:r>
            <a:r>
              <a:rPr lang="en-US" sz="2600" u="sng">
                <a:solidFill>
                  <a:srgbClr val="E31837"/>
                </a:solidFill>
              </a:rPr>
              <a:t>2𝞂CRF Method</a:t>
            </a:r>
            <a:endParaRPr/>
          </a:p>
        </p:txBody>
      </p:sp>
      <p:sp>
        <p:nvSpPr>
          <p:cNvPr id="222" name="Google Shape;222;p32"/>
          <p:cNvSpPr txBox="1"/>
          <p:nvPr/>
        </p:nvSpPr>
        <p:spPr>
          <a:xfrm>
            <a:off x="1432500" y="1816925"/>
            <a:ext cx="9327000" cy="4294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Get 2D image of RMS:</a:t>
            </a:r>
            <a:r>
              <a:rPr lang="en-US" sz="2100">
                <a:latin typeface="Calibri"/>
                <a:ea typeface="Calibri"/>
                <a:cs typeface="Calibri"/>
                <a:sym typeface="Calibri"/>
              </a:rPr>
              <a:t> Take the 3D data and squash it down to just Time (subint) vs. Frequency, calculating the RMS for each point.</a:t>
            </a:r>
            <a:endParaRPr sz="2100">
              <a:latin typeface="Calibri"/>
              <a:ea typeface="Calibri"/>
              <a:cs typeface="Calibri"/>
              <a:sym typeface="Calibri"/>
            </a:endParaRPr>
          </a:p>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Baseline deduction:</a:t>
            </a:r>
            <a:r>
              <a:rPr lang="en-US" sz="2100">
                <a:latin typeface="Calibri"/>
                <a:ea typeface="Calibri"/>
                <a:cs typeface="Calibri"/>
                <a:sym typeface="Calibri"/>
              </a:rPr>
              <a:t> Smooth out the data so it's flat and even.</a:t>
            </a:r>
            <a:endParaRPr sz="2100">
              <a:latin typeface="Calibri"/>
              <a:ea typeface="Calibri"/>
              <a:cs typeface="Calibri"/>
              <a:sym typeface="Calibri"/>
            </a:endParaRPr>
          </a:p>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Fit the histogram:</a:t>
            </a:r>
            <a:r>
              <a:rPr lang="en-US" sz="2100">
                <a:latin typeface="Calibri"/>
                <a:ea typeface="Calibri"/>
                <a:cs typeface="Calibri"/>
                <a:sym typeface="Calibri"/>
              </a:rPr>
              <a:t> We fit a </a:t>
            </a:r>
            <a:r>
              <a:rPr lang="en-US" sz="2100">
                <a:latin typeface="Calibri"/>
                <a:ea typeface="Calibri"/>
                <a:cs typeface="Calibri"/>
                <a:sym typeface="Calibri"/>
              </a:rPr>
              <a:t>gaussian</a:t>
            </a:r>
            <a:r>
              <a:rPr lang="en-US" sz="2100">
                <a:latin typeface="Calibri"/>
                <a:ea typeface="Calibri"/>
                <a:cs typeface="Calibri"/>
                <a:sym typeface="Calibri"/>
              </a:rPr>
              <a:t> bell curve and find the peak of normal noise.</a:t>
            </a:r>
            <a:endParaRPr sz="2100">
              <a:latin typeface="Calibri"/>
              <a:ea typeface="Calibri"/>
              <a:cs typeface="Calibri"/>
              <a:sym typeface="Calibri"/>
            </a:endParaRPr>
          </a:p>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Calculate conditional probability:</a:t>
            </a:r>
            <a:r>
              <a:rPr lang="en-US" sz="2100">
                <a:latin typeface="Calibri"/>
                <a:ea typeface="Calibri"/>
                <a:cs typeface="Calibri"/>
                <a:sym typeface="Calibri"/>
              </a:rPr>
              <a:t> Based on the bell curve, we assign a mathematical probability to each pixel for eg "This pixel is 99% likely to be normal, but this one is only 20% likely."</a:t>
            </a:r>
            <a:endParaRPr sz="2100">
              <a:latin typeface="Calibri"/>
              <a:ea typeface="Calibri"/>
              <a:cs typeface="Calibri"/>
              <a:sym typeface="Calibri"/>
            </a:endParaRPr>
          </a:p>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Clean Noise Threshold (≤ ±2σ):</a:t>
            </a:r>
            <a:r>
              <a:rPr lang="en-US" sz="2100">
                <a:latin typeface="Calibri"/>
                <a:ea typeface="Calibri"/>
                <a:cs typeface="Calibri"/>
                <a:sym typeface="Calibri"/>
              </a:rPr>
              <a:t> Pixels with RMS within ±2σ of the Gaussian peak are initially labeled as Clean Background Noise.</a:t>
            </a:r>
            <a:endParaRPr sz="2100">
              <a:latin typeface="Calibri"/>
              <a:ea typeface="Calibri"/>
              <a:cs typeface="Calibri"/>
              <a:sym typeface="Calibri"/>
            </a:endParaRPr>
          </a:p>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RFI Burst Threshold (&gt; 3σ):</a:t>
            </a:r>
            <a:r>
              <a:rPr lang="en-US" sz="2100">
                <a:latin typeface="Calibri"/>
                <a:ea typeface="Calibri"/>
                <a:cs typeface="Calibri"/>
                <a:sym typeface="Calibri"/>
              </a:rPr>
              <a:t> Pixels with RMS exceeding 3σ are initially labeled as RFI Interference.</a:t>
            </a:r>
            <a:endParaRPr sz="2100">
              <a:latin typeface="Calibri"/>
              <a:ea typeface="Calibri"/>
              <a:cs typeface="Calibri"/>
              <a:sym typeface="Calibri"/>
            </a:endParaRPr>
          </a:p>
          <a:p>
            <a:pPr indent="0" lvl="0" marL="0" rtl="0" algn="l">
              <a:spcBef>
                <a:spcPts val="0"/>
              </a:spcBef>
              <a:spcAft>
                <a:spcPts val="0"/>
              </a:spcAft>
              <a:buNone/>
            </a:pPr>
            <a:r>
              <a:rPr lang="en-US" sz="2100">
                <a:latin typeface="Calibri"/>
                <a:ea typeface="Calibri"/>
                <a:cs typeface="Calibri"/>
                <a:sym typeface="Calibri"/>
              </a:rPr>
              <a:t>• </a:t>
            </a:r>
            <a:r>
              <a:rPr b="1" lang="en-US" sz="2100">
                <a:latin typeface="Calibri"/>
                <a:ea typeface="Calibri"/>
                <a:cs typeface="Calibri"/>
                <a:sym typeface="Calibri"/>
              </a:rPr>
              <a:t>Ambiguous Region (2σ to 3σ):</a:t>
            </a:r>
            <a:r>
              <a:rPr lang="en-US" sz="2100">
                <a:latin typeface="Calibri"/>
                <a:ea typeface="Calibri"/>
                <a:cs typeface="Calibri"/>
                <a:sym typeface="Calibri"/>
              </a:rPr>
              <a:t> Borderline pixels fall into an ambiguous region requiring spatial optimization.</a:t>
            </a:r>
            <a:endParaRPr sz="21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2209801" y="328976"/>
            <a:ext cx="6721764" cy="917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31837"/>
              </a:buClr>
              <a:buSzPts val="2600"/>
              <a:buFont typeface="Calibri"/>
              <a:buNone/>
            </a:pPr>
            <a:r>
              <a:rPr b="1" lang="en-US" sz="2600">
                <a:solidFill>
                  <a:srgbClr val="E31837"/>
                </a:solidFill>
              </a:rPr>
              <a:t>➢ </a:t>
            </a:r>
            <a:r>
              <a:rPr b="1" lang="en-US" sz="2600" u="sng">
                <a:solidFill>
                  <a:srgbClr val="E31837"/>
                </a:solidFill>
              </a:rPr>
              <a:t>CRF Optimization (Step 2)</a:t>
            </a:r>
            <a:endParaRPr/>
          </a:p>
        </p:txBody>
      </p:sp>
      <p:sp>
        <p:nvSpPr>
          <p:cNvPr id="228" name="Google Shape;228;p33"/>
          <p:cNvSpPr txBox="1"/>
          <p:nvPr/>
        </p:nvSpPr>
        <p:spPr>
          <a:xfrm>
            <a:off x="1432488" y="1656125"/>
            <a:ext cx="9327000" cy="4941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1750">
                <a:latin typeface="Calibri"/>
                <a:ea typeface="Calibri"/>
                <a:cs typeface="Calibri"/>
                <a:sym typeface="Calibri"/>
              </a:rPr>
              <a:t>Why use CRFs?</a:t>
            </a:r>
            <a:endParaRPr b="1" sz="1750">
              <a:latin typeface="Calibri"/>
              <a:ea typeface="Calibri"/>
              <a:cs typeface="Calibri"/>
              <a:sym typeface="Calibri"/>
            </a:endParaRPr>
          </a:p>
          <a:p>
            <a:pPr indent="0" lvl="0" marL="0" rtl="0" algn="l">
              <a:spcBef>
                <a:spcPts val="0"/>
              </a:spcBef>
              <a:spcAft>
                <a:spcPts val="0"/>
              </a:spcAft>
              <a:buNone/>
            </a:pPr>
            <a:r>
              <a:rPr lang="en-US" sz="1750">
                <a:latin typeface="Calibri"/>
                <a:ea typeface="Calibri"/>
                <a:cs typeface="Calibri"/>
                <a:sym typeface="Calibri"/>
              </a:rPr>
              <a:t>Pixels in an image aren't isolated; they relate to their neighbors. RFI often appears as continuous lines or bands across an image. Conditional Random Fields (CRFs) help by looking at the context of surrounding pixels to better identify these patterns.</a:t>
            </a:r>
            <a:endParaRPr sz="1750">
              <a:latin typeface="Calibri"/>
              <a:ea typeface="Calibri"/>
              <a:cs typeface="Calibri"/>
              <a:sym typeface="Calibri"/>
            </a:endParaRPr>
          </a:p>
          <a:p>
            <a:pPr indent="0" lvl="0" marL="0" rtl="0" algn="l">
              <a:spcBef>
                <a:spcPts val="0"/>
              </a:spcBef>
              <a:spcAft>
                <a:spcPts val="0"/>
              </a:spcAft>
              <a:buNone/>
            </a:pPr>
            <a:r>
              <a:t/>
            </a:r>
            <a:endParaRPr sz="1750">
              <a:latin typeface="Calibri"/>
              <a:ea typeface="Calibri"/>
              <a:cs typeface="Calibri"/>
              <a:sym typeface="Calibri"/>
            </a:endParaRPr>
          </a:p>
          <a:p>
            <a:pPr indent="0" lvl="0" marL="0" rtl="0" algn="l">
              <a:spcBef>
                <a:spcPts val="0"/>
              </a:spcBef>
              <a:spcAft>
                <a:spcPts val="0"/>
              </a:spcAft>
              <a:buNone/>
            </a:pPr>
            <a:r>
              <a:rPr b="1" lang="en-US" sz="1750">
                <a:latin typeface="Calibri"/>
                <a:ea typeface="Calibri"/>
                <a:cs typeface="Calibri"/>
                <a:sym typeface="Calibri"/>
              </a:rPr>
              <a:t>Dense Graph Representation</a:t>
            </a:r>
            <a:endParaRPr b="1" sz="1750">
              <a:latin typeface="Calibri"/>
              <a:ea typeface="Calibri"/>
              <a:cs typeface="Calibri"/>
              <a:sym typeface="Calibri"/>
            </a:endParaRPr>
          </a:p>
          <a:p>
            <a:pPr indent="0" lvl="0" marL="0" rtl="0" algn="l">
              <a:spcBef>
                <a:spcPts val="0"/>
              </a:spcBef>
              <a:spcAft>
                <a:spcPts val="0"/>
              </a:spcAft>
              <a:buNone/>
            </a:pPr>
            <a:r>
              <a:rPr lang="en-US" sz="1750">
                <a:latin typeface="Calibri"/>
                <a:ea typeface="Calibri"/>
                <a:cs typeface="Calibri"/>
                <a:sym typeface="Calibri"/>
              </a:rPr>
              <a:t>Every pixel is treated as a point in a fully connected network. This allows the system to make labelling decisions for each pixel by considering the entire image's context rather than just individual spots.</a:t>
            </a:r>
            <a:endParaRPr sz="1750">
              <a:latin typeface="Calibri"/>
              <a:ea typeface="Calibri"/>
              <a:cs typeface="Calibri"/>
              <a:sym typeface="Calibri"/>
            </a:endParaRPr>
          </a:p>
          <a:p>
            <a:pPr indent="0" lvl="0" marL="0" rtl="0" algn="l">
              <a:spcBef>
                <a:spcPts val="0"/>
              </a:spcBef>
              <a:spcAft>
                <a:spcPts val="0"/>
              </a:spcAft>
              <a:buNone/>
            </a:pPr>
            <a:r>
              <a:t/>
            </a:r>
            <a:endParaRPr sz="1750">
              <a:latin typeface="Calibri"/>
              <a:ea typeface="Calibri"/>
              <a:cs typeface="Calibri"/>
              <a:sym typeface="Calibri"/>
            </a:endParaRPr>
          </a:p>
          <a:p>
            <a:pPr indent="0" lvl="0" marL="0" rtl="0" algn="l">
              <a:spcBef>
                <a:spcPts val="0"/>
              </a:spcBef>
              <a:spcAft>
                <a:spcPts val="0"/>
              </a:spcAft>
              <a:buNone/>
            </a:pPr>
            <a:r>
              <a:rPr b="1" lang="en-US" sz="1750">
                <a:latin typeface="Calibri"/>
                <a:ea typeface="Calibri"/>
                <a:cs typeface="Calibri"/>
                <a:sym typeface="Calibri"/>
              </a:rPr>
              <a:t>Energy Function Minimization</a:t>
            </a:r>
            <a:endParaRPr b="1" sz="1750">
              <a:latin typeface="Calibri"/>
              <a:ea typeface="Calibri"/>
              <a:cs typeface="Calibri"/>
              <a:sym typeface="Calibri"/>
            </a:endParaRPr>
          </a:p>
          <a:p>
            <a:pPr indent="0" lvl="0" marL="0" rtl="0" algn="l">
              <a:spcBef>
                <a:spcPts val="0"/>
              </a:spcBef>
              <a:spcAft>
                <a:spcPts val="0"/>
              </a:spcAft>
              <a:buNone/>
            </a:pPr>
            <a:r>
              <a:rPr lang="en-US" sz="1750">
                <a:latin typeface="Calibri"/>
                <a:ea typeface="Calibri"/>
                <a:cs typeface="Calibri"/>
                <a:sym typeface="Calibri"/>
              </a:rPr>
              <a:t>The system finds the best result by minimizing an "energy" equation, which balances two factors:</a:t>
            </a:r>
            <a:endParaRPr sz="1750">
              <a:latin typeface="Calibri"/>
              <a:ea typeface="Calibri"/>
              <a:cs typeface="Calibri"/>
              <a:sym typeface="Calibri"/>
            </a:endParaRPr>
          </a:p>
          <a:p>
            <a:pPr indent="0" lvl="0" marL="0" rtl="0" algn="l">
              <a:spcBef>
                <a:spcPts val="0"/>
              </a:spcBef>
              <a:spcAft>
                <a:spcPts val="0"/>
              </a:spcAft>
              <a:buNone/>
            </a:pPr>
            <a:r>
              <a:rPr b="1" lang="en-US" sz="1750">
                <a:latin typeface="Calibri"/>
                <a:ea typeface="Calibri"/>
                <a:cs typeface="Calibri"/>
                <a:sym typeface="Calibri"/>
              </a:rPr>
              <a:t>Unary Potential:</a:t>
            </a:r>
            <a:r>
              <a:rPr lang="en-US" sz="1750">
                <a:latin typeface="Calibri"/>
                <a:ea typeface="Calibri"/>
                <a:cs typeface="Calibri"/>
                <a:sym typeface="Calibri"/>
              </a:rPr>
              <a:t> How likely a single pixel is to be RFI based on its initial probability.</a:t>
            </a:r>
            <a:endParaRPr sz="1750">
              <a:latin typeface="Calibri"/>
              <a:ea typeface="Calibri"/>
              <a:cs typeface="Calibri"/>
              <a:sym typeface="Calibri"/>
            </a:endParaRPr>
          </a:p>
          <a:p>
            <a:pPr indent="0" lvl="0" marL="0" rtl="0" algn="l">
              <a:spcBef>
                <a:spcPts val="0"/>
              </a:spcBef>
              <a:spcAft>
                <a:spcPts val="0"/>
              </a:spcAft>
              <a:buNone/>
            </a:pPr>
            <a:r>
              <a:rPr b="1" lang="en-US" sz="1750">
                <a:latin typeface="Calibri"/>
                <a:ea typeface="Calibri"/>
                <a:cs typeface="Calibri"/>
                <a:sym typeface="Calibri"/>
              </a:rPr>
              <a:t>Pairwise Potential:</a:t>
            </a:r>
            <a:r>
              <a:rPr lang="en-US" sz="1750">
                <a:latin typeface="Calibri"/>
                <a:ea typeface="Calibri"/>
                <a:cs typeface="Calibri"/>
                <a:sym typeface="Calibri"/>
              </a:rPr>
              <a:t> How consistent the label is with its neighbors, using appearance (pixel intensity) and spatial closeness (how close pixels are to each other) to ensure smooth, accurate results.</a:t>
            </a:r>
            <a:endParaRPr sz="1750">
              <a:latin typeface="Calibri"/>
              <a:ea typeface="Calibri"/>
              <a:cs typeface="Calibri"/>
              <a:sym typeface="Calibri"/>
            </a:endParaRPr>
          </a:p>
          <a:p>
            <a:pPr indent="0" lvl="0" marL="0" rtl="0" algn="l">
              <a:spcBef>
                <a:spcPts val="0"/>
              </a:spcBef>
              <a:spcAft>
                <a:spcPts val="0"/>
              </a:spcAft>
              <a:buNone/>
            </a:pPr>
            <a:r>
              <a:t/>
            </a:r>
            <a:endParaRPr sz="1750">
              <a:latin typeface="Calibri"/>
              <a:ea typeface="Calibri"/>
              <a:cs typeface="Calibri"/>
              <a:sym typeface="Calibri"/>
            </a:endParaRPr>
          </a:p>
          <a:p>
            <a:pPr indent="0" lvl="0" marL="0" rtl="0" algn="l">
              <a:spcBef>
                <a:spcPts val="0"/>
              </a:spcBef>
              <a:spcAft>
                <a:spcPts val="0"/>
              </a:spcAft>
              <a:buNone/>
            </a:pPr>
            <a:r>
              <a:rPr b="1" lang="en-US" sz="1750">
                <a:latin typeface="Calibri"/>
                <a:ea typeface="Calibri"/>
                <a:cs typeface="Calibri"/>
                <a:sym typeface="Calibri"/>
              </a:rPr>
              <a:t>Performance</a:t>
            </a:r>
            <a:endParaRPr b="1" sz="1750">
              <a:latin typeface="Calibri"/>
              <a:ea typeface="Calibri"/>
              <a:cs typeface="Calibri"/>
              <a:sym typeface="Calibri"/>
            </a:endParaRPr>
          </a:p>
          <a:p>
            <a:pPr indent="0" lvl="0" marL="0" rtl="0" algn="l">
              <a:spcBef>
                <a:spcPts val="0"/>
              </a:spcBef>
              <a:spcAft>
                <a:spcPts val="0"/>
              </a:spcAft>
              <a:buNone/>
            </a:pPr>
            <a:r>
              <a:rPr lang="en-US" sz="1750">
                <a:latin typeface="Calibri"/>
                <a:ea typeface="Calibri"/>
                <a:cs typeface="Calibri"/>
                <a:sym typeface="Calibri"/>
              </a:rPr>
              <a:t>This approach achieves 93–95% accuracy on FAST telescope data, with the optimization process completing in just 0.37 seconds.</a:t>
            </a:r>
            <a:endParaRPr sz="175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2209801" y="328976"/>
            <a:ext cx="6721800" cy="917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35" name="Google Shape;235;p3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236" name="Google Shape;236;p34"/>
          <p:cNvPicPr preferRelativeResize="0"/>
          <p:nvPr/>
        </p:nvPicPr>
        <p:blipFill rotWithShape="1">
          <a:blip r:embed="rId3">
            <a:alphaModFix/>
          </a:blip>
          <a:srcRect b="6463" l="0" r="0" t="0"/>
          <a:stretch/>
        </p:blipFill>
        <p:spPr>
          <a:xfrm>
            <a:off x="838200" y="1825625"/>
            <a:ext cx="5094026" cy="4079099"/>
          </a:xfrm>
          <a:prstGeom prst="rect">
            <a:avLst/>
          </a:prstGeom>
          <a:noFill/>
          <a:ln>
            <a:noFill/>
          </a:ln>
        </p:spPr>
      </p:pic>
      <p:pic>
        <p:nvPicPr>
          <p:cNvPr id="237" name="Google Shape;237;p34"/>
          <p:cNvPicPr preferRelativeResize="0"/>
          <p:nvPr/>
        </p:nvPicPr>
        <p:blipFill>
          <a:blip r:embed="rId4">
            <a:alphaModFix/>
          </a:blip>
          <a:stretch>
            <a:fillRect/>
          </a:stretch>
        </p:blipFill>
        <p:spPr>
          <a:xfrm>
            <a:off x="6128326" y="1825625"/>
            <a:ext cx="5225474" cy="39849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2209801" y="328976"/>
            <a:ext cx="6721764" cy="9176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31837"/>
              </a:buClr>
              <a:buSzPts val="2600"/>
              <a:buFont typeface="Calibri"/>
              <a:buNone/>
            </a:pPr>
            <a:r>
              <a:rPr b="1" lang="en-US" sz="2600">
                <a:solidFill>
                  <a:srgbClr val="E31837"/>
                </a:solidFill>
              </a:rPr>
              <a:t>➢ </a:t>
            </a:r>
            <a:r>
              <a:rPr b="1" lang="en-US" sz="2600" u="sng">
                <a:solidFill>
                  <a:srgbClr val="E31837"/>
                </a:solidFill>
              </a:rPr>
              <a:t>Proposed Solution — U-Net Architecture</a:t>
            </a:r>
            <a:endParaRPr/>
          </a:p>
        </p:txBody>
      </p:sp>
      <p:sp>
        <p:nvSpPr>
          <p:cNvPr id="243" name="Google Shape;243;p35"/>
          <p:cNvSpPr txBox="1"/>
          <p:nvPr/>
        </p:nvSpPr>
        <p:spPr>
          <a:xfrm>
            <a:off x="1241600" y="1816600"/>
            <a:ext cx="9327000" cy="4155900"/>
          </a:xfrm>
          <a:prstGeom prst="rect">
            <a:avLst/>
          </a:prstGeom>
          <a:noFill/>
          <a:ln>
            <a:noFill/>
          </a:ln>
        </p:spPr>
        <p:txBody>
          <a:bodyPr anchorCtr="0" anchor="t" bIns="45700" lIns="91425" spcFirstLastPara="1" rIns="91425" wrap="square" tIns="45700">
            <a:spAutoFit/>
          </a:bodyPr>
          <a:lstStyle/>
          <a:p>
            <a:pPr indent="-228600" lvl="0" marL="457200" rtl="0" algn="l">
              <a:spcBef>
                <a:spcPts val="1200"/>
              </a:spcBef>
              <a:spcAft>
                <a:spcPts val="0"/>
              </a:spcAft>
              <a:buNone/>
            </a:pPr>
            <a:r>
              <a:rPr b="1" lang="en-US" sz="1950">
                <a:latin typeface="Calibri"/>
                <a:ea typeface="Calibri"/>
                <a:cs typeface="Calibri"/>
                <a:sym typeface="Calibri"/>
              </a:rPr>
              <a:t>Limitations of the 2σCRF Methodology</a:t>
            </a:r>
            <a:endParaRPr b="1" sz="1950">
              <a:latin typeface="Calibri"/>
              <a:ea typeface="Calibri"/>
              <a:cs typeface="Calibri"/>
              <a:sym typeface="Calibri"/>
            </a:endParaRPr>
          </a:p>
          <a:p>
            <a:pPr indent="-352425" lvl="0" marL="457200" rtl="0" algn="l">
              <a:spcBef>
                <a:spcPts val="1200"/>
              </a:spcBef>
              <a:spcAft>
                <a:spcPts val="0"/>
              </a:spcAft>
              <a:buSzPts val="1950"/>
              <a:buChar char="●"/>
            </a:pPr>
            <a:r>
              <a:rPr b="1" lang="en-US" sz="1950">
                <a:latin typeface="Calibri"/>
                <a:ea typeface="Calibri"/>
                <a:cs typeface="Calibri"/>
                <a:sym typeface="Calibri"/>
              </a:rPr>
              <a:t>Dependency on Gaussian Assumptions:</a:t>
            </a:r>
            <a:r>
              <a:rPr lang="en-US" sz="1950">
                <a:latin typeface="Calibri"/>
                <a:ea typeface="Calibri"/>
                <a:cs typeface="Calibri"/>
                <a:sym typeface="Calibri"/>
              </a:rPr>
              <a:t> The 2σCRF model relies on manual ±2σ statistical assumptions, which fail when Radio Frequency Interference (RFI) becomes complex or non-Gaussian.</a:t>
            </a:r>
            <a:endParaRPr sz="1950">
              <a:latin typeface="Calibri"/>
              <a:ea typeface="Calibri"/>
              <a:cs typeface="Calibri"/>
              <a:sym typeface="Calibri"/>
            </a:endParaRPr>
          </a:p>
          <a:p>
            <a:pPr indent="-352425" lvl="0" marL="457200" rtl="0" algn="l">
              <a:spcBef>
                <a:spcPts val="0"/>
              </a:spcBef>
              <a:spcAft>
                <a:spcPts val="0"/>
              </a:spcAft>
              <a:buSzPts val="1950"/>
              <a:buChar char="●"/>
            </a:pPr>
            <a:r>
              <a:rPr b="1" lang="en-US" sz="1950">
                <a:latin typeface="Calibri"/>
                <a:ea typeface="Calibri"/>
                <a:cs typeface="Calibri"/>
                <a:sym typeface="Calibri"/>
              </a:rPr>
              <a:t>uGMRT Challenges:</a:t>
            </a:r>
            <a:r>
              <a:rPr lang="en-US" sz="1950">
                <a:latin typeface="Calibri"/>
                <a:ea typeface="Calibri"/>
                <a:cs typeface="Calibri"/>
                <a:sym typeface="Calibri"/>
              </a:rPr>
              <a:t> Terrestrial RFI in the 300–500 MHz band (uGMRT, India) is severe, rendering standard Gaussian-based statistical thresholding ineffective.</a:t>
            </a:r>
            <a:endParaRPr sz="1950">
              <a:latin typeface="Calibri"/>
              <a:ea typeface="Calibri"/>
              <a:cs typeface="Calibri"/>
              <a:sym typeface="Calibri"/>
            </a:endParaRPr>
          </a:p>
          <a:p>
            <a:pPr indent="0" lvl="0" marL="0" rtl="0" algn="l">
              <a:spcBef>
                <a:spcPts val="1200"/>
              </a:spcBef>
              <a:spcAft>
                <a:spcPts val="0"/>
              </a:spcAft>
              <a:buNone/>
            </a:pPr>
            <a:r>
              <a:rPr b="1" lang="en-US" sz="1950">
                <a:latin typeface="Calibri"/>
                <a:ea typeface="Calibri"/>
                <a:cs typeface="Calibri"/>
                <a:sym typeface="Calibri"/>
              </a:rPr>
              <a:t>Proposed Solution: U-Net Integration</a:t>
            </a:r>
            <a:endParaRPr b="1" sz="1950">
              <a:latin typeface="Calibri"/>
              <a:ea typeface="Calibri"/>
              <a:cs typeface="Calibri"/>
              <a:sym typeface="Calibri"/>
            </a:endParaRPr>
          </a:p>
          <a:p>
            <a:pPr indent="-352425" lvl="0" marL="457200" rtl="0" algn="l">
              <a:spcBef>
                <a:spcPts val="1200"/>
              </a:spcBef>
              <a:spcAft>
                <a:spcPts val="0"/>
              </a:spcAft>
              <a:buSzPts val="1950"/>
              <a:buFont typeface="Calibri"/>
              <a:buChar char="●"/>
            </a:pPr>
            <a:r>
              <a:rPr lang="en-US" sz="1950">
                <a:latin typeface="Calibri"/>
                <a:ea typeface="Calibri"/>
                <a:cs typeface="Calibri"/>
                <a:sym typeface="Calibri"/>
              </a:rPr>
              <a:t>I will be shifting from manual thresholding to an U-Net Convolutional Neural Network, enabling the automatic extraction of complex 2D spatial and spectral features.</a:t>
            </a:r>
            <a:endParaRPr sz="1950">
              <a:latin typeface="Calibri"/>
              <a:ea typeface="Calibri"/>
              <a:cs typeface="Calibri"/>
              <a:sym typeface="Calibri"/>
            </a:endParaRPr>
          </a:p>
          <a:p>
            <a:pPr indent="-352425" lvl="0" marL="457200" rtl="0" algn="l">
              <a:spcBef>
                <a:spcPts val="0"/>
              </a:spcBef>
              <a:spcAft>
                <a:spcPts val="0"/>
              </a:spcAft>
              <a:buSzPts val="1950"/>
              <a:buChar char="●"/>
            </a:pPr>
            <a:r>
              <a:rPr b="1" lang="en-US" sz="1950">
                <a:latin typeface="Calibri"/>
                <a:ea typeface="Calibri"/>
                <a:cs typeface="Calibri"/>
                <a:sym typeface="Calibri"/>
              </a:rPr>
              <a:t>Hybrid Architecture (U-Net + CRF):</a:t>
            </a:r>
            <a:r>
              <a:rPr lang="en-US" sz="1950">
                <a:latin typeface="Calibri"/>
                <a:ea typeface="Calibri"/>
                <a:cs typeface="Calibri"/>
                <a:sym typeface="Calibri"/>
              </a:rPr>
              <a:t> This system will use a U-Net for the image segmentation part, with CRF post-processing to refine boundaries and suppress false positives.</a:t>
            </a:r>
            <a:endParaRPr sz="195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p:nvPr/>
        </p:nvSpPr>
        <p:spPr>
          <a:xfrm>
            <a:off x="0" y="0"/>
            <a:ext cx="12192000" cy="68580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3" name="Google Shape;253;p36"/>
          <p:cNvPicPr preferRelativeResize="0"/>
          <p:nvPr/>
        </p:nvPicPr>
        <p:blipFill rotWithShape="1">
          <a:blip r:embed="rId4">
            <a:alphaModFix/>
          </a:blip>
          <a:srcRect b="0" l="0" r="0" t="0"/>
          <a:stretch/>
        </p:blipFill>
        <p:spPr>
          <a:xfrm>
            <a:off x="208684" y="365125"/>
            <a:ext cx="1851000" cy="1085700"/>
          </a:xfrm>
          <a:prstGeom prst="rect">
            <a:avLst/>
          </a:prstGeom>
          <a:noFill/>
          <a:ln>
            <a:noFill/>
          </a:ln>
        </p:spPr>
      </p:pic>
      <p:pic>
        <p:nvPicPr>
          <p:cNvPr id="254" name="Google Shape;254;p36"/>
          <p:cNvPicPr preferRelativeResize="0"/>
          <p:nvPr/>
        </p:nvPicPr>
        <p:blipFill rotWithShape="1">
          <a:blip r:embed="rId5">
            <a:alphaModFix/>
          </a:blip>
          <a:srcRect b="0" l="11252" r="11252" t="0"/>
          <a:stretch/>
        </p:blipFill>
        <p:spPr>
          <a:xfrm rot="5400000">
            <a:off x="5982606" y="1364031"/>
            <a:ext cx="58200" cy="10813500"/>
          </a:xfrm>
          <a:prstGeom prst="rect">
            <a:avLst/>
          </a:prstGeom>
          <a:noFill/>
          <a:ln>
            <a:noFill/>
          </a:ln>
        </p:spPr>
      </p:pic>
      <p:pic>
        <p:nvPicPr>
          <p:cNvPr id="255" name="Google Shape;255;p36"/>
          <p:cNvPicPr preferRelativeResize="0"/>
          <p:nvPr/>
        </p:nvPicPr>
        <p:blipFill rotWithShape="1">
          <a:blip r:embed="rId5">
            <a:alphaModFix/>
          </a:blip>
          <a:srcRect b="0" l="11253" r="11245" t="0"/>
          <a:stretch/>
        </p:blipFill>
        <p:spPr>
          <a:xfrm rot="5400000">
            <a:off x="6095700" y="-4527464"/>
            <a:ext cx="65400" cy="12127200"/>
          </a:xfrm>
          <a:prstGeom prst="rect">
            <a:avLst/>
          </a:prstGeom>
          <a:noFill/>
          <a:ln>
            <a:noFill/>
          </a:ln>
        </p:spPr>
      </p:pic>
      <p:pic>
        <p:nvPicPr>
          <p:cNvPr id="256" name="Google Shape;256;p36"/>
          <p:cNvPicPr preferRelativeResize="0"/>
          <p:nvPr/>
        </p:nvPicPr>
        <p:blipFill rotWithShape="1">
          <a:blip r:embed="rId6">
            <a:alphaModFix/>
          </a:blip>
          <a:srcRect b="0" l="0" r="0" t="0"/>
          <a:stretch/>
        </p:blipFill>
        <p:spPr>
          <a:xfrm>
            <a:off x="10670572" y="86881"/>
            <a:ext cx="1366500" cy="1390200"/>
          </a:xfrm>
          <a:prstGeom prst="rect">
            <a:avLst/>
          </a:prstGeom>
          <a:noFill/>
          <a:ln>
            <a:noFill/>
          </a:ln>
        </p:spPr>
      </p:pic>
      <p:sp>
        <p:nvSpPr>
          <p:cNvPr id="257" name="Google Shape;257;p36"/>
          <p:cNvSpPr txBox="1"/>
          <p:nvPr/>
        </p:nvSpPr>
        <p:spPr>
          <a:xfrm>
            <a:off x="2209800" y="328976"/>
            <a:ext cx="6721800" cy="917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b="1" sz="2600" u="sng">
              <a:solidFill>
                <a:srgbClr val="E31837"/>
              </a:solidFill>
              <a:latin typeface="Calibri"/>
              <a:ea typeface="Calibri"/>
              <a:cs typeface="Calibri"/>
              <a:sym typeface="Calibri"/>
            </a:endParaRPr>
          </a:p>
        </p:txBody>
      </p:sp>
      <p:sp>
        <p:nvSpPr>
          <p:cNvPr id="258" name="Google Shape;258;p36"/>
          <p:cNvSpPr txBox="1"/>
          <p:nvPr/>
        </p:nvSpPr>
        <p:spPr>
          <a:xfrm>
            <a:off x="1432503" y="1816922"/>
            <a:ext cx="9327000" cy="461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3200" u="sng">
                <a:solidFill>
                  <a:srgbClr val="E31837"/>
                </a:solidFill>
                <a:latin typeface="Calibri"/>
                <a:ea typeface="Calibri"/>
                <a:cs typeface="Calibri"/>
                <a:sym typeface="Calibri"/>
              </a:rPr>
              <a:t>➢ To Do Next Week</a:t>
            </a:r>
            <a:endParaRPr b="1" sz="3200" u="sng">
              <a:solidFill>
                <a:srgbClr val="E31837"/>
              </a:solidFill>
              <a:latin typeface="Calibri"/>
              <a:ea typeface="Calibri"/>
              <a:cs typeface="Calibri"/>
              <a:sym typeface="Calibri"/>
            </a:endParaRPr>
          </a:p>
          <a:p>
            <a:pPr indent="0" lvl="0" marL="0" rtl="0" algn="l">
              <a:spcBef>
                <a:spcPts val="0"/>
              </a:spcBef>
              <a:spcAft>
                <a:spcPts val="0"/>
              </a:spcAft>
              <a:buNone/>
            </a:pPr>
            <a:r>
              <a:t/>
            </a:r>
            <a:endParaRPr sz="2100">
              <a:solidFill>
                <a:srgbClr val="1E1E1E"/>
              </a:solidFill>
              <a:latin typeface="Calibri"/>
              <a:ea typeface="Calibri"/>
              <a:cs typeface="Calibri"/>
              <a:sym typeface="Calibri"/>
            </a:endParaRPr>
          </a:p>
          <a:p>
            <a:pPr indent="0" lvl="0" marL="0" rtl="0" algn="l">
              <a:spcBef>
                <a:spcPts val="1200"/>
              </a:spcBef>
              <a:spcAft>
                <a:spcPts val="0"/>
              </a:spcAft>
              <a:buNone/>
            </a:pPr>
            <a:r>
              <a:t/>
            </a:r>
            <a:endParaRPr sz="2100">
              <a:solidFill>
                <a:srgbClr val="1E1E1E"/>
              </a:solidFill>
              <a:latin typeface="Calibri"/>
              <a:ea typeface="Calibri"/>
              <a:cs typeface="Calibri"/>
              <a:sym typeface="Calibri"/>
            </a:endParaRPr>
          </a:p>
          <a:p>
            <a:pPr indent="0" lvl="0" marL="0" rtl="0" algn="l">
              <a:spcBef>
                <a:spcPts val="1200"/>
              </a:spcBef>
              <a:spcAft>
                <a:spcPts val="0"/>
              </a:spcAft>
              <a:buNone/>
            </a:pPr>
            <a:r>
              <a:rPr b="0" lang="en-US" sz="2100">
                <a:solidFill>
                  <a:srgbClr val="1E1E1E"/>
                </a:solidFill>
                <a:latin typeface="Calibri"/>
                <a:ea typeface="Calibri"/>
                <a:cs typeface="Calibri"/>
                <a:sym typeface="Calibri"/>
              </a:rPr>
              <a:t>• </a:t>
            </a:r>
            <a:r>
              <a:rPr b="1" lang="en-US" sz="2100">
                <a:solidFill>
                  <a:srgbClr val="1E1E1E"/>
                </a:solidFill>
                <a:latin typeface="Calibri"/>
                <a:ea typeface="Calibri"/>
                <a:cs typeface="Calibri"/>
                <a:sym typeface="Calibri"/>
              </a:rPr>
              <a:t>Data Acquisition:</a:t>
            </a:r>
            <a:r>
              <a:rPr b="0" lang="en-US" sz="2100">
                <a:solidFill>
                  <a:srgbClr val="1E1E1E"/>
                </a:solidFill>
                <a:latin typeface="Calibri"/>
                <a:ea typeface="Calibri"/>
                <a:cs typeface="Calibri"/>
                <a:sym typeface="Calibri"/>
              </a:rPr>
              <a:t> Acquire folded PSRFITS files and ground truth RFI masks </a:t>
            </a:r>
            <a:endParaRPr b="0" sz="2100">
              <a:solidFill>
                <a:srgbClr val="1E1E1E"/>
              </a:solidFill>
              <a:latin typeface="Calibri"/>
              <a:ea typeface="Calibri"/>
              <a:cs typeface="Calibri"/>
              <a:sym typeface="Calibri"/>
            </a:endParaRPr>
          </a:p>
          <a:p>
            <a:pPr indent="0" lvl="0" marL="0" rtl="0" algn="l">
              <a:spcBef>
                <a:spcPts val="1200"/>
              </a:spcBef>
              <a:spcAft>
                <a:spcPts val="1200"/>
              </a:spcAft>
              <a:buNone/>
            </a:pPr>
            <a:r>
              <a:rPr b="0" lang="en-US" sz="2100">
                <a:solidFill>
                  <a:srgbClr val="1E1E1E"/>
                </a:solidFill>
                <a:latin typeface="Calibri"/>
                <a:ea typeface="Calibri"/>
                <a:cs typeface="Calibri"/>
                <a:sym typeface="Calibri"/>
              </a:rPr>
              <a:t>• </a:t>
            </a:r>
            <a:r>
              <a:rPr b="1" lang="en-US" sz="2100">
                <a:solidFill>
                  <a:srgbClr val="1E1E1E"/>
                </a:solidFill>
                <a:latin typeface="Calibri"/>
                <a:ea typeface="Calibri"/>
                <a:cs typeface="Calibri"/>
                <a:sym typeface="Calibri"/>
              </a:rPr>
              <a:t>Model Understanding and Training:</a:t>
            </a:r>
            <a:r>
              <a:rPr b="0" lang="en-US" sz="2100">
                <a:solidFill>
                  <a:srgbClr val="1E1E1E"/>
                </a:solidFill>
                <a:latin typeface="Calibri"/>
                <a:ea typeface="Calibri"/>
                <a:cs typeface="Calibri"/>
                <a:sym typeface="Calibri"/>
              </a:rPr>
              <a:t> Train the U-Net model from this acquired data.</a:t>
            </a:r>
            <a:endParaRPr b="0" sz="2100">
              <a:solidFill>
                <a:srgbClr val="1E1E1E"/>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Red">
      <a:dk1>
        <a:srgbClr val="000000"/>
      </a:dk1>
      <a:lt1>
        <a:srgbClr val="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Red">
      <a:dk1>
        <a:srgbClr val="000000"/>
      </a:dk1>
      <a:lt1>
        <a:srgbClr val="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