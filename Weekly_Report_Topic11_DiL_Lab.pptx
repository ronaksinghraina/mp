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Ronak Sing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>
            <a:off x="0" y="0"/>
            <a:ext cx="12192000" cy="4606724"/>
          </a:xfrm>
          <a:prstGeom prst="rect">
            <a:avLst/>
          </a:prstGeom>
          <a:solidFill>
            <a:srgbClr val="9208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" name="Google Shape;18;p2"/>
          <p:cNvGrpSpPr/>
          <p:nvPr/>
        </p:nvGrpSpPr>
        <p:grpSpPr>
          <a:xfrm>
            <a:off x="4539436" y="1893116"/>
            <a:ext cx="3113127" cy="3113127"/>
            <a:chOff x="4539436" y="1893116"/>
            <a:chExt cx="3113127" cy="3113127"/>
          </a:xfrm>
        </p:grpSpPr>
        <p:sp>
          <p:nvSpPr>
            <p:cNvPr id="19" name="Google Shape;19;p2"/>
            <p:cNvSpPr/>
            <p:nvPr/>
          </p:nvSpPr>
          <p:spPr>
            <a:xfrm>
              <a:off x="4539436" y="1893116"/>
              <a:ext cx="3113127" cy="3113127"/>
            </a:xfrm>
            <a:prstGeom prst="ellipse">
              <a:avLst/>
            </a:prstGeom>
            <a:solidFill>
              <a:srgbClr val="DA222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48304" y="2001985"/>
              <a:ext cx="2895391" cy="289539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-2" y="3912719"/>
            <a:ext cx="12192000" cy="22826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44975" y="2476877"/>
            <a:ext cx="2102047" cy="123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256" y="5877605"/>
            <a:ext cx="4130398" cy="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782187" y="1367519"/>
            <a:ext cx="30483" cy="565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976150" y="2885751"/>
            <a:ext cx="30483" cy="565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2209801" y="328976"/>
            <a:ext cx="6721764" cy="917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b="1">
                <a:solidFill>
                  <a:srgbClr val="FF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3385127" y="63602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, company name&#10;&#10;Description automatically generated"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684" y="365125"/>
            <a:ext cx="1851025" cy="1085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5982501" y="1364002"/>
            <a:ext cx="58278" cy="1081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095648" y="-4527556"/>
            <a:ext cx="65358" cy="12127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ogo with a head and lines&#10;&#10;Description automatically generated with medium confidence" id="34" name="Google Shape;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576" y="86881"/>
            <a:ext cx="1366447" cy="139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제목 슬라이드">
  <p:cSld name="9_제목 슬라이드">
    <p:bg>
      <p:bgPr>
        <a:solidFill>
          <a:srgbClr val="92081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/>
          <p:nvPr/>
        </p:nvSpPr>
        <p:spPr>
          <a:xfrm>
            <a:off x="2204720" y="0"/>
            <a:ext cx="9774801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rgbClr val="C70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826365" y="0"/>
            <a:ext cx="9365635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95" name="Google Shape;95;p13"/>
          <p:cNvPicPr preferRelativeResize="0"/>
          <p:nvPr/>
        </p:nvPicPr>
        <p:blipFill rotWithShape="1">
          <a:blip r:embed="rId2">
            <a:alphaModFix amt="5000"/>
          </a:blip>
          <a:srcRect b="0" l="0" r="0" t="0"/>
          <a:stretch/>
        </p:blipFill>
        <p:spPr>
          <a:xfrm>
            <a:off x="2360757" y="794085"/>
            <a:ext cx="5433589" cy="318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840" y="5457398"/>
            <a:ext cx="5433589" cy="1213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/>
          <p:nvPr/>
        </p:nvSpPr>
        <p:spPr>
          <a:xfrm>
            <a:off x="0" y="0"/>
            <a:ext cx="12192000" cy="4606800"/>
          </a:xfrm>
          <a:prstGeom prst="rect">
            <a:avLst/>
          </a:prstGeom>
          <a:solidFill>
            <a:srgbClr val="9208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5"/>
          <p:cNvGrpSpPr/>
          <p:nvPr/>
        </p:nvGrpSpPr>
        <p:grpSpPr>
          <a:xfrm>
            <a:off x="4539436" y="1893116"/>
            <a:ext cx="3113100" cy="3113100"/>
            <a:chOff x="4539436" y="1893116"/>
            <a:chExt cx="3113100" cy="3113100"/>
          </a:xfrm>
        </p:grpSpPr>
        <p:sp>
          <p:nvSpPr>
            <p:cNvPr id="107" name="Google Shape;107;p15"/>
            <p:cNvSpPr/>
            <p:nvPr/>
          </p:nvSpPr>
          <p:spPr>
            <a:xfrm>
              <a:off x="4539436" y="1893116"/>
              <a:ext cx="3113100" cy="3113100"/>
            </a:xfrm>
            <a:prstGeom prst="ellipse">
              <a:avLst/>
            </a:prstGeom>
            <a:solidFill>
              <a:srgbClr val="DA222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4648304" y="2001985"/>
              <a:ext cx="2895300" cy="289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-2" y="3912719"/>
            <a:ext cx="12192000" cy="228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110" name="Google Shape;11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44975" y="2476877"/>
            <a:ext cx="2102047" cy="123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256" y="5877605"/>
            <a:ext cx="4130398" cy="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782187" y="1367519"/>
            <a:ext cx="30483" cy="565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976150" y="2885751"/>
            <a:ext cx="30483" cy="565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2209801" y="328976"/>
            <a:ext cx="6721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b="1">
                <a:solidFill>
                  <a:srgbClr val="FF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3385127" y="63602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, company name&#10;&#10;Description automatically generated" id="119" name="Google Shape;11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684" y="365125"/>
            <a:ext cx="1851025" cy="1085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5982501" y="1364002"/>
            <a:ext cx="58278" cy="10813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095648" y="-4527556"/>
            <a:ext cx="65358" cy="12127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ogo with a head and lines&#10;&#10;Description automatically generated with medium confidence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576" y="86881"/>
            <a:ext cx="1366447" cy="139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1" name="Google Shape;141;p1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7" name="Google Shape;157;p2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제목 슬라이드">
  <p:cSld name="9_제목 슬라이드">
    <p:bg>
      <p:bgPr>
        <a:solidFill>
          <a:srgbClr val="920815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2204720" y="0"/>
            <a:ext cx="9763674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rgbClr val="C70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826365" y="0"/>
            <a:ext cx="9365635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183" name="Google Shape;183;p26"/>
          <p:cNvPicPr preferRelativeResize="0"/>
          <p:nvPr/>
        </p:nvPicPr>
        <p:blipFill rotWithShape="1">
          <a:blip r:embed="rId2">
            <a:alphaModFix amt="5000"/>
          </a:blip>
          <a:srcRect b="0" l="0" r="0" t="0"/>
          <a:stretch/>
        </p:blipFill>
        <p:spPr>
          <a:xfrm>
            <a:off x="2360757" y="794085"/>
            <a:ext cx="5433589" cy="318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840" y="5457398"/>
            <a:ext cx="5433589" cy="1213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8e7f2f61_23_0)">
  <p:cSld name="Generated (g3f68e7f2f61_23_0)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7632" y="4443984"/>
            <a:ext cx="9144000" cy="640080"/>
          </a:xfrm>
        </p:spPr>
        <p:txBody>
          <a:bodyPr/>
          <a:lstStyle/>
          <a:p>
            <a:pPr algn="ctr"/>
            <a:r>
              <a:rPr sz="3600" b="1">
                <a:solidFill>
                  <a:srgbClr val="E31837"/>
                </a:solidFill>
                <a:latin typeface="Calibri"/>
              </a:rPr>
              <a:t>Weekly Report – Topic 11: Expert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7632" y="5138928"/>
            <a:ext cx="9144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>
                <a:solidFill>
                  <a:srgbClr val="1E1E1E"/>
                </a:solidFill>
                <a:latin typeface="Calibri"/>
              </a:rPr>
              <a:t>11/10/2026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" y="6053328"/>
            <a:ext cx="40233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Ronak Singh (BS-MS 4th Year)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IMS23319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School of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Topic 11: expert labels on our hybrid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257800" cy="37947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1719072"/>
            <a:ext cx="4892040" cy="3611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E31837"/>
                </a:solidFill>
                <a:latin typeface="Calibri"/>
              </a:rPr>
              <a:t>What we did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The problem: </a:t>
            </a:r>
            <a:r>
              <a:rPr sz="1600" b="0">
                <a:solidFill>
                  <a:srgbClr val="1E1E1E"/>
                </a:solidFill>
                <a:latin typeface="Calibri"/>
              </a:rPr>
              <a:t>our hybrid learned from AOFlagger's labels, which agree with the expert only at F1 0.570.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Expert labels exist for only 109 images</a:t>
            </a:r>
            <a:r>
              <a:rPr sz="1600" b="0">
                <a:solidFill>
                  <a:srgbClr val="1E1E1E"/>
                </a:solidFill>
                <a:latin typeface="Calibri"/>
              </a:rPr>
              <a:t> — the test images.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So we split the 109 into 5 parts. </a:t>
            </a:r>
            <a:r>
              <a:rPr sz="1600" b="0">
                <a:solidFill>
                  <a:srgbClr val="1E1E1E"/>
                </a:solidFill>
                <a:latin typeface="Calibri"/>
              </a:rPr>
              <a:t>Each part is tested by a model that learned from the other parts' expert labels (68–69 images; 19 more kept for checking).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Same hybrid, no changes: </a:t>
            </a:r>
            <a:r>
              <a:rPr sz="1600" b="0">
                <a:solidFill>
                  <a:srgbClr val="1E1E1E"/>
                </a:solidFill>
                <a:latin typeface="Calibri"/>
              </a:rPr>
              <a:t>only a short extra training (600 steps).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263640" y="1891309"/>
            <a:ext cx="5257800" cy="3558514"/>
            <a:chOff x="6263640" y="1891309"/>
            <a:chExt cx="5257800" cy="3558514"/>
          </a:xfrm>
        </p:grpSpPr>
        <p:cxnSp>
          <p:nvCxnSpPr>
            <p:cNvPr id="6" name="Connector 5"/>
            <p:cNvCxnSpPr/>
            <p:nvPr/>
          </p:nvCxnSpPr>
          <p:spPr>
            <a:xfrm>
              <a:off x="6263640" y="4828031"/>
              <a:ext cx="5257800" cy="0"/>
            </a:xfrm>
            <a:prstGeom prst="line">
              <a:avLst/>
            </a:prstGeom>
            <a:ln w="15875">
              <a:solidFill>
                <a:srgbClr val="5A61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6631686" y="2308263"/>
              <a:ext cx="1016507" cy="2519768"/>
            </a:xfrm>
            <a:prstGeom prst="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8" name="Connector 7"/>
            <p:cNvCxnSpPr/>
            <p:nvPr/>
          </p:nvCxnSpPr>
          <p:spPr>
            <a:xfrm>
              <a:off x="7139939" y="2292999"/>
              <a:ext cx="0" cy="30529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7066787" y="2292999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7066787" y="2323528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263640" y="1963815"/>
              <a:ext cx="1752600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0.660 ± 0.004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63640" y="4882895"/>
              <a:ext cx="1752600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>
                  <a:solidFill>
                    <a:srgbClr val="1E1E1E"/>
                  </a:solidFill>
                  <a:latin typeface="Calibri"/>
                </a:rPr>
                <a:t>No extra</a:t>
              </a:r>
            </a:p>
            <a:p>
              <a:pPr algn="ctr">
                <a:spcAft>
                  <a:spcPts val="0"/>
                </a:spcAft>
              </a:pPr>
              <a:r>
                <a:rPr sz="1300" b="0">
                  <a:solidFill>
                    <a:srgbClr val="1E1E1E"/>
                  </a:solidFill>
                  <a:latin typeface="Calibri"/>
                </a:rPr>
                <a:t>training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84285" y="2253312"/>
              <a:ext cx="1016507" cy="2574719"/>
            </a:xfrm>
            <a:prstGeom prst="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4" name="Connector 13"/>
            <p:cNvCxnSpPr/>
            <p:nvPr/>
          </p:nvCxnSpPr>
          <p:spPr>
            <a:xfrm>
              <a:off x="8892540" y="2221638"/>
              <a:ext cx="0" cy="63347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819388" y="2221638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819388" y="2284985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8016239" y="1892454"/>
              <a:ext cx="1752600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E31837"/>
                  </a:solidFill>
                  <a:latin typeface="Calibri"/>
                </a:rPr>
                <a:t>0.675 ± 0.008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16239" y="4882895"/>
              <a:ext cx="1752600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>
                  <a:solidFill>
                    <a:srgbClr val="1E1E1E"/>
                  </a:solidFill>
                  <a:latin typeface="Calibri"/>
                </a:rPr>
                <a:t>+ expert labels</a:t>
              </a:r>
            </a:p>
            <a:p>
              <a:pPr algn="ctr">
                <a:spcAft>
                  <a:spcPts val="0"/>
                </a:spcAft>
              </a:pPr>
              <a:r>
                <a:rPr sz="1300" b="0">
                  <a:solidFill>
                    <a:srgbClr val="1E1E1E"/>
                  </a:solidFill>
                  <a:latin typeface="Calibri"/>
                </a:rPr>
                <a:t>(600 steps)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136885" y="2280406"/>
              <a:ext cx="1016507" cy="2547625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20" name="Connector 19"/>
            <p:cNvCxnSpPr/>
            <p:nvPr/>
          </p:nvCxnSpPr>
          <p:spPr>
            <a:xfrm>
              <a:off x="10645140" y="2220493"/>
              <a:ext cx="0" cy="119826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571988" y="2220493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0571988" y="2340319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9768839" y="1891309"/>
              <a:ext cx="1752600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0.668 ± 0.016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768839" y="4882895"/>
              <a:ext cx="1752600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0">
                  <a:solidFill>
                    <a:srgbClr val="1E1E1E"/>
                  </a:solidFill>
                  <a:latin typeface="Calibri"/>
                </a:rPr>
                <a:t>+ expert labels</a:t>
              </a:r>
            </a:p>
            <a:p>
              <a:pPr algn="ctr">
                <a:spcAft>
                  <a:spcPts val="0"/>
                </a:spcAft>
              </a:pPr>
              <a:r>
                <a:rPr sz="1300" b="0">
                  <a:solidFill>
                    <a:srgbClr val="1E1E1E"/>
                  </a:solidFill>
                  <a:latin typeface="Calibri"/>
                </a:rPr>
                <a:t>(trained longer)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40080" y="5504688"/>
            <a:ext cx="108813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31837"/>
                </a:solidFill>
                <a:latin typeface="Calibri"/>
              </a:rPr>
              <a:t>+0.014 F1 (higher for all 3 seeds, p = 0.03): 0.660 → 0.675 on all 109 images. </a:t>
            </a:r>
            <a:r>
              <a:rPr sz="1300" b="1">
                <a:solidFill>
                  <a:srgbClr val="0F2043"/>
                </a:solidFill>
                <a:latin typeface="Calibri"/>
              </a:rPr>
              <a:t>Level with RFDL's best result with expert labels (0.675), not above it.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A6170"/>
                </a:solidFill>
                <a:latin typeface="Calibri"/>
              </a:rPr>
              <a:t>max F1, mean ± spread of 3 runs. Results with expert labels must be compared with other expert-label results (RFDL: 0.669 / 0.675), not with the 0.660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Which patches should the expert label?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91640"/>
          <a:ext cx="64465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051560"/>
                <a:gridCol w="1051560"/>
                <a:gridCol w="10515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Patches labelled (600 steps)</a:t>
                      </a:r>
                    </a:p>
                  </a:txBody>
                  <a:tcPr marL="73152" marR="73152" anchor="ctr">
                    <a:solidFill>
                      <a:srgbClr val="0F2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73152" marR="73152" anchor="ctr">
                    <a:solidFill>
                      <a:srgbClr val="0F2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73152" marR="73152" anchor="ctr">
                    <a:solidFill>
                      <a:srgbClr val="0F2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anchor="ctr">
                    <a:solidFill>
                      <a:srgbClr val="0F20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2043"/>
                          </a:solidFill>
                          <a:latin typeface="Calibri"/>
                        </a:rPr>
                        <a:t>Where the model is most uncertain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0.6527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0.6551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0.6604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2043"/>
                          </a:solidFill>
                          <a:latin typeface="Calibri"/>
                        </a:rPr>
                        <a:t>Where the model sees most RFI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0.6572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0.6514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0.6630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2043"/>
                          </a:solidFill>
                          <a:latin typeface="Calibri"/>
                        </a:rPr>
                        <a:t>At random</a:t>
                      </a:r>
                    </a:p>
                  </a:txBody>
                  <a:tcPr marL="73152" marR="73152" anchor="ctr">
                    <a:solidFill>
                      <a:srgbClr val="FBE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0.6667</a:t>
                      </a:r>
                    </a:p>
                  </a:txBody>
                  <a:tcPr marL="73152" marR="73152" anchor="ctr">
                    <a:solidFill>
                      <a:srgbClr val="FBE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0.6664</a:t>
                      </a:r>
                    </a:p>
                  </a:txBody>
                  <a:tcPr marL="73152" marR="73152" anchor="ctr">
                    <a:solidFill>
                      <a:srgbClr val="FBE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0.6685</a:t>
                      </a:r>
                    </a:p>
                  </a:txBody>
                  <a:tcPr marL="73152" marR="73152" anchor="ctr">
                    <a:solidFill>
                      <a:srgbClr val="FBE3E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2043"/>
                          </a:solidFill>
                          <a:latin typeface="Calibri"/>
                        </a:rPr>
                        <a:t>Whole images at random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0.6654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0.6568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1E1E"/>
                          </a:solidFill>
                          <a:latin typeface="Calibri"/>
                        </a:rPr>
                        <a:t>0.6629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160520"/>
            <a:ext cx="64465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170"/>
                </a:solidFill>
                <a:latin typeface="Calibri"/>
              </a:rPr>
              <a:t>max F1 on all 109 images, mean of 3 runs. No extra training: 0.660 · all expert labels: 0.675.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170"/>
                </a:solidFill>
                <a:latin typeface="Calibri"/>
              </a:rPr>
              <a:t>Share of the label pool: 5% ≈ 3 images, 20% ≈ 14 images.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600200"/>
            <a:ext cx="4160520" cy="36118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43800" y="1719072"/>
            <a:ext cx="3794760" cy="3474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E31837"/>
                </a:solidFill>
                <a:latin typeface="Calibri"/>
              </a:rPr>
              <a:t>The "smart" choices lose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Uncertain and most-RFI patches did worse than random ones in </a:t>
            </a:r>
            <a:r>
              <a:rPr sz="1600" b="1">
                <a:solidFill>
                  <a:srgbClr val="1E1E1E"/>
                </a:solidFill>
                <a:latin typeface="Calibri"/>
              </a:rPr>
              <a:t>17 of 18</a:t>
            </a:r>
            <a:r>
              <a:rPr sz="1600" b="0">
                <a:solidFill>
                  <a:srgbClr val="1E1E1E"/>
                </a:solidFill>
                <a:latin typeface="Calibri"/>
              </a:rPr>
              <a:t> tests.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Why: </a:t>
            </a:r>
            <a:r>
              <a:rPr sz="1600" b="0">
                <a:solidFill>
                  <a:srgbClr val="1E1E1E"/>
                </a:solidFill>
                <a:latin typeface="Calibri"/>
              </a:rPr>
              <a:t>they are full of RFI — 3.2–7.4% of their pixels, against 0.76% overall. The model learns "RFI is common" and flags too much.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E31837"/>
                </a:solidFill>
                <a:latin typeface="Calibri"/>
              </a:rPr>
              <a:t>Train longer?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No: worse in </a:t>
            </a:r>
            <a:r>
              <a:rPr sz="1600" b="1">
                <a:solidFill>
                  <a:srgbClr val="1E1E1E"/>
                </a:solidFill>
                <a:latin typeface="Calibri"/>
              </a:rPr>
              <a:t>12 of 13</a:t>
            </a:r>
            <a:r>
              <a:rPr sz="1600" b="0">
                <a:solidFill>
                  <a:srgbClr val="1E1E1E"/>
                </a:solidFill>
                <a:latin typeface="Calibri"/>
              </a:rPr>
              <a:t> settings. 19 checking images reward lucky checkpoints.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043"/>
                </a:solidFill>
                <a:latin typeface="Calibri"/>
              </a:rPr>
              <a:t>Rule of thumb: </a:t>
            </a:r>
            <a:r>
              <a:rPr sz="1600" b="0">
                <a:solidFill>
                  <a:srgbClr val="1E1E1E"/>
                </a:solidFill>
                <a:latin typeface="Calibri"/>
              </a:rPr>
              <a:t>train about 600 steps; if the expert's time is short, label random patches.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To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91640"/>
            <a:ext cx="10058400" cy="4389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1">
                <a:solidFill>
                  <a:srgbClr val="1E1E1E"/>
                </a:solidFill>
                <a:latin typeface="Calibri"/>
              </a:rPr>
              <a:t>•  Dice-off run (3 seeds, ~2 h): </a:t>
            </a:r>
            <a:r>
              <a:rPr sz="1900" b="0">
                <a:solidFill>
                  <a:srgbClr val="1E1E1E"/>
                </a:solidFill>
                <a:latin typeface="Calibri"/>
              </a:rPr>
              <a:t>is the Dice loss what puts our hybrid ahead of tf_unet?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1E1E1E"/>
                </a:solidFill>
                <a:latin typeface="Calibri"/>
              </a:rPr>
              <a:t>•  A possible fix for patch choice: </a:t>
            </a:r>
            <a:r>
              <a:rPr sz="1900" b="0">
                <a:solidFill>
                  <a:srgbClr val="1E1E1E"/>
                </a:solidFill>
                <a:latin typeface="Calibri"/>
              </a:rPr>
              <a:t>keep AOFlagger's labels outside the chosen patches, so the model still sees normal background (not tested yet).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1E1E1E"/>
                </a:solidFill>
                <a:latin typeface="Calibri"/>
              </a:rPr>
              <a:t>•  Report: </a:t>
            </a:r>
            <a:r>
              <a:rPr sz="1900" b="0">
                <a:solidFill>
                  <a:srgbClr val="1E1E1E"/>
                </a:solidFill>
                <a:latin typeface="Calibri"/>
              </a:rPr>
              <a:t>new section 5.6 with these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