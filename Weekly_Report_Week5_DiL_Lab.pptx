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63" r:id="rId4"/>
    <p:sldMasterId id="2147483665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3.xml"/><Relationship Id="rId5" Type="http://schemas.openxmlformats.org/officeDocument/2006/relationships/slideMaster" Target="slideMasters/slideMaster1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179800" y="365040"/>
            <a:ext cx="68346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A739E9F-930F-48F0-9E9E-E1C00AD3DC5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8825CA-C16A-47D3-9768-6FE1CCE39A2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제목 슬라이드">
    <p:bg>
      <p:bgPr>
        <a:solidFill>
          <a:srgbClr val="920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93;p13"/>
          <p:cNvSpPr/>
          <p:nvPr/>
        </p:nvSpPr>
        <p:spPr>
          <a:xfrm>
            <a:off x="2204640" y="0"/>
            <a:ext cx="9774360" cy="6857640"/>
          </a:xfrm>
          <a:custGeom>
            <a:avLst/>
            <a:gdLst>
              <a:gd name="textAreaLeft" fmla="*/ 0 w 9774360"/>
              <a:gd name="textAreaRight" fmla="*/ 9774720 w 97743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9365635" h="6858000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rgbClr val="C70B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4;p13"/>
          <p:cNvSpPr/>
          <p:nvPr/>
        </p:nvSpPr>
        <p:spPr>
          <a:xfrm>
            <a:off x="2826360" y="0"/>
            <a:ext cx="9365400" cy="6857640"/>
          </a:xfrm>
          <a:custGeom>
            <a:avLst/>
            <a:gdLst>
              <a:gd name="textAreaLeft" fmla="*/ 0 w 9365400"/>
              <a:gd name="textAreaRight" fmla="*/ 9365760 w 936540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9365635" h="6858000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Google Shape;95;p13" descr="Logo, company name&#10;&#10;Description automatically generated"/>
          <p:cNvPicPr/>
          <p:nvPr/>
        </p:nvPicPr>
        <p:blipFill>
          <a:blip r:embed="rId2">
            <a:alphaModFix amt="5000"/>
          </a:blip>
          <a:stretch/>
        </p:blipFill>
        <p:spPr>
          <a:xfrm>
            <a:off x="2360880" y="794160"/>
            <a:ext cx="5433120" cy="318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Google Shape;96;p13"/>
          <p:cNvPicPr/>
          <p:nvPr/>
        </p:nvPicPr>
        <p:blipFill>
          <a:blip r:embed="rId3"/>
          <a:stretch/>
        </p:blipFill>
        <p:spPr>
          <a:xfrm>
            <a:off x="6648840" y="5457240"/>
            <a:ext cx="5433120" cy="1212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tl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0"/>
          </p:nvPr>
        </p:nvSpPr>
        <p:spPr>
          <a:xfrm>
            <a:off x="3385080" y="6360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87EA143-6A06-4631-9B3B-AD33E7AFB59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" name="Google Shape;31;p3" descr="Logo, company name&#10;&#10;Description automatically generated"/>
          <p:cNvPicPr/>
          <p:nvPr/>
        </p:nvPicPr>
        <p:blipFill>
          <a:blip r:embed="rId2"/>
          <a:stretch/>
        </p:blipFill>
        <p:spPr>
          <a:xfrm>
            <a:off x="208800" y="365040"/>
            <a:ext cx="1850760" cy="10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32;p3"/>
          <p:cNvPicPr/>
          <p:nvPr/>
        </p:nvPicPr>
        <p:blipFill>
          <a:blip r:embed="rId3"/>
          <a:stretch/>
        </p:blipFill>
        <p:spPr>
          <a:xfrm flipH="1" rot="5400000">
            <a:off x="5982840" y="1364040"/>
            <a:ext cx="57960" cy="1081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33;p3"/>
          <p:cNvPicPr/>
          <p:nvPr/>
        </p:nvPicPr>
        <p:blipFill>
          <a:blip r:embed="rId4"/>
          <a:stretch/>
        </p:blipFill>
        <p:spPr>
          <a:xfrm rot="5400000">
            <a:off x="6095880" y="-4527360"/>
            <a:ext cx="65160" cy="1212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34;p3" descr="A blue logo with a head and lines&#10;&#10;Description automatically generated with medium confidence"/>
          <p:cNvPicPr/>
          <p:nvPr/>
        </p:nvPicPr>
        <p:blipFill>
          <a:blip r:embed="rId5"/>
          <a:stretch/>
        </p:blipFill>
        <p:spPr>
          <a:xfrm>
            <a:off x="10670400" y="86760"/>
            <a:ext cx="1366200" cy="13899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tl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8"/>
          </p:nvPr>
        </p:nvSpPr>
        <p:spPr>
          <a:xfrm>
            <a:off x="3385080" y="6360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0EA3D6-E991-416D-B5B0-A0487C47CCF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" name="Google Shape;31;p3" descr="Logo, company name&#10;&#10;Description automatically generated"/>
          <p:cNvPicPr/>
          <p:nvPr/>
        </p:nvPicPr>
        <p:blipFill>
          <a:blip r:embed="rId2"/>
          <a:stretch/>
        </p:blipFill>
        <p:spPr>
          <a:xfrm>
            <a:off x="208800" y="365040"/>
            <a:ext cx="1850760" cy="10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32;p3"/>
          <p:cNvPicPr/>
          <p:nvPr/>
        </p:nvPicPr>
        <p:blipFill>
          <a:blip r:embed="rId3"/>
          <a:stretch/>
        </p:blipFill>
        <p:spPr>
          <a:xfrm flipH="1" rot="5400000">
            <a:off x="5982840" y="1364040"/>
            <a:ext cx="57960" cy="1081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oogle Shape;33;p3"/>
          <p:cNvPicPr/>
          <p:nvPr/>
        </p:nvPicPr>
        <p:blipFill>
          <a:blip r:embed="rId4"/>
          <a:stretch/>
        </p:blipFill>
        <p:spPr>
          <a:xfrm rot="5400000">
            <a:off x="6095880" y="-4527360"/>
            <a:ext cx="65160" cy="1212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34;p3" descr="A blue logo with a head and lines&#10;&#10;Description automatically generated with medium confidence"/>
          <p:cNvPicPr/>
          <p:nvPr/>
        </p:nvPicPr>
        <p:blipFill>
          <a:blip r:embed="rId5"/>
          <a:stretch/>
        </p:blipFill>
        <p:spPr>
          <a:xfrm>
            <a:off x="10670400" y="86760"/>
            <a:ext cx="1366200" cy="13899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GB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1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AC87A70-3FB4-42F0-A91C-B5DFDD0B920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179800" y="365040"/>
            <a:ext cx="68346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1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117CFE-B242-4F25-921C-5D93E5D9589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dt" idx="1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7"/>
          <p:cNvSpPr>
            <a:spLocks noGrp="1"/>
          </p:cNvSpPr>
          <p:nvPr>
            <p:ph type="ftr" idx="1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8"/>
          <p:cNvSpPr>
            <a:spLocks noGrp="1"/>
          </p:cNvSpPr>
          <p:nvPr>
            <p:ph type="sldNum" idx="1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4B1E2D-1A0B-4A2D-A1BD-C572832C44F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179800" y="365040"/>
            <a:ext cx="68346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tl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2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2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C406B5D-7819-45ED-A6FC-E1A943B6019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dt" idx="2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23F51F-8E68-4F0C-97BF-243583920BD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2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2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38969DE-E469-403E-B218-0A0B38130E4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F19771-8B3C-4E1A-AF37-E4573D4EA36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2179800" y="365040"/>
            <a:ext cx="6834600" cy="132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3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ftr" idx="3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3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55DE88-4A58-47D2-9697-87A99953CCE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3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ftr" idx="3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sldNum" idx="3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F39E4B-8BDA-452F-B290-0C6CDF8323A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920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81;p26"/>
          <p:cNvSpPr/>
          <p:nvPr/>
        </p:nvSpPr>
        <p:spPr>
          <a:xfrm>
            <a:off x="2204640" y="0"/>
            <a:ext cx="9763200" cy="6857640"/>
          </a:xfrm>
          <a:custGeom>
            <a:avLst/>
            <a:gdLst>
              <a:gd name="textAreaLeft" fmla="*/ 0 w 9763200"/>
              <a:gd name="textAreaRight" fmla="*/ 9763560 w 976320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9365635" h="6858000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rgbClr val="C70B1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82;p26"/>
          <p:cNvSpPr/>
          <p:nvPr/>
        </p:nvSpPr>
        <p:spPr>
          <a:xfrm>
            <a:off x="2826360" y="0"/>
            <a:ext cx="9365400" cy="6857640"/>
          </a:xfrm>
          <a:custGeom>
            <a:avLst/>
            <a:gdLst>
              <a:gd name="textAreaLeft" fmla="*/ 0 w 9365400"/>
              <a:gd name="textAreaRight" fmla="*/ 9365760 w 936540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9365635" h="6858000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183;p26" descr="Logo, company name&#10;&#10;Description automatically generated"/>
          <p:cNvPicPr/>
          <p:nvPr/>
        </p:nvPicPr>
        <p:blipFill>
          <a:blip r:embed="rId2">
            <a:alphaModFix amt="5000"/>
          </a:blip>
          <a:stretch/>
        </p:blipFill>
        <p:spPr>
          <a:xfrm>
            <a:off x="2360880" y="794160"/>
            <a:ext cx="5433120" cy="318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184;p26"/>
          <p:cNvPicPr/>
          <p:nvPr/>
        </p:nvPicPr>
        <p:blipFill>
          <a:blip r:embed="rId3"/>
          <a:stretch/>
        </p:blipFill>
        <p:spPr>
          <a:xfrm>
            <a:off x="6648840" y="5457240"/>
            <a:ext cx="5433120" cy="1212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enerated (g3f68e7f2f61_23_0)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tl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3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sldNum" idx="39"/>
          </p:nvPr>
        </p:nvSpPr>
        <p:spPr>
          <a:xfrm>
            <a:off x="3385080" y="63601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60D28CC-63D7-4BD9-BF39-499C410BF37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9" name="Google Shape;119;p16" descr="Logo, company name&#10;&#10;Description automatically generated"/>
          <p:cNvPicPr/>
          <p:nvPr/>
        </p:nvPicPr>
        <p:blipFill>
          <a:blip r:embed="rId2"/>
          <a:stretch/>
        </p:blipFill>
        <p:spPr>
          <a:xfrm>
            <a:off x="208800" y="365040"/>
            <a:ext cx="1850760" cy="10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120;p16"/>
          <p:cNvPicPr/>
          <p:nvPr/>
        </p:nvPicPr>
        <p:blipFill>
          <a:blip r:embed="rId3"/>
          <a:stretch/>
        </p:blipFill>
        <p:spPr>
          <a:xfrm flipH="1" rot="5400000">
            <a:off x="5982840" y="1364040"/>
            <a:ext cx="57960" cy="1081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121;p16"/>
          <p:cNvPicPr/>
          <p:nvPr/>
        </p:nvPicPr>
        <p:blipFill>
          <a:blip r:embed="rId4"/>
          <a:stretch/>
        </p:blipFill>
        <p:spPr>
          <a:xfrm rot="5400000">
            <a:off x="6095880" y="-4527360"/>
            <a:ext cx="65160" cy="1212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122;p16" descr="A blue logo with a head and lines&#10;&#10;Description automatically generated with medium confidence"/>
          <p:cNvPicPr/>
          <p:nvPr/>
        </p:nvPicPr>
        <p:blipFill>
          <a:blip r:embed="rId5"/>
          <a:stretch/>
        </p:blipFill>
        <p:spPr>
          <a:xfrm>
            <a:off x="10670400" y="86760"/>
            <a:ext cx="1366200" cy="13899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lang="en-GB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50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96DC868-1553-4D21-B02B-1D147578FCB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2179800" y="365040"/>
            <a:ext cx="6834600" cy="132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1CF14F5-0E93-4153-8172-54ED326E38D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72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7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7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8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9A878B-3E0C-49BF-922B-E4F4E0D06AC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179800" y="365040"/>
            <a:ext cx="6834600" cy="132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CE6339-8647-4E5B-A0C7-E09FBE64E69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A31780D-D6BB-48E1-A400-F1207AA7AB0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6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AD01F6-C6C3-45D0-ABCD-1A9526349EB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B3126A-A3A8-49A9-A409-89B99CD5CF5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GB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17;p2"/>
          <p:cNvSpPr/>
          <p:nvPr/>
        </p:nvSpPr>
        <p:spPr>
          <a:xfrm>
            <a:off x="0" y="0"/>
            <a:ext cx="12191760" cy="4606200"/>
          </a:xfrm>
          <a:prstGeom prst="rect">
            <a:avLst/>
          </a:prstGeom>
          <a:solidFill>
            <a:srgbClr val="92081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Google Shape;18;p2"/>
          <p:cNvGrpSpPr/>
          <p:nvPr/>
        </p:nvGrpSpPr>
        <p:grpSpPr>
          <a:xfrm>
            <a:off x="4539600" y="1893240"/>
            <a:ext cx="3112920" cy="3112920"/>
            <a:chOff x="4539600" y="1893240"/>
            <a:chExt cx="3112920" cy="3112920"/>
          </a:xfrm>
        </p:grpSpPr>
        <p:sp>
          <p:nvSpPr>
            <p:cNvPr id="5" name="Google Shape;19;p2"/>
            <p:cNvSpPr/>
            <p:nvPr/>
          </p:nvSpPr>
          <p:spPr>
            <a:xfrm>
              <a:off x="4539600" y="1893240"/>
              <a:ext cx="3112920" cy="3112920"/>
            </a:xfrm>
            <a:prstGeom prst="ellipse">
              <a:avLst/>
            </a:prstGeom>
            <a:solidFill>
              <a:srgbClr val="DA22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Google Shape;20;p2"/>
            <p:cNvSpPr/>
            <p:nvPr/>
          </p:nvSpPr>
          <p:spPr>
            <a:xfrm>
              <a:off x="4648320" y="2001960"/>
              <a:ext cx="2895120" cy="289512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" name="Google Shape;21;p2"/>
          <p:cNvSpPr/>
          <p:nvPr/>
        </p:nvSpPr>
        <p:spPr>
          <a:xfrm>
            <a:off x="0" y="3912840"/>
            <a:ext cx="12191760" cy="228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Google Shape;22;p2" descr="Logo, company name&#10;&#10;Description automatically generated"/>
          <p:cNvPicPr/>
          <p:nvPr/>
        </p:nvPicPr>
        <p:blipFill>
          <a:blip r:embed="rId2"/>
          <a:stretch/>
        </p:blipFill>
        <p:spPr>
          <a:xfrm>
            <a:off x="5045040" y="2476800"/>
            <a:ext cx="2101680" cy="123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Google Shape;23;p2"/>
          <p:cNvPicPr/>
          <p:nvPr/>
        </p:nvPicPr>
        <p:blipFill>
          <a:blip r:embed="rId3"/>
          <a:stretch/>
        </p:blipFill>
        <p:spPr>
          <a:xfrm>
            <a:off x="7956360" y="5877720"/>
            <a:ext cx="4129920" cy="92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oogle Shape;24;p2"/>
          <p:cNvPicPr/>
          <p:nvPr/>
        </p:nvPicPr>
        <p:blipFill>
          <a:blip r:embed="rId4"/>
          <a:stretch/>
        </p:blipFill>
        <p:spPr>
          <a:xfrm rot="5400000">
            <a:off x="5782320" y="1367280"/>
            <a:ext cx="30240" cy="565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oogle Shape;25;p2"/>
          <p:cNvPicPr/>
          <p:nvPr/>
        </p:nvPicPr>
        <p:blipFill>
          <a:blip r:embed="rId5"/>
          <a:stretch/>
        </p:blipFill>
        <p:spPr>
          <a:xfrm rot="5400000">
            <a:off x="5976360" y="2885400"/>
            <a:ext cx="30240" cy="565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GB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5;p15"/>
          <p:cNvSpPr/>
          <p:nvPr/>
        </p:nvSpPr>
        <p:spPr>
          <a:xfrm>
            <a:off x="0" y="0"/>
            <a:ext cx="12191760" cy="4606560"/>
          </a:xfrm>
          <a:prstGeom prst="rect">
            <a:avLst/>
          </a:prstGeom>
          <a:solidFill>
            <a:srgbClr val="92081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3" name="Google Shape;106;p15"/>
          <p:cNvGrpSpPr/>
          <p:nvPr/>
        </p:nvGrpSpPr>
        <p:grpSpPr>
          <a:xfrm>
            <a:off x="4539600" y="1893240"/>
            <a:ext cx="3112920" cy="3112920"/>
            <a:chOff x="4539600" y="1893240"/>
            <a:chExt cx="3112920" cy="3112920"/>
          </a:xfrm>
        </p:grpSpPr>
        <p:sp>
          <p:nvSpPr>
            <p:cNvPr id="84" name="Google Shape;107;p15"/>
            <p:cNvSpPr/>
            <p:nvPr/>
          </p:nvSpPr>
          <p:spPr>
            <a:xfrm>
              <a:off x="4539600" y="1893240"/>
              <a:ext cx="3112920" cy="3112920"/>
            </a:xfrm>
            <a:prstGeom prst="ellipse">
              <a:avLst/>
            </a:prstGeom>
            <a:solidFill>
              <a:srgbClr val="DA222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endParaRPr lang="en-GB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Google Shape;108;p15"/>
            <p:cNvSpPr/>
            <p:nvPr/>
          </p:nvSpPr>
          <p:spPr>
            <a:xfrm>
              <a:off x="4648320" y="2001960"/>
              <a:ext cx="2895120" cy="2895120"/>
            </a:xfrm>
            <a:prstGeom prst="ellipse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endPara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Google Shape;109;p15"/>
          <p:cNvSpPr/>
          <p:nvPr/>
        </p:nvSpPr>
        <p:spPr>
          <a:xfrm>
            <a:off x="0" y="3912840"/>
            <a:ext cx="12191760" cy="228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Google Shape;110;p15" descr="Logo, company name&#10;&#10;Description automatically generated"/>
          <p:cNvPicPr/>
          <p:nvPr/>
        </p:nvPicPr>
        <p:blipFill>
          <a:blip r:embed="rId2"/>
          <a:stretch/>
        </p:blipFill>
        <p:spPr>
          <a:xfrm>
            <a:off x="5045040" y="2476800"/>
            <a:ext cx="2101680" cy="123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oogle Shape;111;p15"/>
          <p:cNvPicPr/>
          <p:nvPr/>
        </p:nvPicPr>
        <p:blipFill>
          <a:blip r:embed="rId3"/>
          <a:stretch/>
        </p:blipFill>
        <p:spPr>
          <a:xfrm>
            <a:off x="7956360" y="5877720"/>
            <a:ext cx="4129920" cy="92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112;p15"/>
          <p:cNvPicPr/>
          <p:nvPr/>
        </p:nvPicPr>
        <p:blipFill>
          <a:blip r:embed="rId4"/>
          <a:stretch/>
        </p:blipFill>
        <p:spPr>
          <a:xfrm rot="5400000">
            <a:off x="5782320" y="1367280"/>
            <a:ext cx="30240" cy="565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13;p15"/>
          <p:cNvPicPr/>
          <p:nvPr/>
        </p:nvPicPr>
        <p:blipFill>
          <a:blip r:embed="rId5"/>
          <a:stretch/>
        </p:blipFill>
        <p:spPr>
          <a:xfrm rot="5400000">
            <a:off x="5976360" y="2885400"/>
            <a:ext cx="30240" cy="56559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6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620000" y="265284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lang="en-GB" sz="3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Weekly Report - Week 5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1527120" y="5139000"/>
            <a:ext cx="9143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GB" sz="21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10/09/2026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73080" y="605340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4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Ronak Singh (BS-MS 4th Year)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4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IMS23319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4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School of Physics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➢ Summary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2"/>
          <p:cNvSpPr/>
          <p:nvPr/>
        </p:nvSpPr>
        <p:spPr>
          <a:xfrm>
            <a:off x="640080" y="1774080"/>
            <a:ext cx="5074560" cy="4525920"/>
          </a:xfrm>
          <a:prstGeom prst="roundRect">
            <a:avLst>
              <a:gd name="adj" fmla="val 16667"/>
            </a:avLst>
          </a:prstGeom>
          <a:solidFill>
            <a:srgbClr val="F6F7F9"/>
          </a:solidFill>
          <a:ln w="12700">
            <a:solidFill>
              <a:srgbClr val="D9DD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tIns="164520" rIns="201240" bIns="45000" anchor="ctr">
            <a:noAutofit/>
          </a:bodyPr>
          <a:p>
            <a:pPr algn="ctr">
              <a:lnSpc>
                <a:spcPct val="100000"/>
              </a:lnSpc>
              <a:spcAft>
                <a:spcPts val="901"/>
              </a:spcAft>
            </a:pPr>
            <a:r>
              <a:rPr lang="en-GB" sz="19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Arial"/>
              </a:rPr>
              <a:t>This Week's Focus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Environment: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moved the whole project from Windows + WSL2 to a Fedora 44 dual boot.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Baseline: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diagnosed why the authors' tf_unet scored only F1 0.39 on our synthetic dataset, and fixed it.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Datasets: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audited HERA and the full LOFAR dataset (9.3 GB, real telescope data).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Real data: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ran the authors' tf_unet on 109 human-expert-labelled LOFAR baselines.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3"/>
          <p:cNvSpPr/>
          <p:nvPr/>
        </p:nvSpPr>
        <p:spPr>
          <a:xfrm>
            <a:off x="6079680" y="1800000"/>
            <a:ext cx="5440320" cy="4525920"/>
          </a:xfrm>
          <a:prstGeom prst="roundRect">
            <a:avLst>
              <a:gd name="adj" fmla="val 16667"/>
            </a:avLst>
          </a:prstGeom>
          <a:solidFill>
            <a:srgbClr val="F6F7F9"/>
          </a:solidFill>
          <a:ln w="12700">
            <a:solidFill>
              <a:srgbClr val="D9DD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tIns="164520" rIns="201240" bIns="45000" anchor="ctr">
            <a:noAutofit/>
          </a:bodyPr>
          <a:p>
            <a:pPr algn="ctr">
              <a:lnSpc>
                <a:spcPct val="100000"/>
              </a:lnSpc>
              <a:spcAft>
                <a:spcPts val="901"/>
              </a:spcAft>
            </a:pPr>
            <a:r>
              <a:rPr lang="en-GB" sz="19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Arial"/>
              </a:rPr>
              <a:t>Headline Results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GB" sz="1550" b="1" u="none" strike="noStrike">
                <a:solidFill>
                  <a:srgbClr val="0F2043"/>
                </a:solidFill>
                <a:effectLst/>
                <a:uFillTx/>
                <a:latin typeface="Calibri"/>
                <a:ea typeface="Arial"/>
              </a:rPr>
              <a:t>Authors' tf_unet, unmodified code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Synthetic: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F1 0.3879 → 0.9317 by changing only normalisation and class weights.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Cause: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class weighting 66% of the gap, normalisation 34%, epoch count ~0%.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Real LOFAR: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F1 0.5482 ± 0.0139 — essentially reproduces the published U-Net (0.5876).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Key number: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the same code drops −0.383 F1 going from our synthetic data to real data.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777240" y="1572840"/>
            <a:ext cx="10606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9" name="Table 3"/>
          <p:cNvGraphicFramePr/>
          <p:nvPr/>
        </p:nvGraphicFramePr>
        <p:xfrm>
          <a:off x="822960" y="3017520"/>
          <a:ext cx="10515240" cy="1919880"/>
        </p:xfrm>
        <a:graphic>
          <a:graphicData uri="http://schemas.openxmlformats.org/drawingml/2006/table">
            <a:tbl>
              <a:tblPr/>
              <a:tblGrid>
                <a:gridCol w="402120"/>
                <a:gridCol w="1494000"/>
                <a:gridCol w="1378800"/>
                <a:gridCol w="1149120"/>
                <a:gridCol w="1149120"/>
                <a:gridCol w="1149120"/>
                <a:gridCol w="3792240"/>
              </a:tblGrid>
              <a:tr h="38376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#</a:t>
                      </a:r>
                      <a:endParaRPr lang="en-GB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Normalisation</a:t>
                      </a:r>
                      <a:endParaRPr lang="en-GB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Class weights</a:t>
                      </a:r>
                      <a:endParaRPr lang="en-GB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Epochs</a:t>
                      </a:r>
                      <a:endParaRPr lang="en-GB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ROC AUC</a:t>
                      </a:r>
                      <a:endParaRPr lang="en-GB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max F1</a:t>
                      </a:r>
                      <a:endParaRPr lang="en-GB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Behaviour</a:t>
                      </a:r>
                      <a:endParaRPr lang="en-GB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</a:tr>
              <a:tr h="38376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per-image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ON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22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0.6681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0.3879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froze at 81.1% error for 15 epochs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per-image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ON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died at 5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0.5677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0.3064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collapsed — constant 0.537 everywhere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8376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per-image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OFF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60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0.8747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0.7191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trained normally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fixed range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OFF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60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0.9908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0.9317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trained well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60" name="TextBox 4"/>
          <p:cNvSpPr/>
          <p:nvPr/>
        </p:nvSpPr>
        <p:spPr>
          <a:xfrm>
            <a:off x="822960" y="57150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4" descr="chart_synth.png"/>
          <p:cNvPicPr/>
          <p:nvPr/>
        </p:nvPicPr>
        <p:blipFill>
          <a:blip r:embed="rId1"/>
          <a:stretch/>
        </p:blipFill>
        <p:spPr>
          <a:xfrm>
            <a:off x="2340000" y="1700280"/>
            <a:ext cx="7589160" cy="459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➢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at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ct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al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ly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it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3" descr="chart_decomp.png"/>
          <p:cNvPicPr/>
          <p:nvPr/>
        </p:nvPicPr>
        <p:blipFill>
          <a:blip r:embed="rId1"/>
          <a:stretch/>
        </p:blipFill>
        <p:spPr>
          <a:xfrm>
            <a:off x="2148840" y="1572840"/>
            <a:ext cx="7406280" cy="315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Box 6"/>
          <p:cNvSpPr/>
          <p:nvPr/>
        </p:nvSpPr>
        <p:spPr>
          <a:xfrm>
            <a:off x="822960" y="4864680"/>
            <a:ext cx="106066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Cla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ss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wei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ght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ing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wa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the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pri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ma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ry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cau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se,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not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the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arc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hit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ect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ure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.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➢ The second cause: per-image normalisation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9"/>
          <p:cNvSpPr/>
          <p:nvPr/>
        </p:nvSpPr>
        <p:spPr>
          <a:xfrm>
            <a:off x="733320" y="3161160"/>
            <a:ext cx="1060668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●"/>
            </a:pP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y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x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.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u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-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x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u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7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—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8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.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—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y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v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u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k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.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0"/>
          <p:cNvSpPr/>
          <p:nvPr/>
        </p:nvSpPr>
        <p:spPr>
          <a:xfrm>
            <a:off x="777240" y="4251960"/>
            <a:ext cx="106066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he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aut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hor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avo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ide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s.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eir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ow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lau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nc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her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pas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ses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a_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n=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30,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a_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ma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x=2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10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—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fixe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ph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ysi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cal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ran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ge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for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eve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ry 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im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age</a:t>
            </a: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.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➢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R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at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et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—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re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al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te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le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sc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at</a:t>
            </a: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a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1180800" y="2520000"/>
            <a:ext cx="9799200" cy="30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  <a:spcAft>
                <a:spcPts val="799"/>
              </a:spcAft>
            </a:pPr>
            <a:r>
              <a:rPr lang="en-GB" sz="2000" b="1" u="none" strike="noStrike">
                <a:solidFill>
                  <a:srgbClr val="0F2043"/>
                </a:solidFill>
                <a:effectLst/>
                <a:uFillTx/>
                <a:latin typeface="Calibri"/>
                <a:ea typeface="Arial"/>
              </a:rPr>
              <a:t>W</a:t>
            </a:r>
            <a:r>
              <a:rPr lang="en-GB" sz="2000" b="1" u="none" strike="noStrike">
                <a:solidFill>
                  <a:srgbClr val="0F2043"/>
                </a:solidFill>
                <a:effectLst/>
                <a:uFillTx/>
                <a:latin typeface="Calibri"/>
                <a:ea typeface="Arial"/>
              </a:rPr>
              <a:t>ha</a:t>
            </a:r>
            <a:r>
              <a:rPr lang="en-GB" sz="2000" b="1" u="none" strike="noStrike">
                <a:solidFill>
                  <a:srgbClr val="0F2043"/>
                </a:solidFill>
                <a:effectLst/>
                <a:uFillTx/>
                <a:latin typeface="Calibri"/>
                <a:ea typeface="Arial"/>
              </a:rPr>
              <a:t>t </a:t>
            </a:r>
            <a:r>
              <a:rPr lang="en-GB" sz="2000" b="1" u="none" strike="noStrike">
                <a:solidFill>
                  <a:srgbClr val="0F2043"/>
                </a:solidFill>
                <a:effectLst/>
                <a:uFillTx/>
                <a:latin typeface="Calibri"/>
                <a:ea typeface="Arial"/>
              </a:rPr>
              <a:t>it </a:t>
            </a:r>
            <a:r>
              <a:rPr lang="en-GB" sz="2000" b="1" u="none" strike="noStrike">
                <a:solidFill>
                  <a:srgbClr val="0F2043"/>
                </a:solidFill>
                <a:effectLst/>
                <a:uFillTx/>
                <a:latin typeface="Calibri"/>
                <a:ea typeface="Arial"/>
              </a:rPr>
              <a:t>is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Re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al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ob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se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rv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ati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on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9.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3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pi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ckl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e,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fr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es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ar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cik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et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al.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20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22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(Z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en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od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67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24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06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5).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St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ru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ct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ur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e: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lis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of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4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ar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ra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ys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—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75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00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tr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ai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ni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ng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ag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es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an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as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ks,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10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9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te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st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ag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es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an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as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ks.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Ea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ch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im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ag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e: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51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2×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51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2,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ro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ws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=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ti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e,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co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lu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ns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=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fre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qu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en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cy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Tr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ai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ni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ng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la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be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ls: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pr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od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uc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ed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by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OF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la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gg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er,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cla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ssi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cal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al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go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rit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—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no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by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pe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rs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on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Te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st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la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be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ls: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10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9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ba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sel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in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es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ha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nd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-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la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be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lle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by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hu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an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ex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pe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All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10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9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te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st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im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ag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es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ar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in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si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de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tr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ai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ni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ng 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se</a:t>
            </a:r>
            <a:r>
              <a:rPr lang="en-GB" sz="20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t.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By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te-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id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en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tic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al.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dr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op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be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fo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re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tr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ai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ni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ng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—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73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56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ag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es 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re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ai</a:t>
            </a:r>
            <a:r>
              <a:rPr lang="en-GB" sz="20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3"/>
          <p:cNvSpPr/>
          <p:nvPr/>
        </p:nvSpPr>
        <p:spPr>
          <a:xfrm>
            <a:off x="6035040" y="1572840"/>
            <a:ext cx="539460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4"/>
          <p:cNvSpPr/>
          <p:nvPr/>
        </p:nvSpPr>
        <p:spPr>
          <a:xfrm>
            <a:off x="822960" y="626364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➢ Why real data is much harder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Picture 2" descr="chart_hard.png"/>
          <p:cNvPicPr/>
          <p:nvPr/>
        </p:nvPicPr>
        <p:blipFill>
          <a:blip r:embed="rId1"/>
          <a:stretch/>
        </p:blipFill>
        <p:spPr>
          <a:xfrm>
            <a:off x="1691640" y="1554480"/>
            <a:ext cx="8777880" cy="401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Box 3"/>
          <p:cNvSpPr/>
          <p:nvPr/>
        </p:nvSpPr>
        <p:spPr>
          <a:xfrm>
            <a:off x="822960" y="5614560"/>
            <a:ext cx="10606680" cy="8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synthetic label is RFI &gt; 0.5 sigma by construction,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so every labelled pixel is brighter than the noise and there is no ambiguity.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Arial"/>
              </a:rPr>
              <a:t>On LOFAR, about a quarter of labelled RFI is dimmer than a typical clean pixel. </a:t>
            </a: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Those pixels carry no brightness evidence at all — they can only be found from context.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➢ Authors' tf_unet on real LOFAR data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777240" y="1572840"/>
            <a:ext cx="106066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Aut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hor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s'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un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mo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difi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ed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tf_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un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et,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lay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ers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3,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fea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tur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es_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roo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32,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fixe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d-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ran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ge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nor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mal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isat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ion,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no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clas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wei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ght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s.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Trai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ne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on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662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1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cle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an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ima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ges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,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test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ed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on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the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109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hu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ma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n-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exp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ert-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lab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elle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bas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elin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es.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Thr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ee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see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ds.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8" name="Table 3"/>
          <p:cNvGraphicFramePr/>
          <p:nvPr/>
        </p:nvGraphicFramePr>
        <p:xfrm>
          <a:off x="822960" y="2697480"/>
          <a:ext cx="10515240" cy="1151640"/>
        </p:xfrm>
        <a:graphic>
          <a:graphicData uri="http://schemas.openxmlformats.org/drawingml/2006/table">
            <a:tbl>
              <a:tblPr/>
              <a:tblGrid>
                <a:gridCol w="3286080"/>
                <a:gridCol w="1971360"/>
                <a:gridCol w="1971360"/>
                <a:gridCol w="1971360"/>
                <a:gridCol w="1314360"/>
              </a:tblGrid>
              <a:tr h="38376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Setting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pooled F1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max F1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ROC AUC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best epoch</a:t>
                      </a:r>
                      <a:endParaRPr lang="en-GB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</a:tr>
              <a:tr h="38376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5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lr 1e-3, 60 epochs  (3 seeds)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0.4563 ± 0.0279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0.4901 ± 0.0495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0.9389 ± 0.0045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50–58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lr 1e-4, 150 epochs  (3 seeds)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0.5021 ± 0.0259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0.5482 ± 0.0139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0.9470 ± 0.0074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5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114</a:t>
                      </a:r>
                      <a:endParaRPr lang="en-GB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79" name="TextBox 4"/>
          <p:cNvSpPr/>
          <p:nvPr/>
        </p:nvSpPr>
        <p:spPr>
          <a:xfrm>
            <a:off x="777240" y="3977640"/>
            <a:ext cx="1060668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It did not collapse,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which was the real risk at 1:129 imbalance with no class weighting.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5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The learning rate mattered more than any architecture change we have measured. </a:t>
            </a:r>
            <a:r>
              <a:rPr lang="en-GB" sz="15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Dropping from 1e-3 to 1e-4 and training longer gained +0.058 max F1.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➢ Where that puts us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Picture 2" descr="chart_lofar.png"/>
          <p:cNvPicPr/>
          <p:nvPr/>
        </p:nvPicPr>
        <p:blipFill>
          <a:blip r:embed="rId1"/>
          <a:stretch/>
        </p:blipFill>
        <p:spPr>
          <a:xfrm>
            <a:off x="2240280" y="1554480"/>
            <a:ext cx="7680600" cy="40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Box 3"/>
          <p:cNvSpPr/>
          <p:nvPr/>
        </p:nvSpPr>
        <p:spPr>
          <a:xfrm>
            <a:off x="822960" y="561456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3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3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We essentially reproduce the published U-Net. </a:t>
            </a:r>
            <a:r>
              <a:rPr lang="en-GB" sz="13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0.5482 against their 0.5876 for the same architecture; the remaining 0.024 is plausibly the two </a:t>
            </a:r>
            <a:r>
              <a:rPr lang="en-GB" sz="13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differences left — 32×32 patches and per-image normalisation.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3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3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AOFlagger sits at 0.5698 </a:t>
            </a:r>
            <a:r>
              <a:rPr lang="en-GB" sz="13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and it wrote the training labels — every learned method here is taught by something itself only ~57% right.</a:t>
            </a:r>
            <a:endParaRPr lang="en-GB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2" descr="chart_gap.png"/>
          <p:cNvPicPr/>
          <p:nvPr/>
        </p:nvPicPr>
        <p:blipFill>
          <a:blip r:embed="rId1"/>
          <a:stretch/>
        </p:blipFill>
        <p:spPr>
          <a:xfrm>
            <a:off x="3063240" y="1800000"/>
            <a:ext cx="6034680" cy="361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3"/>
          <p:cNvSpPr/>
          <p:nvPr/>
        </p:nvSpPr>
        <p:spPr>
          <a:xfrm>
            <a:off x="822960" y="5504760"/>
            <a:ext cx="1060668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5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55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Arial"/>
              </a:rPr>
              <a:t>A synthetic benchmark can overstate a method's real performance by more than 0.38 F1. </a:t>
            </a:r>
            <a:endParaRPr lang="en-GB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➢ The HERA dataset — and a flaw in it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6035040" y="1572840"/>
            <a:ext cx="53946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en-GB" sz="165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Arial"/>
              </a:rPr>
              <a:t>The published split has train/test leakage</a:t>
            </a:r>
            <a:endParaRPr lang="en-GB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8" name="Table 2"/>
          <p:cNvGraphicFramePr/>
          <p:nvPr/>
        </p:nvGraphicFramePr>
        <p:xfrm>
          <a:off x="6080760" y="2057400"/>
          <a:ext cx="5303160" cy="1737000"/>
        </p:xfrm>
        <a:graphic>
          <a:graphicData uri="http://schemas.openxmlformats.org/drawingml/2006/table">
            <a:tbl>
              <a:tblPr/>
              <a:tblGrid>
                <a:gridCol w="3447000"/>
                <a:gridCol w="1856160"/>
              </a:tblGrid>
              <a:tr h="34740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Check</a:t>
                      </a:r>
                      <a:endParaRPr lang="en-GB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Result</a:t>
                      </a:r>
                      <a:endParaRPr lang="en-GB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F2043"/>
                    </a:solidFill>
                  </a:tcPr>
                </a:tc>
              </a:tr>
              <a:tr h="34740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Unique train images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382 / 420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Unique test images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0" u="none" strike="noStrike">
                          <a:solidFill>
                            <a:srgbClr val="1E1E1E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135 / 140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  <a:tr h="34740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Train ∩ test overlap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31 images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54720" tIns="18000" rIns="54720" bIns="18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… as a share of the test set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 lIns="54720" tIns="18000" rIns="54720" bIns="18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300" b="1" u="none" strike="noStrike">
                          <a:solidFill>
                            <a:srgbClr val="E31837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22%</a:t>
                      </a:r>
                      <a:endParaRPr lang="en-GB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5472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89" name="TextBox 7"/>
          <p:cNvSpPr/>
          <p:nvPr/>
        </p:nvSpPr>
        <p:spPr>
          <a:xfrm>
            <a:off x="6035040" y="3977640"/>
            <a:ext cx="539460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145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45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31 test images are byte-identical copies of training images.</a:t>
            </a:r>
            <a:endParaRPr lang="en-GB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777240" y="1572840"/>
            <a:ext cx="5120280" cy="37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en-GB" sz="2400" b="1" u="none" strike="noStrike">
                <a:solidFill>
                  <a:srgbClr val="0F2043"/>
                </a:solidFill>
                <a:effectLst/>
                <a:uFillTx/>
                <a:latin typeface="Calibri"/>
                <a:ea typeface="Arial"/>
              </a:rPr>
              <a:t>What it is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24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24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Source: </a:t>
            </a:r>
            <a:r>
              <a:rPr lang="en-GB" sz="24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Zenodo 6724065, HERA_04-03-2022_all.pkl (440 MB), simulated HERA data from Mesarcik et al.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24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24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Structure: </a:t>
            </a:r>
            <a:r>
              <a:rPr lang="en-GB" sz="24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420 train + 140 test, 512×512, with boolean masks.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lang="en-GB" sz="24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24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RFI content: </a:t>
            </a:r>
            <a:r>
              <a:rPr lang="en-GB" sz="24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2.75%, against 14.67% in our synthetic dataset.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2209680" y="329040"/>
            <a:ext cx="6721560" cy="91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GB" sz="2600" b="1" u="none" strike="noStrike">
                <a:solidFill>
                  <a:srgbClr val="E31837"/>
                </a:solidFill>
                <a:effectLst/>
                <a:uFillTx/>
                <a:latin typeface="Calibri"/>
                <a:ea typeface="Calibri"/>
              </a:rPr>
              <a:t>➢ To Do Next Week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1101960" y="2880000"/>
            <a:ext cx="1005804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1599"/>
              </a:spcAft>
            </a:pPr>
            <a:r>
              <a:rPr lang="en-GB" sz="19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9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Run the authors' tf_unet on HERA: </a:t>
            </a:r>
            <a:r>
              <a:rPr lang="en-GB" sz="19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the one gap in this week's comparison — the dataset is audited and deduplicated, but the baseline has not been run on it.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599"/>
              </a:spcAft>
            </a:pPr>
            <a:r>
              <a:rPr lang="en-GB" sz="19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•  </a:t>
            </a:r>
            <a:r>
              <a:rPr lang="en-GB" sz="1900" b="1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Present our own hybrid model: </a:t>
            </a:r>
            <a:r>
              <a:rPr lang="en-GB" sz="1900" b="0" u="none" strike="noStrike">
                <a:solidFill>
                  <a:srgbClr val="1E1E1E"/>
                </a:solidFill>
                <a:effectLst/>
                <a:uFillTx/>
                <a:latin typeface="Calibri"/>
                <a:ea typeface="Arial"/>
              </a:rPr>
              <a:t>results on the synthetic, and on the real LOFAR data against the same published benchmarks.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dcterms:modified xsi:type="dcterms:W3CDTF">2026-09-10T19:37:27Z</dcterms:modified>
  <cp:revision>1</cp:revision>
  <dc:subject/>
  <dc:title/>
</cp:coreProperties>
</file>