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3" r:id="rId4"/>
    <p:sldMasterId id="2147483674"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Ronak Singh"/>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commentAuthors" Target="commentAuthor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3.png"/><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g"/><Relationship Id="rId3" Type="http://schemas.openxmlformats.org/officeDocument/2006/relationships/image" Target="../media/image3.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g"/><Relationship Id="rId3" Type="http://schemas.openxmlformats.org/officeDocument/2006/relationships/image" Target="../media/image1.png"/><Relationship Id="rId4"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g"/><Relationship Id="rId3" Type="http://schemas.openxmlformats.org/officeDocument/2006/relationships/image" Target="../media/image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15" name="Shape 15"/>
        <p:cNvGrpSpPr/>
        <p:nvPr/>
      </p:nvGrpSpPr>
      <p:grpSpPr>
        <a:xfrm>
          <a:off x="0" y="0"/>
          <a:ext cx="0" cy="0"/>
          <a:chOff x="0" y="0"/>
          <a:chExt cx="0" cy="0"/>
        </a:xfrm>
      </p:grpSpPr>
      <p:sp>
        <p:nvSpPr>
          <p:cNvPr id="16" name="Google Shape;16;p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2"/>
          <p:cNvSpPr/>
          <p:nvPr/>
        </p:nvSpPr>
        <p:spPr>
          <a:xfrm>
            <a:off x="0" y="0"/>
            <a:ext cx="12192000" cy="4606724"/>
          </a:xfrm>
          <a:prstGeom prst="rect">
            <a:avLst/>
          </a:prstGeom>
          <a:solidFill>
            <a:srgbClr val="92081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grpSp>
        <p:nvGrpSpPr>
          <p:cNvPr id="18" name="Google Shape;18;p2"/>
          <p:cNvGrpSpPr/>
          <p:nvPr/>
        </p:nvGrpSpPr>
        <p:grpSpPr>
          <a:xfrm>
            <a:off x="4539436" y="1893116"/>
            <a:ext cx="3113127" cy="3113127"/>
            <a:chOff x="4539436" y="1893116"/>
            <a:chExt cx="3113127" cy="3113127"/>
          </a:xfrm>
        </p:grpSpPr>
        <p:sp>
          <p:nvSpPr>
            <p:cNvPr id="19" name="Google Shape;19;p2"/>
            <p:cNvSpPr/>
            <p:nvPr/>
          </p:nvSpPr>
          <p:spPr>
            <a:xfrm>
              <a:off x="4539436" y="1893116"/>
              <a:ext cx="3113127" cy="3113127"/>
            </a:xfrm>
            <a:prstGeom prst="ellipse">
              <a:avLst/>
            </a:prstGeom>
            <a:solidFill>
              <a:srgbClr val="DA222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20" name="Google Shape;20;p2"/>
            <p:cNvSpPr/>
            <p:nvPr/>
          </p:nvSpPr>
          <p:spPr>
            <a:xfrm>
              <a:off x="4648304" y="2001985"/>
              <a:ext cx="2895391" cy="2895391"/>
            </a:xfrm>
            <a:prstGeom prst="ellipse">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grpSp>
      <p:sp>
        <p:nvSpPr>
          <p:cNvPr id="21" name="Google Shape;21;p2"/>
          <p:cNvSpPr/>
          <p:nvPr/>
        </p:nvSpPr>
        <p:spPr>
          <a:xfrm>
            <a:off x="-2" y="3912719"/>
            <a:ext cx="12192000" cy="2282633"/>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pic>
        <p:nvPicPr>
          <p:cNvPr descr="Logo, company name&#10;&#10;Description automatically generated" id="22" name="Google Shape;22;p2"/>
          <p:cNvPicPr preferRelativeResize="0"/>
          <p:nvPr/>
        </p:nvPicPr>
        <p:blipFill rotWithShape="1">
          <a:blip r:embed="rId2">
            <a:alphaModFix/>
          </a:blip>
          <a:srcRect b="0" l="0" r="0" t="0"/>
          <a:stretch/>
        </p:blipFill>
        <p:spPr>
          <a:xfrm>
            <a:off x="5044975" y="2476877"/>
            <a:ext cx="2102047" cy="1232846"/>
          </a:xfrm>
          <a:prstGeom prst="rect">
            <a:avLst/>
          </a:prstGeom>
          <a:noFill/>
          <a:ln>
            <a:noFill/>
          </a:ln>
        </p:spPr>
      </p:pic>
      <p:pic>
        <p:nvPicPr>
          <p:cNvPr id="23" name="Google Shape;23;p2"/>
          <p:cNvPicPr preferRelativeResize="0"/>
          <p:nvPr/>
        </p:nvPicPr>
        <p:blipFill rotWithShape="1">
          <a:blip r:embed="rId3">
            <a:alphaModFix/>
          </a:blip>
          <a:srcRect b="0" l="0" r="0" t="0"/>
          <a:stretch/>
        </p:blipFill>
        <p:spPr>
          <a:xfrm>
            <a:off x="7956256" y="5877605"/>
            <a:ext cx="4130398" cy="922100"/>
          </a:xfrm>
          <a:prstGeom prst="rect">
            <a:avLst/>
          </a:prstGeom>
          <a:noFill/>
          <a:ln>
            <a:noFill/>
          </a:ln>
        </p:spPr>
      </p:pic>
      <p:pic>
        <p:nvPicPr>
          <p:cNvPr id="24" name="Google Shape;24;p2"/>
          <p:cNvPicPr preferRelativeResize="0"/>
          <p:nvPr/>
        </p:nvPicPr>
        <p:blipFill rotWithShape="1">
          <a:blip r:embed="rId4">
            <a:alphaModFix/>
          </a:blip>
          <a:srcRect b="0" l="0" r="0" t="0"/>
          <a:stretch/>
        </p:blipFill>
        <p:spPr>
          <a:xfrm rot="5400000">
            <a:off x="5782187" y="1367519"/>
            <a:ext cx="30483" cy="5656190"/>
          </a:xfrm>
          <a:prstGeom prst="rect">
            <a:avLst/>
          </a:prstGeom>
          <a:noFill/>
          <a:ln>
            <a:noFill/>
          </a:ln>
        </p:spPr>
      </p:pic>
      <p:pic>
        <p:nvPicPr>
          <p:cNvPr id="25" name="Google Shape;25;p2"/>
          <p:cNvPicPr preferRelativeResize="0"/>
          <p:nvPr/>
        </p:nvPicPr>
        <p:blipFill rotWithShape="1">
          <a:blip r:embed="rId4">
            <a:alphaModFix/>
          </a:blip>
          <a:srcRect b="0" l="0" r="0" t="0"/>
          <a:stretch/>
        </p:blipFill>
        <p:spPr>
          <a:xfrm rot="5400000">
            <a:off x="5976150" y="2885751"/>
            <a:ext cx="30483" cy="565619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 name="Shape 26"/>
        <p:cNvGrpSpPr/>
        <p:nvPr/>
      </p:nvGrpSpPr>
      <p:grpSpPr>
        <a:xfrm>
          <a:off x="0" y="0"/>
          <a:ext cx="0" cy="0"/>
          <a:chOff x="0" y="0"/>
          <a:chExt cx="0" cy="0"/>
        </a:xfrm>
      </p:grpSpPr>
      <p:sp>
        <p:nvSpPr>
          <p:cNvPr id="27" name="Google Shape;27;p3"/>
          <p:cNvSpPr txBox="1"/>
          <p:nvPr>
            <p:ph type="title"/>
          </p:nvPr>
        </p:nvSpPr>
        <p:spPr>
          <a:xfrm>
            <a:off x="2209801" y="328976"/>
            <a:ext cx="6721764" cy="91763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FF0000"/>
              </a:buClr>
              <a:buSzPts val="4400"/>
              <a:buFont typeface="Calibri"/>
              <a:buNone/>
              <a:defRPr b="1">
                <a:solidFill>
                  <a:srgbClr val="FF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8" name="Google Shape;28;p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9" name="Google Shape;29;p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0" name="Google Shape;30;p3"/>
          <p:cNvSpPr txBox="1"/>
          <p:nvPr>
            <p:ph idx="12" type="sldNum"/>
          </p:nvPr>
        </p:nvSpPr>
        <p:spPr>
          <a:xfrm>
            <a:off x="3385127" y="6360251"/>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pic>
        <p:nvPicPr>
          <p:cNvPr descr="Logo, company name&#10;&#10;Description automatically generated" id="31" name="Google Shape;31;p3"/>
          <p:cNvPicPr preferRelativeResize="0"/>
          <p:nvPr/>
        </p:nvPicPr>
        <p:blipFill rotWithShape="1">
          <a:blip r:embed="rId2">
            <a:alphaModFix/>
          </a:blip>
          <a:srcRect b="0" l="0" r="0" t="0"/>
          <a:stretch/>
        </p:blipFill>
        <p:spPr>
          <a:xfrm>
            <a:off x="208684" y="365125"/>
            <a:ext cx="1851025" cy="1085622"/>
          </a:xfrm>
          <a:prstGeom prst="rect">
            <a:avLst/>
          </a:prstGeom>
          <a:noFill/>
          <a:ln>
            <a:noFill/>
          </a:ln>
        </p:spPr>
      </p:pic>
      <p:pic>
        <p:nvPicPr>
          <p:cNvPr id="32" name="Google Shape;32;p3"/>
          <p:cNvPicPr preferRelativeResize="0"/>
          <p:nvPr/>
        </p:nvPicPr>
        <p:blipFill rotWithShape="1">
          <a:blip r:embed="rId3">
            <a:alphaModFix/>
          </a:blip>
          <a:srcRect b="0" l="0" r="0" t="0"/>
          <a:stretch/>
        </p:blipFill>
        <p:spPr>
          <a:xfrm flipH="1" rot="5400000">
            <a:off x="5982501" y="1364002"/>
            <a:ext cx="58278" cy="10813633"/>
          </a:xfrm>
          <a:prstGeom prst="rect">
            <a:avLst/>
          </a:prstGeom>
          <a:noFill/>
          <a:ln>
            <a:noFill/>
          </a:ln>
        </p:spPr>
      </p:pic>
      <p:pic>
        <p:nvPicPr>
          <p:cNvPr id="33" name="Google Shape;33;p3"/>
          <p:cNvPicPr preferRelativeResize="0"/>
          <p:nvPr/>
        </p:nvPicPr>
        <p:blipFill rotWithShape="1">
          <a:blip r:embed="rId3">
            <a:alphaModFix/>
          </a:blip>
          <a:srcRect b="0" l="0" r="0" t="0"/>
          <a:stretch/>
        </p:blipFill>
        <p:spPr>
          <a:xfrm rot="5400000">
            <a:off x="6095648" y="-4527556"/>
            <a:ext cx="65358" cy="12127346"/>
          </a:xfrm>
          <a:prstGeom prst="rect">
            <a:avLst/>
          </a:prstGeom>
          <a:noFill/>
          <a:ln>
            <a:noFill/>
          </a:ln>
        </p:spPr>
      </p:pic>
      <p:pic>
        <p:nvPicPr>
          <p:cNvPr descr="A blue logo with a head and lines&#10;&#10;Description automatically generated with medium confidence" id="34" name="Google Shape;34;p3"/>
          <p:cNvPicPr preferRelativeResize="0"/>
          <p:nvPr/>
        </p:nvPicPr>
        <p:blipFill rotWithShape="1">
          <a:blip r:embed="rId4">
            <a:alphaModFix/>
          </a:blip>
          <a:srcRect b="0" l="0" r="0" t="0"/>
          <a:stretch/>
        </p:blipFill>
        <p:spPr>
          <a:xfrm>
            <a:off x="10670576" y="86881"/>
            <a:ext cx="1366447" cy="139021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35" name="Shape 35"/>
        <p:cNvGrpSpPr/>
        <p:nvPr/>
      </p:nvGrpSpPr>
      <p:grpSpPr>
        <a:xfrm>
          <a:off x="0" y="0"/>
          <a:ext cx="0" cy="0"/>
          <a:chOff x="0" y="0"/>
          <a:chExt cx="0" cy="0"/>
        </a:xfrm>
      </p:grpSpPr>
      <p:sp>
        <p:nvSpPr>
          <p:cNvPr id="36" name="Google Shape;36;p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7" name="Google Shape;37;p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38" name="Google Shape;38;p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0" name="Google Shape;40;p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41" name="Shape 41"/>
        <p:cNvGrpSpPr/>
        <p:nvPr/>
      </p:nvGrpSpPr>
      <p:grpSpPr>
        <a:xfrm>
          <a:off x="0" y="0"/>
          <a:ext cx="0" cy="0"/>
          <a:chOff x="0" y="0"/>
          <a:chExt cx="0" cy="0"/>
        </a:xfrm>
      </p:grpSpPr>
      <p:sp>
        <p:nvSpPr>
          <p:cNvPr id="42" name="Google Shape;42;p5"/>
          <p:cNvSpPr txBox="1"/>
          <p:nvPr>
            <p:ph type="title"/>
          </p:nvPr>
        </p:nvSpPr>
        <p:spPr>
          <a:xfrm>
            <a:off x="2179782" y="365125"/>
            <a:ext cx="6834909"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 name="Google Shape;43;p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5" name="Google Shape;45;p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6" name="Google Shape;46;p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8" name="Shape 48"/>
        <p:cNvGrpSpPr/>
        <p:nvPr/>
      </p:nvGrpSpPr>
      <p:grpSpPr>
        <a:xfrm>
          <a:off x="0" y="0"/>
          <a:ext cx="0" cy="0"/>
          <a:chOff x="0" y="0"/>
          <a:chExt cx="0" cy="0"/>
        </a:xfrm>
      </p:grpSpPr>
      <p:sp>
        <p:nvSpPr>
          <p:cNvPr id="49" name="Google Shape;49;p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0" name="Google Shape;50;p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51" name="Google Shape;51;p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2" name="Google Shape;52;p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53" name="Google Shape;53;p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4" name="Google Shape;54;p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5" name="Google Shape;55;p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6" name="Google Shape;56;p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7" name="Shape 57"/>
        <p:cNvGrpSpPr/>
        <p:nvPr/>
      </p:nvGrpSpPr>
      <p:grpSpPr>
        <a:xfrm>
          <a:off x="0" y="0"/>
          <a:ext cx="0" cy="0"/>
          <a:chOff x="0" y="0"/>
          <a:chExt cx="0" cy="0"/>
        </a:xfrm>
      </p:grpSpPr>
      <p:sp>
        <p:nvSpPr>
          <p:cNvPr id="58" name="Google Shape;58;p7"/>
          <p:cNvSpPr txBox="1"/>
          <p:nvPr>
            <p:ph type="title"/>
          </p:nvPr>
        </p:nvSpPr>
        <p:spPr>
          <a:xfrm>
            <a:off x="2179782" y="365125"/>
            <a:ext cx="6834909"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9" name="Google Shape;59;p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2" name="Shape 62"/>
        <p:cNvGrpSpPr/>
        <p:nvPr/>
      </p:nvGrpSpPr>
      <p:grpSpPr>
        <a:xfrm>
          <a:off x="0" y="0"/>
          <a:ext cx="0" cy="0"/>
          <a:chOff x="0" y="0"/>
          <a:chExt cx="0" cy="0"/>
        </a:xfrm>
      </p:grpSpPr>
      <p:sp>
        <p:nvSpPr>
          <p:cNvPr id="63" name="Google Shape;63;p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6" name="Shape 66"/>
        <p:cNvGrpSpPr/>
        <p:nvPr/>
      </p:nvGrpSpPr>
      <p:grpSpPr>
        <a:xfrm>
          <a:off x="0" y="0"/>
          <a:ext cx="0" cy="0"/>
          <a:chOff x="0" y="0"/>
          <a:chExt cx="0" cy="0"/>
        </a:xfrm>
      </p:grpSpPr>
      <p:sp>
        <p:nvSpPr>
          <p:cNvPr id="67" name="Google Shape;67;p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8" name="Google Shape;68;p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69" name="Google Shape;69;p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0" name="Google Shape;70;p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73" name="Shape 73"/>
        <p:cNvGrpSpPr/>
        <p:nvPr/>
      </p:nvGrpSpPr>
      <p:grpSpPr>
        <a:xfrm>
          <a:off x="0" y="0"/>
          <a:ext cx="0" cy="0"/>
          <a:chOff x="0" y="0"/>
          <a:chExt cx="0" cy="0"/>
        </a:xfrm>
      </p:grpSpPr>
      <p:sp>
        <p:nvSpPr>
          <p:cNvPr id="74" name="Google Shape;74;p1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5" name="Google Shape;75;p10"/>
          <p:cNvSpPr/>
          <p:nvPr>
            <p:ph idx="2" type="pic"/>
          </p:nvPr>
        </p:nvSpPr>
        <p:spPr>
          <a:xfrm>
            <a:off x="5183188" y="987425"/>
            <a:ext cx="6172200" cy="4873625"/>
          </a:xfrm>
          <a:prstGeom prst="rect">
            <a:avLst/>
          </a:prstGeom>
          <a:noFill/>
          <a:ln>
            <a:noFill/>
          </a:ln>
        </p:spPr>
      </p:sp>
      <p:sp>
        <p:nvSpPr>
          <p:cNvPr id="76" name="Google Shape;76;p1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7" name="Google Shape;77;p1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80" name="Shape 80"/>
        <p:cNvGrpSpPr/>
        <p:nvPr/>
      </p:nvGrpSpPr>
      <p:grpSpPr>
        <a:xfrm>
          <a:off x="0" y="0"/>
          <a:ext cx="0" cy="0"/>
          <a:chOff x="0" y="0"/>
          <a:chExt cx="0" cy="0"/>
        </a:xfrm>
      </p:grpSpPr>
      <p:sp>
        <p:nvSpPr>
          <p:cNvPr id="81" name="Google Shape;81;p11"/>
          <p:cNvSpPr txBox="1"/>
          <p:nvPr>
            <p:ph type="title"/>
          </p:nvPr>
        </p:nvSpPr>
        <p:spPr>
          <a:xfrm>
            <a:off x="2179782" y="365125"/>
            <a:ext cx="6834909"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2" name="Google Shape;82;p1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3" name="Google Shape;83;p1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1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5" name="Google Shape;85;p1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86" name="Shape 86"/>
        <p:cNvGrpSpPr/>
        <p:nvPr/>
      </p:nvGrpSpPr>
      <p:grpSpPr>
        <a:xfrm>
          <a:off x="0" y="0"/>
          <a:ext cx="0" cy="0"/>
          <a:chOff x="0" y="0"/>
          <a:chExt cx="0" cy="0"/>
        </a:xfrm>
      </p:grpSpPr>
      <p:sp>
        <p:nvSpPr>
          <p:cNvPr id="87" name="Google Shape;87;p1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8" name="Google Shape;88;p1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9" name="Google Shape;89;p1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0" name="Google Shape;90;p1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1" name="Google Shape;91;p1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_제목 슬라이드">
  <p:cSld name="9_제목 슬라이드">
    <p:bg>
      <p:bgPr>
        <a:solidFill>
          <a:srgbClr val="920815"/>
        </a:solidFill>
      </p:bgPr>
    </p:bg>
    <p:spTree>
      <p:nvGrpSpPr>
        <p:cNvPr id="92" name="Shape 92"/>
        <p:cNvGrpSpPr/>
        <p:nvPr/>
      </p:nvGrpSpPr>
      <p:grpSpPr>
        <a:xfrm>
          <a:off x="0" y="0"/>
          <a:ext cx="0" cy="0"/>
          <a:chOff x="0" y="0"/>
          <a:chExt cx="0" cy="0"/>
        </a:xfrm>
      </p:grpSpPr>
      <p:sp>
        <p:nvSpPr>
          <p:cNvPr id="93" name="Google Shape;93;p13"/>
          <p:cNvSpPr/>
          <p:nvPr/>
        </p:nvSpPr>
        <p:spPr>
          <a:xfrm>
            <a:off x="2204720" y="0"/>
            <a:ext cx="9774801" cy="6858000"/>
          </a:xfrm>
          <a:custGeom>
            <a:rect b="b" l="l" r="r" t="t"/>
            <a:pathLst>
              <a:path extrusionOk="0" h="6858000" w="9365635">
                <a:moveTo>
                  <a:pt x="9044683" y="0"/>
                </a:moveTo>
                <a:lnTo>
                  <a:pt x="9365635" y="0"/>
                </a:lnTo>
                <a:lnTo>
                  <a:pt x="9365635" y="6858000"/>
                </a:lnTo>
                <a:lnTo>
                  <a:pt x="0" y="6858000"/>
                </a:lnTo>
                <a:lnTo>
                  <a:pt x="346277" y="6761053"/>
                </a:lnTo>
                <a:cubicBezTo>
                  <a:pt x="4078056" y="5668626"/>
                  <a:pt x="7180770" y="3232391"/>
                  <a:pt x="9015435" y="53746"/>
                </a:cubicBezTo>
                <a:close/>
              </a:path>
            </a:pathLst>
          </a:custGeom>
          <a:solidFill>
            <a:srgbClr val="C70B1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4" name="Google Shape;94;p13"/>
          <p:cNvSpPr/>
          <p:nvPr/>
        </p:nvSpPr>
        <p:spPr>
          <a:xfrm>
            <a:off x="2826365" y="0"/>
            <a:ext cx="9365635" cy="6858000"/>
          </a:xfrm>
          <a:custGeom>
            <a:rect b="b" l="l" r="r" t="t"/>
            <a:pathLst>
              <a:path extrusionOk="0" h="6858000" w="9365635">
                <a:moveTo>
                  <a:pt x="9044683" y="0"/>
                </a:moveTo>
                <a:lnTo>
                  <a:pt x="9365635" y="0"/>
                </a:lnTo>
                <a:lnTo>
                  <a:pt x="9365635" y="6858000"/>
                </a:lnTo>
                <a:lnTo>
                  <a:pt x="0" y="6858000"/>
                </a:lnTo>
                <a:lnTo>
                  <a:pt x="346277" y="6761053"/>
                </a:lnTo>
                <a:cubicBezTo>
                  <a:pt x="4078056" y="5668626"/>
                  <a:pt x="7180770" y="3232391"/>
                  <a:pt x="9015435" y="53746"/>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pic>
        <p:nvPicPr>
          <p:cNvPr descr="Logo, company name&#10;&#10;Description automatically generated" id="95" name="Google Shape;95;p13"/>
          <p:cNvPicPr preferRelativeResize="0"/>
          <p:nvPr/>
        </p:nvPicPr>
        <p:blipFill rotWithShape="1">
          <a:blip r:embed="rId2">
            <a:alphaModFix amt="5000"/>
          </a:blip>
          <a:srcRect b="0" l="0" r="0" t="0"/>
          <a:stretch/>
        </p:blipFill>
        <p:spPr>
          <a:xfrm>
            <a:off x="2360757" y="794085"/>
            <a:ext cx="5433589" cy="3186787"/>
          </a:xfrm>
          <a:prstGeom prst="rect">
            <a:avLst/>
          </a:prstGeom>
          <a:noFill/>
          <a:ln>
            <a:noFill/>
          </a:ln>
        </p:spPr>
      </p:pic>
      <p:pic>
        <p:nvPicPr>
          <p:cNvPr id="96" name="Google Shape;96;p13"/>
          <p:cNvPicPr preferRelativeResize="0"/>
          <p:nvPr/>
        </p:nvPicPr>
        <p:blipFill rotWithShape="1">
          <a:blip r:embed="rId3">
            <a:alphaModFix/>
          </a:blip>
          <a:srcRect b="0" l="0" r="0" t="0"/>
          <a:stretch/>
        </p:blipFill>
        <p:spPr>
          <a:xfrm>
            <a:off x="6648840" y="5457398"/>
            <a:ext cx="5433589" cy="1213034"/>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103" name="Shape 103"/>
        <p:cNvGrpSpPr/>
        <p:nvPr/>
      </p:nvGrpSpPr>
      <p:grpSpPr>
        <a:xfrm>
          <a:off x="0" y="0"/>
          <a:ext cx="0" cy="0"/>
          <a:chOff x="0" y="0"/>
          <a:chExt cx="0" cy="0"/>
        </a:xfrm>
      </p:grpSpPr>
      <p:sp>
        <p:nvSpPr>
          <p:cNvPr id="104" name="Google Shape;104;p15"/>
          <p:cNvSpPr txBox="1"/>
          <p:nvPr>
            <p:ph type="ctrTitle"/>
          </p:nvPr>
        </p:nvSpPr>
        <p:spPr>
          <a:xfrm>
            <a:off x="1524000" y="1122363"/>
            <a:ext cx="9144000" cy="23877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5" name="Google Shape;105;p15"/>
          <p:cNvSpPr/>
          <p:nvPr/>
        </p:nvSpPr>
        <p:spPr>
          <a:xfrm>
            <a:off x="0" y="0"/>
            <a:ext cx="12192000" cy="4606800"/>
          </a:xfrm>
          <a:prstGeom prst="rect">
            <a:avLst/>
          </a:prstGeom>
          <a:solidFill>
            <a:srgbClr val="92081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grpSp>
        <p:nvGrpSpPr>
          <p:cNvPr id="106" name="Google Shape;106;p15"/>
          <p:cNvGrpSpPr/>
          <p:nvPr/>
        </p:nvGrpSpPr>
        <p:grpSpPr>
          <a:xfrm>
            <a:off x="4539436" y="1893116"/>
            <a:ext cx="3113100" cy="3113100"/>
            <a:chOff x="4539436" y="1893116"/>
            <a:chExt cx="3113100" cy="3113100"/>
          </a:xfrm>
        </p:grpSpPr>
        <p:sp>
          <p:nvSpPr>
            <p:cNvPr id="107" name="Google Shape;107;p15"/>
            <p:cNvSpPr/>
            <p:nvPr/>
          </p:nvSpPr>
          <p:spPr>
            <a:xfrm>
              <a:off x="4539436" y="1893116"/>
              <a:ext cx="3113100" cy="3113100"/>
            </a:xfrm>
            <a:prstGeom prst="ellipse">
              <a:avLst/>
            </a:prstGeom>
            <a:solidFill>
              <a:srgbClr val="DA222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08" name="Google Shape;108;p15"/>
            <p:cNvSpPr/>
            <p:nvPr/>
          </p:nvSpPr>
          <p:spPr>
            <a:xfrm>
              <a:off x="4648304" y="2001985"/>
              <a:ext cx="2895300" cy="2895300"/>
            </a:xfrm>
            <a:prstGeom prst="ellipse">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grpSp>
      <p:sp>
        <p:nvSpPr>
          <p:cNvPr id="109" name="Google Shape;109;p15"/>
          <p:cNvSpPr/>
          <p:nvPr/>
        </p:nvSpPr>
        <p:spPr>
          <a:xfrm>
            <a:off x="-2" y="3912719"/>
            <a:ext cx="12192000" cy="22827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pic>
        <p:nvPicPr>
          <p:cNvPr descr="Logo, company name&#10;&#10;Description automatically generated" id="110" name="Google Shape;110;p15"/>
          <p:cNvPicPr preferRelativeResize="0"/>
          <p:nvPr/>
        </p:nvPicPr>
        <p:blipFill rotWithShape="1">
          <a:blip r:embed="rId2">
            <a:alphaModFix/>
          </a:blip>
          <a:srcRect b="0" l="0" r="0" t="0"/>
          <a:stretch/>
        </p:blipFill>
        <p:spPr>
          <a:xfrm>
            <a:off x="5044975" y="2476877"/>
            <a:ext cx="2102047" cy="1232846"/>
          </a:xfrm>
          <a:prstGeom prst="rect">
            <a:avLst/>
          </a:prstGeom>
          <a:noFill/>
          <a:ln>
            <a:noFill/>
          </a:ln>
        </p:spPr>
      </p:pic>
      <p:pic>
        <p:nvPicPr>
          <p:cNvPr id="111" name="Google Shape;111;p15"/>
          <p:cNvPicPr preferRelativeResize="0"/>
          <p:nvPr/>
        </p:nvPicPr>
        <p:blipFill rotWithShape="1">
          <a:blip r:embed="rId3">
            <a:alphaModFix/>
          </a:blip>
          <a:srcRect b="0" l="0" r="0" t="0"/>
          <a:stretch/>
        </p:blipFill>
        <p:spPr>
          <a:xfrm>
            <a:off x="7956256" y="5877605"/>
            <a:ext cx="4130398" cy="922100"/>
          </a:xfrm>
          <a:prstGeom prst="rect">
            <a:avLst/>
          </a:prstGeom>
          <a:noFill/>
          <a:ln>
            <a:noFill/>
          </a:ln>
        </p:spPr>
      </p:pic>
      <p:pic>
        <p:nvPicPr>
          <p:cNvPr id="112" name="Google Shape;112;p15"/>
          <p:cNvPicPr preferRelativeResize="0"/>
          <p:nvPr/>
        </p:nvPicPr>
        <p:blipFill rotWithShape="1">
          <a:blip r:embed="rId4">
            <a:alphaModFix/>
          </a:blip>
          <a:srcRect b="0" l="0" r="0" t="0"/>
          <a:stretch/>
        </p:blipFill>
        <p:spPr>
          <a:xfrm rot="5400000">
            <a:off x="5782187" y="1367519"/>
            <a:ext cx="30483" cy="5656190"/>
          </a:xfrm>
          <a:prstGeom prst="rect">
            <a:avLst/>
          </a:prstGeom>
          <a:noFill/>
          <a:ln>
            <a:noFill/>
          </a:ln>
        </p:spPr>
      </p:pic>
      <p:pic>
        <p:nvPicPr>
          <p:cNvPr id="113" name="Google Shape;113;p15"/>
          <p:cNvPicPr preferRelativeResize="0"/>
          <p:nvPr/>
        </p:nvPicPr>
        <p:blipFill rotWithShape="1">
          <a:blip r:embed="rId4">
            <a:alphaModFix/>
          </a:blip>
          <a:srcRect b="0" l="0" r="0" t="0"/>
          <a:stretch/>
        </p:blipFill>
        <p:spPr>
          <a:xfrm rot="5400000">
            <a:off x="5976150" y="2885751"/>
            <a:ext cx="30483" cy="565619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4" name="Shape 114"/>
        <p:cNvGrpSpPr/>
        <p:nvPr/>
      </p:nvGrpSpPr>
      <p:grpSpPr>
        <a:xfrm>
          <a:off x="0" y="0"/>
          <a:ext cx="0" cy="0"/>
          <a:chOff x="0" y="0"/>
          <a:chExt cx="0" cy="0"/>
        </a:xfrm>
      </p:grpSpPr>
      <p:sp>
        <p:nvSpPr>
          <p:cNvPr id="115" name="Google Shape;115;p16"/>
          <p:cNvSpPr txBox="1"/>
          <p:nvPr>
            <p:ph type="title"/>
          </p:nvPr>
        </p:nvSpPr>
        <p:spPr>
          <a:xfrm>
            <a:off x="2209801" y="328976"/>
            <a:ext cx="6721800" cy="9177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FF0000"/>
              </a:buClr>
              <a:buSzPts val="4400"/>
              <a:buFont typeface="Calibri"/>
              <a:buNone/>
              <a:defRPr b="1">
                <a:solidFill>
                  <a:srgbClr val="FF0000"/>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6" name="Google Shape;116;p16"/>
          <p:cNvSpPr txBox="1"/>
          <p:nvPr>
            <p:ph idx="1" type="body"/>
          </p:nvPr>
        </p:nvSpPr>
        <p:spPr>
          <a:xfrm>
            <a:off x="838200" y="1825625"/>
            <a:ext cx="10515600" cy="43512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17" name="Google Shape;117;p16"/>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8" name="Google Shape;118;p16"/>
          <p:cNvSpPr txBox="1"/>
          <p:nvPr>
            <p:ph idx="12" type="sldNum"/>
          </p:nvPr>
        </p:nvSpPr>
        <p:spPr>
          <a:xfrm>
            <a:off x="3385127" y="6360251"/>
            <a:ext cx="27432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pic>
        <p:nvPicPr>
          <p:cNvPr descr="Logo, company name&#10;&#10;Description automatically generated" id="119" name="Google Shape;119;p16"/>
          <p:cNvPicPr preferRelativeResize="0"/>
          <p:nvPr/>
        </p:nvPicPr>
        <p:blipFill rotWithShape="1">
          <a:blip r:embed="rId2">
            <a:alphaModFix/>
          </a:blip>
          <a:srcRect b="0" l="0" r="0" t="0"/>
          <a:stretch/>
        </p:blipFill>
        <p:spPr>
          <a:xfrm>
            <a:off x="208684" y="365125"/>
            <a:ext cx="1851025" cy="1085622"/>
          </a:xfrm>
          <a:prstGeom prst="rect">
            <a:avLst/>
          </a:prstGeom>
          <a:noFill/>
          <a:ln>
            <a:noFill/>
          </a:ln>
        </p:spPr>
      </p:pic>
      <p:pic>
        <p:nvPicPr>
          <p:cNvPr id="120" name="Google Shape;120;p16"/>
          <p:cNvPicPr preferRelativeResize="0"/>
          <p:nvPr/>
        </p:nvPicPr>
        <p:blipFill rotWithShape="1">
          <a:blip r:embed="rId3">
            <a:alphaModFix/>
          </a:blip>
          <a:srcRect b="0" l="0" r="0" t="0"/>
          <a:stretch/>
        </p:blipFill>
        <p:spPr>
          <a:xfrm flipH="1" rot="5400000">
            <a:off x="5982501" y="1364002"/>
            <a:ext cx="58278" cy="10813632"/>
          </a:xfrm>
          <a:prstGeom prst="rect">
            <a:avLst/>
          </a:prstGeom>
          <a:noFill/>
          <a:ln>
            <a:noFill/>
          </a:ln>
        </p:spPr>
      </p:pic>
      <p:pic>
        <p:nvPicPr>
          <p:cNvPr id="121" name="Google Shape;121;p16"/>
          <p:cNvPicPr preferRelativeResize="0"/>
          <p:nvPr/>
        </p:nvPicPr>
        <p:blipFill rotWithShape="1">
          <a:blip r:embed="rId3">
            <a:alphaModFix/>
          </a:blip>
          <a:srcRect b="0" l="0" r="0" t="0"/>
          <a:stretch/>
        </p:blipFill>
        <p:spPr>
          <a:xfrm rot="5400000">
            <a:off x="6095648" y="-4527556"/>
            <a:ext cx="65358" cy="12127346"/>
          </a:xfrm>
          <a:prstGeom prst="rect">
            <a:avLst/>
          </a:prstGeom>
          <a:noFill/>
          <a:ln>
            <a:noFill/>
          </a:ln>
        </p:spPr>
      </p:pic>
      <p:pic>
        <p:nvPicPr>
          <p:cNvPr descr="A blue logo with a head and lines&#10;&#10;Description automatically generated with medium confidence" id="122" name="Google Shape;122;p16"/>
          <p:cNvPicPr preferRelativeResize="0"/>
          <p:nvPr/>
        </p:nvPicPr>
        <p:blipFill rotWithShape="1">
          <a:blip r:embed="rId4">
            <a:alphaModFix/>
          </a:blip>
          <a:srcRect b="0" l="0" r="0" t="0"/>
          <a:stretch/>
        </p:blipFill>
        <p:spPr>
          <a:xfrm>
            <a:off x="10670576" y="86881"/>
            <a:ext cx="1366447" cy="1390212"/>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23" name="Shape 123"/>
        <p:cNvGrpSpPr/>
        <p:nvPr/>
      </p:nvGrpSpPr>
      <p:grpSpPr>
        <a:xfrm>
          <a:off x="0" y="0"/>
          <a:ext cx="0" cy="0"/>
          <a:chOff x="0" y="0"/>
          <a:chExt cx="0" cy="0"/>
        </a:xfrm>
      </p:grpSpPr>
      <p:sp>
        <p:nvSpPr>
          <p:cNvPr id="124" name="Google Shape;124;p17"/>
          <p:cNvSpPr txBox="1"/>
          <p:nvPr>
            <p:ph type="title"/>
          </p:nvPr>
        </p:nvSpPr>
        <p:spPr>
          <a:xfrm>
            <a:off x="831850" y="1709738"/>
            <a:ext cx="10515600" cy="28527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5" name="Google Shape;125;p17"/>
          <p:cNvSpPr txBox="1"/>
          <p:nvPr>
            <p:ph idx="1" type="body"/>
          </p:nvPr>
        </p:nvSpPr>
        <p:spPr>
          <a:xfrm>
            <a:off x="831850" y="4589463"/>
            <a:ext cx="10515600" cy="15003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126" name="Google Shape;126;p17"/>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7" name="Google Shape;127;p17"/>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8" name="Google Shape;128;p17"/>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29" name="Shape 129"/>
        <p:cNvGrpSpPr/>
        <p:nvPr/>
      </p:nvGrpSpPr>
      <p:grpSpPr>
        <a:xfrm>
          <a:off x="0" y="0"/>
          <a:ext cx="0" cy="0"/>
          <a:chOff x="0" y="0"/>
          <a:chExt cx="0" cy="0"/>
        </a:xfrm>
      </p:grpSpPr>
      <p:sp>
        <p:nvSpPr>
          <p:cNvPr id="130" name="Google Shape;130;p18"/>
          <p:cNvSpPr txBox="1"/>
          <p:nvPr>
            <p:ph type="title"/>
          </p:nvPr>
        </p:nvSpPr>
        <p:spPr>
          <a:xfrm>
            <a:off x="2179782" y="365125"/>
            <a:ext cx="6834900" cy="13257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1" name="Google Shape;131;p18"/>
          <p:cNvSpPr txBox="1"/>
          <p:nvPr>
            <p:ph idx="1" type="body"/>
          </p:nvPr>
        </p:nvSpPr>
        <p:spPr>
          <a:xfrm>
            <a:off x="838200" y="1825625"/>
            <a:ext cx="5181600" cy="43512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32" name="Google Shape;132;p18"/>
          <p:cNvSpPr txBox="1"/>
          <p:nvPr>
            <p:ph idx="2" type="body"/>
          </p:nvPr>
        </p:nvSpPr>
        <p:spPr>
          <a:xfrm>
            <a:off x="6172200" y="1825625"/>
            <a:ext cx="5181600" cy="43512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33" name="Google Shape;133;p18"/>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4" name="Google Shape;134;p18"/>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5" name="Google Shape;135;p18"/>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36" name="Shape 136"/>
        <p:cNvGrpSpPr/>
        <p:nvPr/>
      </p:nvGrpSpPr>
      <p:grpSpPr>
        <a:xfrm>
          <a:off x="0" y="0"/>
          <a:ext cx="0" cy="0"/>
          <a:chOff x="0" y="0"/>
          <a:chExt cx="0" cy="0"/>
        </a:xfrm>
      </p:grpSpPr>
      <p:sp>
        <p:nvSpPr>
          <p:cNvPr id="137" name="Google Shape;137;p19"/>
          <p:cNvSpPr txBox="1"/>
          <p:nvPr>
            <p:ph type="title"/>
          </p:nvPr>
        </p:nvSpPr>
        <p:spPr>
          <a:xfrm>
            <a:off x="839788" y="365125"/>
            <a:ext cx="10515600" cy="13257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8" name="Google Shape;138;p19"/>
          <p:cNvSpPr txBox="1"/>
          <p:nvPr>
            <p:ph idx="1" type="body"/>
          </p:nvPr>
        </p:nvSpPr>
        <p:spPr>
          <a:xfrm>
            <a:off x="839788" y="1681163"/>
            <a:ext cx="5157900" cy="823800"/>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139" name="Google Shape;139;p19"/>
          <p:cNvSpPr txBox="1"/>
          <p:nvPr>
            <p:ph idx="2" type="body"/>
          </p:nvPr>
        </p:nvSpPr>
        <p:spPr>
          <a:xfrm>
            <a:off x="839788" y="2505075"/>
            <a:ext cx="5157900" cy="3684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40" name="Google Shape;140;p19"/>
          <p:cNvSpPr txBox="1"/>
          <p:nvPr>
            <p:ph idx="3" type="body"/>
          </p:nvPr>
        </p:nvSpPr>
        <p:spPr>
          <a:xfrm>
            <a:off x="6172200" y="1681163"/>
            <a:ext cx="5183100" cy="823800"/>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141" name="Google Shape;141;p19"/>
          <p:cNvSpPr txBox="1"/>
          <p:nvPr>
            <p:ph idx="4" type="body"/>
          </p:nvPr>
        </p:nvSpPr>
        <p:spPr>
          <a:xfrm>
            <a:off x="6172200" y="2505075"/>
            <a:ext cx="5183100" cy="3684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42" name="Google Shape;142;p19"/>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3" name="Google Shape;143;p19"/>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4" name="Google Shape;144;p19"/>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45" name="Shape 145"/>
        <p:cNvGrpSpPr/>
        <p:nvPr/>
      </p:nvGrpSpPr>
      <p:grpSpPr>
        <a:xfrm>
          <a:off x="0" y="0"/>
          <a:ext cx="0" cy="0"/>
          <a:chOff x="0" y="0"/>
          <a:chExt cx="0" cy="0"/>
        </a:xfrm>
      </p:grpSpPr>
      <p:sp>
        <p:nvSpPr>
          <p:cNvPr id="146" name="Google Shape;146;p20"/>
          <p:cNvSpPr txBox="1"/>
          <p:nvPr>
            <p:ph type="title"/>
          </p:nvPr>
        </p:nvSpPr>
        <p:spPr>
          <a:xfrm>
            <a:off x="2179782" y="365125"/>
            <a:ext cx="6834900" cy="13257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7" name="Google Shape;147;p20"/>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8" name="Google Shape;148;p20"/>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9" name="Google Shape;149;p20"/>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0" name="Shape 150"/>
        <p:cNvGrpSpPr/>
        <p:nvPr/>
      </p:nvGrpSpPr>
      <p:grpSpPr>
        <a:xfrm>
          <a:off x="0" y="0"/>
          <a:ext cx="0" cy="0"/>
          <a:chOff x="0" y="0"/>
          <a:chExt cx="0" cy="0"/>
        </a:xfrm>
      </p:grpSpPr>
      <p:sp>
        <p:nvSpPr>
          <p:cNvPr id="151" name="Google Shape;151;p21"/>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2" name="Google Shape;152;p21"/>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3" name="Google Shape;153;p21"/>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54" name="Shape 154"/>
        <p:cNvGrpSpPr/>
        <p:nvPr/>
      </p:nvGrpSpPr>
      <p:grpSpPr>
        <a:xfrm>
          <a:off x="0" y="0"/>
          <a:ext cx="0" cy="0"/>
          <a:chOff x="0" y="0"/>
          <a:chExt cx="0" cy="0"/>
        </a:xfrm>
      </p:grpSpPr>
      <p:sp>
        <p:nvSpPr>
          <p:cNvPr id="155" name="Google Shape;155;p22"/>
          <p:cNvSpPr txBox="1"/>
          <p:nvPr>
            <p:ph type="title"/>
          </p:nvPr>
        </p:nvSpPr>
        <p:spPr>
          <a:xfrm>
            <a:off x="839788" y="457200"/>
            <a:ext cx="3932100"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6" name="Google Shape;156;p22"/>
          <p:cNvSpPr txBox="1"/>
          <p:nvPr>
            <p:ph idx="1" type="body"/>
          </p:nvPr>
        </p:nvSpPr>
        <p:spPr>
          <a:xfrm>
            <a:off x="5183188" y="987425"/>
            <a:ext cx="6172200" cy="4873500"/>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157" name="Google Shape;157;p22"/>
          <p:cNvSpPr txBox="1"/>
          <p:nvPr>
            <p:ph idx="2" type="body"/>
          </p:nvPr>
        </p:nvSpPr>
        <p:spPr>
          <a:xfrm>
            <a:off x="839788" y="2057400"/>
            <a:ext cx="3932100" cy="38115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158" name="Google Shape;158;p22"/>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9" name="Google Shape;159;p22"/>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0" name="Google Shape;160;p22"/>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61" name="Shape 161"/>
        <p:cNvGrpSpPr/>
        <p:nvPr/>
      </p:nvGrpSpPr>
      <p:grpSpPr>
        <a:xfrm>
          <a:off x="0" y="0"/>
          <a:ext cx="0" cy="0"/>
          <a:chOff x="0" y="0"/>
          <a:chExt cx="0" cy="0"/>
        </a:xfrm>
      </p:grpSpPr>
      <p:sp>
        <p:nvSpPr>
          <p:cNvPr id="162" name="Google Shape;162;p23"/>
          <p:cNvSpPr txBox="1"/>
          <p:nvPr>
            <p:ph type="title"/>
          </p:nvPr>
        </p:nvSpPr>
        <p:spPr>
          <a:xfrm>
            <a:off x="839788" y="457200"/>
            <a:ext cx="3932100"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3" name="Google Shape;163;p23"/>
          <p:cNvSpPr/>
          <p:nvPr>
            <p:ph idx="2" type="pic"/>
          </p:nvPr>
        </p:nvSpPr>
        <p:spPr>
          <a:xfrm>
            <a:off x="5183188" y="987425"/>
            <a:ext cx="6172200" cy="4873500"/>
          </a:xfrm>
          <a:prstGeom prst="rect">
            <a:avLst/>
          </a:prstGeom>
          <a:noFill/>
          <a:ln>
            <a:noFill/>
          </a:ln>
        </p:spPr>
      </p:sp>
      <p:sp>
        <p:nvSpPr>
          <p:cNvPr id="164" name="Google Shape;164;p23"/>
          <p:cNvSpPr txBox="1"/>
          <p:nvPr>
            <p:ph idx="1" type="body"/>
          </p:nvPr>
        </p:nvSpPr>
        <p:spPr>
          <a:xfrm>
            <a:off x="839788" y="2057400"/>
            <a:ext cx="3932100" cy="38115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165" name="Google Shape;165;p23"/>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6" name="Google Shape;166;p23"/>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7" name="Google Shape;167;p23"/>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68" name="Shape 168"/>
        <p:cNvGrpSpPr/>
        <p:nvPr/>
      </p:nvGrpSpPr>
      <p:grpSpPr>
        <a:xfrm>
          <a:off x="0" y="0"/>
          <a:ext cx="0" cy="0"/>
          <a:chOff x="0" y="0"/>
          <a:chExt cx="0" cy="0"/>
        </a:xfrm>
      </p:grpSpPr>
      <p:sp>
        <p:nvSpPr>
          <p:cNvPr id="169" name="Google Shape;169;p24"/>
          <p:cNvSpPr txBox="1"/>
          <p:nvPr>
            <p:ph type="title"/>
          </p:nvPr>
        </p:nvSpPr>
        <p:spPr>
          <a:xfrm>
            <a:off x="2179782" y="365125"/>
            <a:ext cx="6834900" cy="13257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0" name="Google Shape;170;p24"/>
          <p:cNvSpPr txBox="1"/>
          <p:nvPr>
            <p:ph idx="1" type="body"/>
          </p:nvPr>
        </p:nvSpPr>
        <p:spPr>
          <a:xfrm rot="5400000">
            <a:off x="3920400" y="-1256575"/>
            <a:ext cx="4351200"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71" name="Google Shape;171;p24"/>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2" name="Google Shape;172;p24"/>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3" name="Google Shape;173;p24"/>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74" name="Shape 174"/>
        <p:cNvGrpSpPr/>
        <p:nvPr/>
      </p:nvGrpSpPr>
      <p:grpSpPr>
        <a:xfrm>
          <a:off x="0" y="0"/>
          <a:ext cx="0" cy="0"/>
          <a:chOff x="0" y="0"/>
          <a:chExt cx="0" cy="0"/>
        </a:xfrm>
      </p:grpSpPr>
      <p:sp>
        <p:nvSpPr>
          <p:cNvPr id="175" name="Google Shape;175;p25"/>
          <p:cNvSpPr txBox="1"/>
          <p:nvPr>
            <p:ph type="title"/>
          </p:nvPr>
        </p:nvSpPr>
        <p:spPr>
          <a:xfrm rot="5400000">
            <a:off x="7133400" y="1956625"/>
            <a:ext cx="5811900"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6" name="Google Shape;176;p25"/>
          <p:cNvSpPr txBox="1"/>
          <p:nvPr>
            <p:ph idx="1" type="body"/>
          </p:nvPr>
        </p:nvSpPr>
        <p:spPr>
          <a:xfrm rot="5400000">
            <a:off x="1799400" y="-596075"/>
            <a:ext cx="5811900"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77" name="Google Shape;177;p25"/>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8" name="Google Shape;178;p25"/>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9" name="Google Shape;179;p25"/>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_제목 슬라이드">
  <p:cSld name="9_제목 슬라이드">
    <p:bg>
      <p:bgPr>
        <a:solidFill>
          <a:srgbClr val="920815"/>
        </a:solidFill>
      </p:bgPr>
    </p:bg>
    <p:spTree>
      <p:nvGrpSpPr>
        <p:cNvPr id="180" name="Shape 180"/>
        <p:cNvGrpSpPr/>
        <p:nvPr/>
      </p:nvGrpSpPr>
      <p:grpSpPr>
        <a:xfrm>
          <a:off x="0" y="0"/>
          <a:ext cx="0" cy="0"/>
          <a:chOff x="0" y="0"/>
          <a:chExt cx="0" cy="0"/>
        </a:xfrm>
      </p:grpSpPr>
      <p:sp>
        <p:nvSpPr>
          <p:cNvPr id="181" name="Google Shape;181;p26"/>
          <p:cNvSpPr/>
          <p:nvPr/>
        </p:nvSpPr>
        <p:spPr>
          <a:xfrm>
            <a:off x="2204720" y="0"/>
            <a:ext cx="9763674" cy="6858000"/>
          </a:xfrm>
          <a:custGeom>
            <a:rect b="b" l="l" r="r" t="t"/>
            <a:pathLst>
              <a:path extrusionOk="0" h="6858000" w="9365635">
                <a:moveTo>
                  <a:pt x="9044683" y="0"/>
                </a:moveTo>
                <a:lnTo>
                  <a:pt x="9365635" y="0"/>
                </a:lnTo>
                <a:lnTo>
                  <a:pt x="9365635" y="6858000"/>
                </a:lnTo>
                <a:lnTo>
                  <a:pt x="0" y="6858000"/>
                </a:lnTo>
                <a:lnTo>
                  <a:pt x="346277" y="6761053"/>
                </a:lnTo>
                <a:cubicBezTo>
                  <a:pt x="4078056" y="5668626"/>
                  <a:pt x="7180770" y="3232391"/>
                  <a:pt x="9015435" y="53746"/>
                </a:cubicBezTo>
                <a:close/>
              </a:path>
            </a:pathLst>
          </a:custGeom>
          <a:solidFill>
            <a:srgbClr val="C70B1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82" name="Google Shape;182;p26"/>
          <p:cNvSpPr/>
          <p:nvPr/>
        </p:nvSpPr>
        <p:spPr>
          <a:xfrm>
            <a:off x="2826365" y="0"/>
            <a:ext cx="9365635" cy="6858000"/>
          </a:xfrm>
          <a:custGeom>
            <a:rect b="b" l="l" r="r" t="t"/>
            <a:pathLst>
              <a:path extrusionOk="0" h="6858000" w="9365635">
                <a:moveTo>
                  <a:pt x="9044683" y="0"/>
                </a:moveTo>
                <a:lnTo>
                  <a:pt x="9365635" y="0"/>
                </a:lnTo>
                <a:lnTo>
                  <a:pt x="9365635" y="6858000"/>
                </a:lnTo>
                <a:lnTo>
                  <a:pt x="0" y="6858000"/>
                </a:lnTo>
                <a:lnTo>
                  <a:pt x="346277" y="6761053"/>
                </a:lnTo>
                <a:cubicBezTo>
                  <a:pt x="4078056" y="5668626"/>
                  <a:pt x="7180770" y="3232391"/>
                  <a:pt x="9015435" y="53746"/>
                </a:cubicBezTo>
                <a:close/>
              </a:path>
            </a:pathLst>
          </a:cu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pic>
        <p:nvPicPr>
          <p:cNvPr descr="Logo, company name&#10;&#10;Description automatically generated" id="183" name="Google Shape;183;p26"/>
          <p:cNvPicPr preferRelativeResize="0"/>
          <p:nvPr/>
        </p:nvPicPr>
        <p:blipFill rotWithShape="1">
          <a:blip r:embed="rId2">
            <a:alphaModFix amt="5000"/>
          </a:blip>
          <a:srcRect b="0" l="0" r="0" t="0"/>
          <a:stretch/>
        </p:blipFill>
        <p:spPr>
          <a:xfrm>
            <a:off x="2360757" y="794085"/>
            <a:ext cx="5433589" cy="3186787"/>
          </a:xfrm>
          <a:prstGeom prst="rect">
            <a:avLst/>
          </a:prstGeom>
          <a:noFill/>
          <a:ln>
            <a:noFill/>
          </a:ln>
        </p:spPr>
      </p:pic>
      <p:pic>
        <p:nvPicPr>
          <p:cNvPr id="184" name="Google Shape;184;p26"/>
          <p:cNvPicPr preferRelativeResize="0"/>
          <p:nvPr/>
        </p:nvPicPr>
        <p:blipFill rotWithShape="1">
          <a:blip r:embed="rId3">
            <a:alphaModFix/>
          </a:blip>
          <a:srcRect b="0" l="0" r="0" t="0"/>
          <a:stretch/>
        </p:blipFill>
        <p:spPr>
          <a:xfrm>
            <a:off x="6648840" y="5457398"/>
            <a:ext cx="5433589" cy="1213034"/>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g3f68e7f2f61_23_0)">
  <p:cSld name="Generated (g3f68e7f2f61_23_0)">
    <p:spTree>
      <p:nvGrpSpPr>
        <p:cNvPr id="185" name="Shape 18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slideLayout" Target="../slideLayouts/slideLayout24.xml"/><Relationship Id="rId13" Type="http://schemas.openxmlformats.org/officeDocument/2006/relationships/slideLayout" Target="../slideLayouts/slideLayout25.xml"/><Relationship Id="rId1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2179782" y="365125"/>
            <a:ext cx="6834909"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7" name="Shape 97"/>
        <p:cNvGrpSpPr/>
        <p:nvPr/>
      </p:nvGrpSpPr>
      <p:grpSpPr>
        <a:xfrm>
          <a:off x="0" y="0"/>
          <a:ext cx="0" cy="0"/>
          <a:chOff x="0" y="0"/>
          <a:chExt cx="0" cy="0"/>
        </a:xfrm>
      </p:grpSpPr>
      <p:sp>
        <p:nvSpPr>
          <p:cNvPr id="98" name="Google Shape;98;p14"/>
          <p:cNvSpPr txBox="1"/>
          <p:nvPr>
            <p:ph type="title"/>
          </p:nvPr>
        </p:nvSpPr>
        <p:spPr>
          <a:xfrm>
            <a:off x="2179782" y="365125"/>
            <a:ext cx="6834900" cy="13257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99" name="Google Shape;99;p14"/>
          <p:cNvSpPr txBox="1"/>
          <p:nvPr>
            <p:ph idx="1" type="body"/>
          </p:nvPr>
        </p:nvSpPr>
        <p:spPr>
          <a:xfrm>
            <a:off x="838200" y="1825625"/>
            <a:ext cx="10515600" cy="4351200"/>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00" name="Google Shape;100;p14"/>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1" name="Google Shape;101;p14"/>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2" name="Google Shape;102;p14"/>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lgn="ctr"/>
            <a:r>
              <a:rPr sz="3600" b="1">
                <a:solidFill>
                  <a:srgbClr val="E31837"/>
                </a:solidFill>
                <a:latin typeface="Calibri"/>
              </a:rPr>
              <a:t>Weekly Report - Week 5</a:t>
            </a:r>
          </a:p>
        </p:txBody>
      </p:sp>
      <p:sp>
        <p:nvSpPr>
          <p:cNvPr id="3" name="TextBox 2"/>
          <p:cNvSpPr txBox="1"/>
          <p:nvPr/>
        </p:nvSpPr>
        <p:spPr>
          <a:xfrm>
            <a:off x="1527048" y="5138928"/>
            <a:ext cx="9144000" cy="411480"/>
          </a:xfrm>
          <a:prstGeom prst="rect">
            <a:avLst/>
          </a:prstGeom>
          <a:noFill/>
        </p:spPr>
        <p:txBody>
          <a:bodyPr wrap="none">
            <a:spAutoFit/>
          </a:bodyPr>
          <a:lstStyle/>
          <a:p>
            <a:pPr algn="ctr"/>
            <a:r>
              <a:rPr sz="2100" b="0" i="0">
                <a:solidFill>
                  <a:srgbClr val="1E1E1E"/>
                </a:solidFill>
                <a:latin typeface="Calibri"/>
              </a:rPr>
              <a:t>10/09/2026</a:t>
            </a:r>
          </a:p>
        </p:txBody>
      </p:sp>
      <p:sp>
        <p:nvSpPr>
          <p:cNvPr id="4" name="TextBox 3"/>
          <p:cNvSpPr txBox="1"/>
          <p:nvPr/>
        </p:nvSpPr>
        <p:spPr>
          <a:xfrm>
            <a:off x="73152" y="6053328"/>
            <a:ext cx="4023360" cy="777240"/>
          </a:xfrm>
          <a:prstGeom prst="rect">
            <a:avLst/>
          </a:prstGeom>
          <a:noFill/>
        </p:spPr>
        <p:txBody>
          <a:bodyPr wrap="none">
            <a:spAutoFit/>
          </a:bodyPr>
          <a:lstStyle/>
          <a:p>
            <a:pPr>
              <a:spcAft>
                <a:spcPts val="0"/>
              </a:spcAft>
            </a:pPr>
            <a:r>
              <a:rPr sz="1400" b="1" i="0">
                <a:solidFill>
                  <a:srgbClr val="1E1E1E"/>
                </a:solidFill>
                <a:latin typeface="Calibri"/>
              </a:rPr>
              <a:t>Ronak Singh (BS-MS 4th Year)</a:t>
            </a:r>
          </a:p>
          <a:p>
            <a:pPr>
              <a:spcAft>
                <a:spcPts val="0"/>
              </a:spcAft>
            </a:pPr>
            <a:r>
              <a:rPr sz="1400" b="1" i="0">
                <a:solidFill>
                  <a:srgbClr val="1E1E1E"/>
                </a:solidFill>
                <a:latin typeface="Calibri"/>
              </a:rPr>
              <a:t>IMS23319</a:t>
            </a:r>
          </a:p>
          <a:p>
            <a:pPr>
              <a:spcAft>
                <a:spcPts val="0"/>
              </a:spcAft>
            </a:pPr>
            <a:r>
              <a:rPr sz="1400" b="1" i="0">
                <a:solidFill>
                  <a:srgbClr val="1E1E1E"/>
                </a:solidFill>
                <a:latin typeface="Calibri"/>
              </a:rPr>
              <a:t>School of Physics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E31837"/>
                </a:solidFill>
                <a:latin typeface="Calibri"/>
              </a:rPr>
              <a:t>➢ Summary</a:t>
            </a:r>
          </a:p>
        </p:txBody>
      </p:sp>
      <p:sp>
        <p:nvSpPr>
          <p:cNvPr id="3" name="Rounded Rectangle 2"/>
          <p:cNvSpPr/>
          <p:nvPr/>
        </p:nvSpPr>
        <p:spPr>
          <a:xfrm>
            <a:off x="640080" y="1481328"/>
            <a:ext cx="5074920" cy="4526280"/>
          </a:xfrm>
          <a:prstGeom prst="roundRect">
            <a:avLst/>
          </a:prstGeom>
          <a:solidFill>
            <a:srgbClr val="F6F7F9"/>
          </a:solidFill>
          <a:ln w="12700">
            <a:solidFill>
              <a:srgbClr val="D9DDE4"/>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4592"/>
          <a:lstStyle/>
          <a:p>
            <a:pPr algn="ctr">
              <a:spcAft>
                <a:spcPts val="900"/>
              </a:spcAft>
            </a:pPr>
            <a:r>
              <a:rPr sz="1900" b="1" i="0">
                <a:solidFill>
                  <a:srgbClr val="E31837"/>
                </a:solidFill>
                <a:latin typeface="Calibri"/>
              </a:rPr>
              <a:t>This Week's Focus</a:t>
            </a:r>
          </a:p>
          <a:p>
            <a:pPr>
              <a:spcAft>
                <a:spcPts val="700"/>
              </a:spcAft>
            </a:pPr>
            <a:r>
              <a:rPr sz="1450" b="0" i="0">
                <a:solidFill>
                  <a:srgbClr val="1E1E1E"/>
                </a:solidFill>
                <a:latin typeface="Calibri"/>
              </a:rPr>
              <a:t>•  </a:t>
            </a:r>
            <a:r>
              <a:rPr sz="1450" b="1" i="0">
                <a:solidFill>
                  <a:srgbClr val="1E1E1E"/>
                </a:solidFill>
                <a:latin typeface="Calibri"/>
              </a:rPr>
              <a:t>Environment: </a:t>
            </a:r>
            <a:r>
              <a:rPr sz="1450" b="0" i="0">
                <a:solidFill>
                  <a:srgbClr val="1E1E1E"/>
                </a:solidFill>
                <a:latin typeface="Calibri"/>
              </a:rPr>
              <a:t>moved the whole project from Windows + WSL2 to a Fedora 44 dual boot.</a:t>
            </a:r>
          </a:p>
          <a:p>
            <a:pPr>
              <a:spcAft>
                <a:spcPts val="700"/>
              </a:spcAft>
            </a:pPr>
            <a:r>
              <a:rPr sz="1450" b="0" i="0">
                <a:solidFill>
                  <a:srgbClr val="1E1E1E"/>
                </a:solidFill>
                <a:latin typeface="Calibri"/>
              </a:rPr>
              <a:t>•  </a:t>
            </a:r>
            <a:r>
              <a:rPr sz="1450" b="1" i="0">
                <a:solidFill>
                  <a:srgbClr val="1E1E1E"/>
                </a:solidFill>
                <a:latin typeface="Calibri"/>
              </a:rPr>
              <a:t>Baseline: </a:t>
            </a:r>
            <a:r>
              <a:rPr sz="1450" b="0" i="0">
                <a:solidFill>
                  <a:srgbClr val="1E1E1E"/>
                </a:solidFill>
                <a:latin typeface="Calibri"/>
              </a:rPr>
              <a:t>diagnosed why the authors' tf_unet scored only F1 0.39 on our synthetic dataset, and fixed it.</a:t>
            </a:r>
          </a:p>
          <a:p>
            <a:pPr>
              <a:spcAft>
                <a:spcPts val="700"/>
              </a:spcAft>
            </a:pPr>
            <a:r>
              <a:rPr sz="1450" b="0" i="0">
                <a:solidFill>
                  <a:srgbClr val="1E1E1E"/>
                </a:solidFill>
                <a:latin typeface="Calibri"/>
              </a:rPr>
              <a:t>•  </a:t>
            </a:r>
            <a:r>
              <a:rPr sz="1450" b="1" i="0">
                <a:solidFill>
                  <a:srgbClr val="1E1E1E"/>
                </a:solidFill>
                <a:latin typeface="Calibri"/>
              </a:rPr>
              <a:t>Datasets: </a:t>
            </a:r>
            <a:r>
              <a:rPr sz="1450" b="0" i="0">
                <a:solidFill>
                  <a:srgbClr val="1E1E1E"/>
                </a:solidFill>
                <a:latin typeface="Calibri"/>
              </a:rPr>
              <a:t>audited HERA and the full LOFAR dataset (9.3 GB, real telescope data).</a:t>
            </a:r>
          </a:p>
          <a:p>
            <a:pPr>
              <a:spcAft>
                <a:spcPts val="700"/>
              </a:spcAft>
            </a:pPr>
            <a:r>
              <a:rPr sz="1450" b="0" i="0">
                <a:solidFill>
                  <a:srgbClr val="1E1E1E"/>
                </a:solidFill>
                <a:latin typeface="Calibri"/>
              </a:rPr>
              <a:t>•  </a:t>
            </a:r>
            <a:r>
              <a:rPr sz="1450" b="1" i="0">
                <a:solidFill>
                  <a:srgbClr val="1E1E1E"/>
                </a:solidFill>
                <a:latin typeface="Calibri"/>
              </a:rPr>
              <a:t>Real data: </a:t>
            </a:r>
            <a:r>
              <a:rPr sz="1450" b="0" i="0">
                <a:solidFill>
                  <a:srgbClr val="1E1E1E"/>
                </a:solidFill>
                <a:latin typeface="Calibri"/>
              </a:rPr>
              <a:t>ran the authors' tf_unet on 109 human-expert-labelled LOFAR baselines.</a:t>
            </a:r>
          </a:p>
        </p:txBody>
      </p:sp>
      <p:sp>
        <p:nvSpPr>
          <p:cNvPr id="4" name="Rounded Rectangle 3"/>
          <p:cNvSpPr/>
          <p:nvPr/>
        </p:nvSpPr>
        <p:spPr>
          <a:xfrm>
            <a:off x="6035040" y="1481328"/>
            <a:ext cx="5440680" cy="4526280"/>
          </a:xfrm>
          <a:prstGeom prst="roundRect">
            <a:avLst/>
          </a:prstGeom>
          <a:solidFill>
            <a:srgbClr val="F6F7F9"/>
          </a:solidFill>
          <a:ln w="12700">
            <a:solidFill>
              <a:srgbClr val="D9DDE4"/>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64592"/>
          <a:lstStyle/>
          <a:p>
            <a:pPr algn="ctr">
              <a:spcAft>
                <a:spcPts val="900"/>
              </a:spcAft>
            </a:pPr>
            <a:r>
              <a:rPr sz="1900" b="1" i="0">
                <a:solidFill>
                  <a:srgbClr val="E31837"/>
                </a:solidFill>
                <a:latin typeface="Calibri"/>
              </a:rPr>
              <a:t>Headline Results</a:t>
            </a:r>
          </a:p>
          <a:p>
            <a:pPr>
              <a:spcAft>
                <a:spcPts val="500"/>
              </a:spcAft>
            </a:pPr>
            <a:r>
              <a:rPr sz="1550" b="1" i="0">
                <a:solidFill>
                  <a:srgbClr val="0F2043"/>
                </a:solidFill>
                <a:latin typeface="Calibri"/>
              </a:rPr>
              <a:t>Authors' tf_unet, unmodified code</a:t>
            </a:r>
          </a:p>
          <a:p>
            <a:pPr>
              <a:spcAft>
                <a:spcPts val="700"/>
              </a:spcAft>
            </a:pPr>
            <a:r>
              <a:rPr sz="1450" b="0" i="0">
                <a:solidFill>
                  <a:srgbClr val="1E1E1E"/>
                </a:solidFill>
                <a:latin typeface="Calibri"/>
              </a:rPr>
              <a:t>•  </a:t>
            </a:r>
            <a:r>
              <a:rPr sz="1450" b="1" i="0">
                <a:solidFill>
                  <a:srgbClr val="1E1E1E"/>
                </a:solidFill>
                <a:latin typeface="Calibri"/>
              </a:rPr>
              <a:t>Synthetic: </a:t>
            </a:r>
            <a:r>
              <a:rPr sz="1450" b="0" i="0">
                <a:solidFill>
                  <a:srgbClr val="1E1E1E"/>
                </a:solidFill>
                <a:latin typeface="Calibri"/>
              </a:rPr>
              <a:t>F1 0.3879 → 0.9317 by changing only normalisation and class weights.</a:t>
            </a:r>
          </a:p>
          <a:p>
            <a:pPr>
              <a:spcAft>
                <a:spcPts val="700"/>
              </a:spcAft>
            </a:pPr>
            <a:r>
              <a:rPr sz="1450" b="0" i="0">
                <a:solidFill>
                  <a:srgbClr val="1E1E1E"/>
                </a:solidFill>
                <a:latin typeface="Calibri"/>
              </a:rPr>
              <a:t>•  </a:t>
            </a:r>
            <a:r>
              <a:rPr sz="1450" b="1" i="0">
                <a:solidFill>
                  <a:srgbClr val="1E1E1E"/>
                </a:solidFill>
                <a:latin typeface="Calibri"/>
              </a:rPr>
              <a:t>Cause: </a:t>
            </a:r>
            <a:r>
              <a:rPr sz="1450" b="0" i="0">
                <a:solidFill>
                  <a:srgbClr val="1E1E1E"/>
                </a:solidFill>
                <a:latin typeface="Calibri"/>
              </a:rPr>
              <a:t>class weighting 66% of the gap, normalisation 34%, epoch count ~0%.</a:t>
            </a:r>
          </a:p>
          <a:p>
            <a:pPr>
              <a:spcAft>
                <a:spcPts val="700"/>
              </a:spcAft>
            </a:pPr>
            <a:r>
              <a:rPr sz="1450" b="0" i="0">
                <a:solidFill>
                  <a:srgbClr val="1E1E1E"/>
                </a:solidFill>
                <a:latin typeface="Calibri"/>
              </a:rPr>
              <a:t>•  </a:t>
            </a:r>
            <a:r>
              <a:rPr sz="1450" b="1" i="0">
                <a:solidFill>
                  <a:srgbClr val="1E1E1E"/>
                </a:solidFill>
                <a:latin typeface="Calibri"/>
              </a:rPr>
              <a:t>Real LOFAR: </a:t>
            </a:r>
            <a:r>
              <a:rPr sz="1450" b="0" i="0">
                <a:solidFill>
                  <a:srgbClr val="1E1E1E"/>
                </a:solidFill>
                <a:latin typeface="Calibri"/>
              </a:rPr>
              <a:t>F1 0.5482 ± 0.0139 — essentially reproduces the published U-Net (0.5876).</a:t>
            </a:r>
          </a:p>
          <a:p>
            <a:pPr>
              <a:spcAft>
                <a:spcPts val="700"/>
              </a:spcAft>
            </a:pPr>
            <a:r>
              <a:rPr sz="1450" b="0" i="0">
                <a:solidFill>
                  <a:srgbClr val="1E1E1E"/>
                </a:solidFill>
                <a:latin typeface="Calibri"/>
              </a:rPr>
              <a:t>•  </a:t>
            </a:r>
            <a:r>
              <a:rPr sz="1450" b="1" i="0">
                <a:solidFill>
                  <a:srgbClr val="1E1E1E"/>
                </a:solidFill>
                <a:latin typeface="Calibri"/>
              </a:rPr>
              <a:t>Key number: </a:t>
            </a:r>
            <a:r>
              <a:rPr sz="1450" b="0" i="0">
                <a:solidFill>
                  <a:srgbClr val="1E1E1E"/>
                </a:solidFill>
                <a:latin typeface="Calibri"/>
              </a:rPr>
              <a:t>the same code drops −0.383 F1 going from our synthetic data to real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E31837"/>
                </a:solidFill>
                <a:latin typeface="Calibri"/>
              </a:rPr>
              <a:t>➢ Why we moved to Linux</a:t>
            </a:r>
          </a:p>
        </p:txBody>
      </p:sp>
      <p:sp>
        <p:nvSpPr>
          <p:cNvPr id="3" name="TextBox 2"/>
          <p:cNvSpPr txBox="1"/>
          <p:nvPr/>
        </p:nvSpPr>
        <p:spPr>
          <a:xfrm>
            <a:off x="777240" y="1572768"/>
            <a:ext cx="10607040" cy="4754880"/>
          </a:xfrm>
          <a:prstGeom prst="rect">
            <a:avLst/>
          </a:prstGeom>
          <a:noFill/>
        </p:spPr>
        <p:txBody>
          <a:bodyPr wrap="square">
            <a:spAutoFit/>
          </a:bodyPr>
          <a:lstStyle/>
          <a:p>
            <a:pPr>
              <a:spcAft>
                <a:spcPts val="900"/>
              </a:spcAft>
            </a:pPr>
            <a:r>
              <a:rPr sz="1700" b="1" i="0">
                <a:solidFill>
                  <a:srgbClr val="0F2043"/>
                </a:solidFill>
                <a:latin typeface="Calibri"/>
              </a:rPr>
              <a:t>The blocker</a:t>
            </a:r>
          </a:p>
          <a:p>
            <a:pPr>
              <a:spcAft>
                <a:spcPts val="700"/>
              </a:spcAft>
            </a:pPr>
            <a:r>
              <a:rPr sz="1550" b="0" i="0">
                <a:solidFill>
                  <a:srgbClr val="1E1E1E"/>
                </a:solidFill>
                <a:latin typeface="Calibri"/>
              </a:rPr>
              <a:t>•  </a:t>
            </a:r>
            <a:r>
              <a:rPr sz="1550" b="1" i="0">
                <a:solidFill>
                  <a:srgbClr val="1E1E1E"/>
                </a:solidFill>
                <a:latin typeface="Calibri"/>
              </a:rPr>
              <a:t>WSL2 splits the RAM. </a:t>
            </a:r>
            <a:r>
              <a:rPr sz="1550" b="0" i="0">
                <a:solidFill>
                  <a:srgbClr val="1E1E1E"/>
                </a:solidFill>
                <a:latin typeface="Calibri"/>
              </a:rPr>
              <a:t>It defaults to roughly half of system memory. This machine has 19 GB, so WSL2 saw about 9 GB — and the LOFAR dataset alone is 9.3 GB.</a:t>
            </a:r>
          </a:p>
          <a:p>
            <a:pPr>
              <a:spcAft>
                <a:spcPts val="700"/>
              </a:spcAft>
            </a:pPr>
            <a:r>
              <a:rPr sz="1550" b="0" i="0">
                <a:solidFill>
                  <a:srgbClr val="1E1E1E"/>
                </a:solidFill>
                <a:latin typeface="Calibri"/>
              </a:rPr>
              <a:t>•  </a:t>
            </a:r>
            <a:r>
              <a:rPr sz="1550" b="1" i="0">
                <a:solidFill>
                  <a:srgbClr val="1E1E1E"/>
                </a:solidFill>
                <a:latin typeface="Calibri"/>
              </a:rPr>
              <a:t>Result: </a:t>
            </a:r>
            <a:r>
              <a:rPr sz="1550" b="0" i="0">
                <a:solidFill>
                  <a:srgbClr val="1E1E1E"/>
                </a:solidFill>
                <a:latin typeface="Calibri"/>
              </a:rPr>
              <a:t>the dataset could not be opened at all. Work was blocked, not just slow.</a:t>
            </a:r>
          </a:p>
          <a:p>
            <a:pPr>
              <a:spcAft>
                <a:spcPts val="700"/>
              </a:spcAft>
            </a:pPr>
            <a:r>
              <a:rPr sz="1550" b="0" i="0">
                <a:solidFill>
                  <a:srgbClr val="1E1E1E"/>
                </a:solidFill>
                <a:latin typeface="Calibri"/>
              </a:rPr>
              <a:t>•  </a:t>
            </a:r>
            <a:r>
              <a:rPr sz="1550" b="1" i="0">
                <a:solidFill>
                  <a:srgbClr val="1E1E1E"/>
                </a:solidFill>
                <a:latin typeface="Calibri"/>
              </a:rPr>
              <a:t>Supervisor's advice: </a:t>
            </a:r>
            <a:r>
              <a:rPr sz="1550" b="0" i="0">
                <a:solidFill>
                  <a:srgbClr val="1E1E1E"/>
                </a:solidFill>
                <a:latin typeface="Calibri"/>
              </a:rPr>
              <a:t>do the whole project on a native Linux dual boot.</a:t>
            </a:r>
          </a:p>
          <a:p>
            <a:pPr>
              <a:spcAft>
                <a:spcPts val="900"/>
              </a:spcAft>
            </a:pPr>
            <a:r>
              <a:rPr sz="1700" b="1" i="0">
                <a:solidFill>
                  <a:srgbClr val="0F2043"/>
                </a:solidFill>
                <a:latin typeface="Calibri"/>
              </a:rPr>
              <a:t>Being honest about it</a:t>
            </a:r>
          </a:p>
          <a:p>
            <a:pPr>
              <a:spcAft>
                <a:spcPts val="700"/>
              </a:spcAft>
            </a:pPr>
            <a:r>
              <a:rPr sz="1550" b="0" i="0">
                <a:solidFill>
                  <a:srgbClr val="1E1E1E"/>
                </a:solidFill>
                <a:latin typeface="Calibri"/>
              </a:rPr>
              <a:t>•  </a:t>
            </a:r>
            <a:r>
              <a:rPr sz="1550" b="1" i="0">
                <a:solidFill>
                  <a:srgbClr val="1E1E1E"/>
                </a:solidFill>
                <a:latin typeface="Calibri"/>
              </a:rPr>
              <a:t>That specific problem had a two-line fix. </a:t>
            </a:r>
            <a:r>
              <a:rPr sz="1550" b="0" i="0">
                <a:solidFill>
                  <a:srgbClr val="1E1E1E"/>
                </a:solidFill>
                <a:latin typeface="Calibri"/>
              </a:rPr>
              <a:t>A .wslconfig file with memory=24GB, then wsl --shutdown, would have raised the limit.</a:t>
            </a:r>
          </a:p>
          <a:p>
            <a:pPr>
              <a:spcAft>
                <a:spcPts val="700"/>
              </a:spcAft>
            </a:pPr>
            <a:r>
              <a:rPr sz="1550" b="0" i="0">
                <a:solidFill>
                  <a:srgbClr val="1E1E1E"/>
                </a:solidFill>
                <a:latin typeface="Calibri"/>
              </a:rPr>
              <a:t>•  </a:t>
            </a:r>
            <a:r>
              <a:rPr sz="1550" b="1" i="0">
                <a:solidFill>
                  <a:srgbClr val="1E1E1E"/>
                </a:solidFill>
                <a:latin typeface="Calibri"/>
              </a:rPr>
              <a:t>We moved anyway, </a:t>
            </a:r>
            <a:r>
              <a:rPr sz="1550" b="0" i="0">
                <a:solidFill>
                  <a:srgbClr val="1E1E1E"/>
                </a:solidFill>
                <a:latin typeface="Calibri"/>
              </a:rPr>
              <a:t>because a native install is the better long-term setup — full VRAM, no translation layer, and the GPU is driven directly. But if asked whether WSL2 “couldn’t” do it, the honest answer is that it could have.</a:t>
            </a:r>
          </a:p>
        </p:txBody>
      </p:sp>
      <p:sp>
        <p:nvSpPr>
          <p:cNvPr id="4" name="TextBox 3"/>
          <p:cNvSpPr txBox="1"/>
          <p:nvPr/>
        </p:nvSpPr>
        <p:spPr>
          <a:xfrm>
            <a:off x="822960" y="6263640"/>
            <a:ext cx="10607040" cy="365760"/>
          </a:xfrm>
          <a:prstGeom prst="rect">
            <a:avLst/>
          </a:prstGeom>
          <a:noFill/>
        </p:spPr>
        <p:txBody>
          <a:bodyPr wrap="square">
            <a:spAutoFit/>
          </a:bodyPr>
          <a:lstStyle/>
          <a:p>
            <a:pPr>
              <a:spcAft>
                <a:spcPts val="700"/>
              </a:spcAft>
            </a:pPr>
            <a:r>
              <a:rPr sz="1100" b="0" i="1">
                <a:solidFill>
                  <a:srgbClr val="5A6170"/>
                </a:solidFill>
                <a:latin typeface="Calibri"/>
              </a:rPr>
              <a:t>Windows + WSL2 still works and now holds the only second copy of the weights and datasets — it is our backup.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E31837"/>
                </a:solidFill>
                <a:latin typeface="Calibri"/>
              </a:rPr>
              <a:t>➢ The migration — and what broke</a:t>
            </a:r>
          </a:p>
        </p:txBody>
      </p:sp>
      <p:sp>
        <p:nvSpPr>
          <p:cNvPr id="3" name="TextBox 2"/>
          <p:cNvSpPr txBox="1"/>
          <p:nvPr/>
        </p:nvSpPr>
        <p:spPr>
          <a:xfrm>
            <a:off x="777240" y="1572768"/>
            <a:ext cx="5120640" cy="4846320"/>
          </a:xfrm>
          <a:prstGeom prst="rect">
            <a:avLst/>
          </a:prstGeom>
          <a:noFill/>
        </p:spPr>
        <p:txBody>
          <a:bodyPr wrap="square">
            <a:spAutoFit/>
          </a:bodyPr>
          <a:lstStyle/>
          <a:p>
            <a:pPr>
              <a:spcAft>
                <a:spcPts val="800"/>
              </a:spcAft>
            </a:pPr>
            <a:r>
              <a:rPr sz="1650" b="1" i="0">
                <a:solidFill>
                  <a:srgbClr val="0F2043"/>
                </a:solidFill>
                <a:latin typeface="Calibri"/>
              </a:rPr>
              <a:t>Four problems, all now fixed</a:t>
            </a:r>
          </a:p>
          <a:p>
            <a:pPr>
              <a:spcAft>
                <a:spcPts val="700"/>
              </a:spcAft>
            </a:pPr>
            <a:r>
              <a:rPr sz="1400" b="0" i="0">
                <a:solidFill>
                  <a:srgbClr val="1E1E1E"/>
                </a:solidFill>
                <a:latin typeface="Calibri"/>
              </a:rPr>
              <a:t>•  </a:t>
            </a:r>
            <a:r>
              <a:rPr sz="1400" b="1" i="0">
                <a:solidFill>
                  <a:srgbClr val="1E1E1E"/>
                </a:solidFill>
                <a:latin typeface="Calibri"/>
              </a:rPr>
              <a:t>USB was FAT32: </a:t>
            </a:r>
            <a:r>
              <a:rPr sz="1400" b="0" i="0">
                <a:solidFill>
                  <a:srgbClr val="1E1E1E"/>
                </a:solidFill>
                <a:latin typeface="Calibri"/>
              </a:rPr>
              <a:t>4 GB per-file ceiling. The 9.3 GB LOFAR file could not pass through it — re-downloaded directly onto Linux.</a:t>
            </a:r>
          </a:p>
          <a:p>
            <a:pPr>
              <a:spcAft>
                <a:spcPts val="700"/>
              </a:spcAft>
            </a:pPr>
            <a:r>
              <a:rPr sz="1400" b="0" i="0">
                <a:solidFill>
                  <a:srgbClr val="1E1E1E"/>
                </a:solidFill>
                <a:latin typeface="Calibri"/>
              </a:rPr>
              <a:t>•  </a:t>
            </a:r>
            <a:r>
              <a:rPr sz="1400" b="1" i="0">
                <a:solidFill>
                  <a:srgbClr val="1E1E1E"/>
                </a:solidFill>
                <a:latin typeface="Calibri"/>
              </a:rPr>
              <a:t>Incomplete copy: </a:t>
            </a:r>
            <a:r>
              <a:rPr sz="1400" b="0" i="0">
                <a:solidFill>
                  <a:srgbClr val="1E1E1E"/>
                </a:solidFill>
                <a:latin typeface="Calibri"/>
              </a:rPr>
              <a:t>6 tracked files and a whole results folder were missing. Found in three separate rounds.</a:t>
            </a:r>
          </a:p>
          <a:p>
            <a:pPr>
              <a:spcAft>
                <a:spcPts val="700"/>
              </a:spcAft>
            </a:pPr>
            <a:r>
              <a:rPr sz="1400" b="0" i="0">
                <a:solidFill>
                  <a:srgbClr val="1E1E1E"/>
                </a:solidFill>
                <a:latin typeface="Calibri"/>
              </a:rPr>
              <a:t>•  </a:t>
            </a:r>
            <a:r>
              <a:rPr sz="1400" b="1" i="0">
                <a:solidFill>
                  <a:srgbClr val="1E1E1E"/>
                </a:solidFill>
                <a:latin typeface="Calibri"/>
              </a:rPr>
              <a:t>CRLF line endings: </a:t>
            </a:r>
            <a:r>
              <a:rPr sz="1400" b="0" i="0">
                <a:solidFill>
                  <a:srgbClr val="1E1E1E"/>
                </a:solidFill>
                <a:latin typeface="Calibri"/>
              </a:rPr>
              <a:t>git reported 26 modified files and 4,702 insertions; only 3 files and 61 lines were real.</a:t>
            </a:r>
          </a:p>
          <a:p>
            <a:pPr>
              <a:spcAft>
                <a:spcPts val="700"/>
              </a:spcAft>
            </a:pPr>
            <a:r>
              <a:rPr sz="1400" b="0" i="0">
                <a:solidFill>
                  <a:srgbClr val="1E1E1E"/>
                </a:solidFill>
                <a:latin typeface="Calibri"/>
              </a:rPr>
              <a:t>•  </a:t>
            </a:r>
            <a:r>
              <a:rPr sz="1400" b="1" i="0">
                <a:solidFill>
                  <a:srgbClr val="1E1E1E"/>
                </a:solidFill>
                <a:latin typeface="Calibri"/>
              </a:rPr>
              <a:t>Secure Boot + kernel: </a:t>
            </a:r>
            <a:r>
              <a:rPr sz="1400" b="0" i="0">
                <a:solidFill>
                  <a:srgbClr val="1E1E1E"/>
                </a:solidFill>
                <a:latin typeface="Calibri"/>
              </a:rPr>
              <a:t>had to be disabled for the NVIDIA driver; kernel 7.1.10 breaks the desktop on the RTX 3060, so 6.19.10 is pinned.</a:t>
            </a:r>
          </a:p>
        </p:txBody>
      </p:sp>
      <p:sp>
        <p:nvSpPr>
          <p:cNvPr id="4" name="TextBox 3"/>
          <p:cNvSpPr txBox="1"/>
          <p:nvPr/>
        </p:nvSpPr>
        <p:spPr>
          <a:xfrm>
            <a:off x="6080760" y="1572768"/>
            <a:ext cx="5349240" cy="4846320"/>
          </a:xfrm>
          <a:prstGeom prst="rect">
            <a:avLst/>
          </a:prstGeom>
          <a:noFill/>
        </p:spPr>
        <p:txBody>
          <a:bodyPr wrap="square">
            <a:spAutoFit/>
          </a:bodyPr>
          <a:lstStyle/>
          <a:p>
            <a:pPr>
              <a:spcAft>
                <a:spcPts val="800"/>
              </a:spcAft>
            </a:pPr>
            <a:r>
              <a:rPr sz="1650" b="1" i="0">
                <a:solidFill>
                  <a:srgbClr val="0F2043"/>
                </a:solidFill>
                <a:latin typeface="Calibri"/>
              </a:rPr>
              <a:t>Verified working after the move</a:t>
            </a:r>
          </a:p>
        </p:txBody>
      </p:sp>
      <p:graphicFrame>
        <p:nvGraphicFramePr>
          <p:cNvPr id="5" name="Table 4"/>
          <p:cNvGraphicFramePr>
            <a:graphicFrameLocks noGrp="1"/>
          </p:cNvGraphicFramePr>
          <p:nvPr/>
        </p:nvGraphicFramePr>
        <p:xfrm>
          <a:off x="6080760" y="1965960"/>
          <a:ext cx="5349240" cy="2487168"/>
        </p:xfrm>
        <a:graphic>
          <a:graphicData uri="http://schemas.openxmlformats.org/drawingml/2006/table">
            <a:tbl>
              <a:tblPr>
                <a:tableStyleId>{5C22544A-7EE6-4342-B048-85BDC9FD1C3A}</a:tableStyleId>
              </a:tblPr>
              <a:tblGrid>
                <a:gridCol w="2674620"/>
                <a:gridCol w="2674620"/>
              </a:tblGrid>
              <a:tr h="310896">
                <a:tc>
                  <a:txBody>
                    <a:bodyPr wrap="square"/>
                    <a:lstStyle/>
                    <a:p>
                      <a:pPr algn="l"/>
                      <a:r>
                        <a:rPr sz="1250" b="1">
                          <a:solidFill>
                            <a:srgbClr val="FFFFFF"/>
                          </a:solidFill>
                          <a:latin typeface="Calibri"/>
                        </a:rPr>
                        <a:t>Component</a:t>
                      </a:r>
                    </a:p>
                  </a:txBody>
                  <a:tcPr marL="54864" marR="54864" marT="18288" marB="18288">
                    <a:solidFill>
                      <a:srgbClr val="0F2043"/>
                    </a:solidFill>
                  </a:tcPr>
                </a:tc>
                <a:tc>
                  <a:txBody>
                    <a:bodyPr wrap="square"/>
                    <a:lstStyle/>
                    <a:p>
                      <a:pPr algn="ctr"/>
                      <a:r>
                        <a:rPr sz="1250" b="1">
                          <a:solidFill>
                            <a:srgbClr val="FFFFFF"/>
                          </a:solidFill>
                          <a:latin typeface="Calibri"/>
                        </a:rPr>
                        <a:t>Version</a:t>
                      </a:r>
                    </a:p>
                  </a:txBody>
                  <a:tcPr marL="54864" marR="54864" marT="18288" marB="18288">
                    <a:solidFill>
                      <a:srgbClr val="0F2043"/>
                    </a:solidFill>
                  </a:tcPr>
                </a:tc>
              </a:tr>
              <a:tr h="310896">
                <a:tc>
                  <a:txBody>
                    <a:bodyPr wrap="square"/>
                    <a:lstStyle/>
                    <a:p>
                      <a:pPr algn="l"/>
                      <a:r>
                        <a:rPr sz="1250">
                          <a:solidFill>
                            <a:srgbClr val="1E1E1E"/>
                          </a:solidFill>
                          <a:latin typeface="Calibri"/>
                        </a:rPr>
                        <a:t>OS</a:t>
                      </a:r>
                    </a:p>
                  </a:txBody>
                  <a:tcPr marL="54864" marR="54864" marT="18288" marB="18288">
                    <a:solidFill>
                      <a:srgbClr val="FFFFFF"/>
                    </a:solidFill>
                  </a:tcPr>
                </a:tc>
                <a:tc>
                  <a:txBody>
                    <a:bodyPr wrap="square"/>
                    <a:lstStyle/>
                    <a:p>
                      <a:pPr algn="ctr"/>
                      <a:r>
                        <a:rPr sz="1250">
                          <a:solidFill>
                            <a:srgbClr val="1E1E1E"/>
                          </a:solidFill>
                          <a:latin typeface="Calibri"/>
                        </a:rPr>
                        <a:t>Fedora 44</a:t>
                      </a:r>
                    </a:p>
                  </a:txBody>
                  <a:tcPr marL="54864" marR="54864" marT="18288" marB="18288">
                    <a:solidFill>
                      <a:srgbClr val="FFFFFF"/>
                    </a:solidFill>
                  </a:tcPr>
                </a:tc>
              </a:tr>
              <a:tr h="310896">
                <a:tc>
                  <a:txBody>
                    <a:bodyPr wrap="square"/>
                    <a:lstStyle/>
                    <a:p>
                      <a:pPr algn="l"/>
                      <a:r>
                        <a:rPr sz="1250">
                          <a:solidFill>
                            <a:srgbClr val="1E1E1E"/>
                          </a:solidFill>
                          <a:latin typeface="Calibri"/>
                        </a:rPr>
                        <a:t>Kernel</a:t>
                      </a:r>
                    </a:p>
                  </a:txBody>
                  <a:tcPr marL="54864" marR="54864" marT="18288" marB="18288">
                    <a:solidFill>
                      <a:srgbClr val="F3F5F8"/>
                    </a:solidFill>
                  </a:tcPr>
                </a:tc>
                <a:tc>
                  <a:txBody>
                    <a:bodyPr wrap="square"/>
                    <a:lstStyle/>
                    <a:p>
                      <a:pPr algn="ctr"/>
                      <a:r>
                        <a:rPr sz="1250">
                          <a:solidFill>
                            <a:srgbClr val="1E1E1E"/>
                          </a:solidFill>
                          <a:latin typeface="Calibri"/>
                        </a:rPr>
                        <a:t>6.19.10 (pinned)</a:t>
                      </a:r>
                    </a:p>
                  </a:txBody>
                  <a:tcPr marL="54864" marR="54864" marT="18288" marB="18288">
                    <a:solidFill>
                      <a:srgbClr val="F3F5F8"/>
                    </a:solidFill>
                  </a:tcPr>
                </a:tc>
              </a:tr>
              <a:tr h="310896">
                <a:tc>
                  <a:txBody>
                    <a:bodyPr wrap="square"/>
                    <a:lstStyle/>
                    <a:p>
                      <a:pPr algn="l"/>
                      <a:r>
                        <a:rPr sz="1250">
                          <a:solidFill>
                            <a:srgbClr val="1E1E1E"/>
                          </a:solidFill>
                          <a:latin typeface="Calibri"/>
                        </a:rPr>
                        <a:t>NVIDIA driver</a:t>
                      </a:r>
                    </a:p>
                  </a:txBody>
                  <a:tcPr marL="54864" marR="54864" marT="18288" marB="18288">
                    <a:solidFill>
                      <a:srgbClr val="FFFFFF"/>
                    </a:solidFill>
                  </a:tcPr>
                </a:tc>
                <a:tc>
                  <a:txBody>
                    <a:bodyPr wrap="square"/>
                    <a:lstStyle/>
                    <a:p>
                      <a:pPr algn="ctr"/>
                      <a:r>
                        <a:rPr sz="1250">
                          <a:solidFill>
                            <a:srgbClr val="1E1E1E"/>
                          </a:solidFill>
                          <a:latin typeface="Calibri"/>
                        </a:rPr>
                        <a:t>610.57.04</a:t>
                      </a:r>
                    </a:p>
                  </a:txBody>
                  <a:tcPr marL="54864" marR="54864" marT="18288" marB="18288">
                    <a:solidFill>
                      <a:srgbClr val="FFFFFF"/>
                    </a:solidFill>
                  </a:tcPr>
                </a:tc>
              </a:tr>
              <a:tr h="310896">
                <a:tc>
                  <a:txBody>
                    <a:bodyPr wrap="square"/>
                    <a:lstStyle/>
                    <a:p>
                      <a:pPr algn="l"/>
                      <a:r>
                        <a:rPr sz="1250">
                          <a:solidFill>
                            <a:srgbClr val="1E1E1E"/>
                          </a:solidFill>
                          <a:latin typeface="Calibri"/>
                        </a:rPr>
                        <a:t>CUDA</a:t>
                      </a:r>
                    </a:p>
                  </a:txBody>
                  <a:tcPr marL="54864" marR="54864" marT="18288" marB="18288">
                    <a:solidFill>
                      <a:srgbClr val="F3F5F8"/>
                    </a:solidFill>
                  </a:tcPr>
                </a:tc>
                <a:tc>
                  <a:txBody>
                    <a:bodyPr wrap="square"/>
                    <a:lstStyle/>
                    <a:p>
                      <a:pPr algn="ctr"/>
                      <a:r>
                        <a:rPr sz="1250">
                          <a:solidFill>
                            <a:srgbClr val="1E1E1E"/>
                          </a:solidFill>
                          <a:latin typeface="Calibri"/>
                        </a:rPr>
                        <a:t>13.3</a:t>
                      </a:r>
                    </a:p>
                  </a:txBody>
                  <a:tcPr marL="54864" marR="54864" marT="18288" marB="18288">
                    <a:solidFill>
                      <a:srgbClr val="F3F5F8"/>
                    </a:solidFill>
                  </a:tcPr>
                </a:tc>
              </a:tr>
              <a:tr h="310896">
                <a:tc>
                  <a:txBody>
                    <a:bodyPr wrap="square"/>
                    <a:lstStyle/>
                    <a:p>
                      <a:pPr algn="l"/>
                      <a:r>
                        <a:rPr sz="1250">
                          <a:solidFill>
                            <a:srgbClr val="1E1E1E"/>
                          </a:solidFill>
                          <a:latin typeface="Calibri"/>
                        </a:rPr>
                        <a:t>GPU</a:t>
                      </a:r>
                    </a:p>
                  </a:txBody>
                  <a:tcPr marL="54864" marR="54864" marT="18288" marB="18288">
                    <a:solidFill>
                      <a:srgbClr val="FFFFFF"/>
                    </a:solidFill>
                  </a:tcPr>
                </a:tc>
                <a:tc>
                  <a:txBody>
                    <a:bodyPr wrap="square"/>
                    <a:lstStyle/>
                    <a:p>
                      <a:pPr algn="ctr"/>
                      <a:r>
                        <a:rPr sz="1250">
                          <a:solidFill>
                            <a:srgbClr val="1E1E1E"/>
                          </a:solidFill>
                          <a:latin typeface="Calibri"/>
                        </a:rPr>
                        <a:t>RTX 3060 Laptop, 6144 MiB</a:t>
                      </a:r>
                    </a:p>
                  </a:txBody>
                  <a:tcPr marL="54864" marR="54864" marT="18288" marB="18288">
                    <a:solidFill>
                      <a:srgbClr val="FFFFFF"/>
                    </a:solidFill>
                  </a:tcPr>
                </a:tc>
              </a:tr>
              <a:tr h="310896">
                <a:tc>
                  <a:txBody>
                    <a:bodyPr wrap="square"/>
                    <a:lstStyle/>
                    <a:p>
                      <a:pPr algn="l"/>
                      <a:r>
                        <a:rPr sz="1250">
                          <a:solidFill>
                            <a:srgbClr val="1E1E1E"/>
                          </a:solidFill>
                          <a:latin typeface="Calibri"/>
                        </a:rPr>
                        <a:t>TensorFlow env</a:t>
                      </a:r>
                    </a:p>
                  </a:txBody>
                  <a:tcPr marL="54864" marR="54864" marT="18288" marB="18288">
                    <a:solidFill>
                      <a:srgbClr val="F3F5F8"/>
                    </a:solidFill>
                  </a:tcPr>
                </a:tc>
                <a:tc>
                  <a:txBody>
                    <a:bodyPr wrap="square"/>
                    <a:lstStyle/>
                    <a:p>
                      <a:pPr algn="ctr"/>
                      <a:r>
                        <a:rPr sz="1250">
                          <a:solidFill>
                            <a:srgbClr val="1E1E1E"/>
                          </a:solidFill>
                          <a:latin typeface="Calibri"/>
                        </a:rPr>
                        <a:t>Python 3.12 / TF 2.21.0</a:t>
                      </a:r>
                    </a:p>
                  </a:txBody>
                  <a:tcPr marL="54864" marR="54864" marT="18288" marB="18288">
                    <a:solidFill>
                      <a:srgbClr val="F3F5F8"/>
                    </a:solidFill>
                  </a:tcPr>
                </a:tc>
              </a:tr>
              <a:tr h="310896">
                <a:tc>
                  <a:txBody>
                    <a:bodyPr wrap="square"/>
                    <a:lstStyle/>
                    <a:p>
                      <a:pPr algn="l"/>
                      <a:r>
                        <a:rPr sz="1250">
                          <a:solidFill>
                            <a:srgbClr val="1E1E1E"/>
                          </a:solidFill>
                          <a:latin typeface="Calibri"/>
                        </a:rPr>
                        <a:t>PyTorch env</a:t>
                      </a:r>
                    </a:p>
                  </a:txBody>
                  <a:tcPr marL="54864" marR="54864" marT="18288" marB="18288">
                    <a:solidFill>
                      <a:srgbClr val="FFFFFF"/>
                    </a:solidFill>
                  </a:tcPr>
                </a:tc>
                <a:tc>
                  <a:txBody>
                    <a:bodyPr wrap="square"/>
                    <a:lstStyle/>
                    <a:p>
                      <a:pPr algn="ctr"/>
                      <a:r>
                        <a:rPr sz="1250">
                          <a:solidFill>
                            <a:srgbClr val="1E1E1E"/>
                          </a:solidFill>
                          <a:latin typeface="Calibri"/>
                        </a:rPr>
                        <a:t>Python 3.14 / torch 2.13.0</a:t>
                      </a:r>
                    </a:p>
                  </a:txBody>
                  <a:tcPr marL="54864" marR="54864" marT="18288" marB="18288">
                    <a:solidFill>
                      <a:srgbClr val="FFFFFF"/>
                    </a:solidFill>
                  </a:tcPr>
                </a:tc>
              </a:tr>
            </a:tbl>
          </a:graphicData>
        </a:graphic>
      </p:graphicFrame>
      <p:sp>
        <p:nvSpPr>
          <p:cNvPr id="6" name="TextBox 5"/>
          <p:cNvSpPr txBox="1"/>
          <p:nvPr/>
        </p:nvSpPr>
        <p:spPr>
          <a:xfrm>
            <a:off x="6080760" y="6035040"/>
            <a:ext cx="5394960" cy="365760"/>
          </a:xfrm>
          <a:prstGeom prst="rect">
            <a:avLst/>
          </a:prstGeom>
          <a:noFill/>
        </p:spPr>
        <p:txBody>
          <a:bodyPr wrap="square">
            <a:spAutoFit/>
          </a:bodyPr>
          <a:lstStyle/>
          <a:p>
            <a:pPr>
              <a:spcAft>
                <a:spcPts val="700"/>
              </a:spcAft>
            </a:pPr>
            <a:r>
              <a:rPr sz="1100" b="0" i="1">
                <a:solidFill>
                  <a:srgbClr val="5A6170"/>
                </a:solidFill>
                <a:latin typeface="Calibri"/>
              </a:rPr>
              <a:t>Lesson recorded: after any bulk copy, diff the file lists with comm before trusting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E31837"/>
                </a:solidFill>
                <a:latin typeface="Calibri"/>
              </a:rPr>
              <a:t>➢ Fitting the authors' tf_unet into 6 GB</a:t>
            </a:r>
          </a:p>
        </p:txBody>
      </p:sp>
      <p:sp>
        <p:nvSpPr>
          <p:cNvPr id="3" name="TextBox 2"/>
          <p:cNvSpPr txBox="1"/>
          <p:nvPr/>
        </p:nvSpPr>
        <p:spPr>
          <a:xfrm>
            <a:off x="777240" y="1572768"/>
            <a:ext cx="10607040" cy="1280160"/>
          </a:xfrm>
          <a:prstGeom prst="rect">
            <a:avLst/>
          </a:prstGeom>
          <a:noFill/>
        </p:spPr>
        <p:txBody>
          <a:bodyPr wrap="square">
            <a:spAutoFit/>
          </a:bodyPr>
          <a:lstStyle/>
          <a:p>
            <a:pPr>
              <a:spcAft>
                <a:spcPts val="800"/>
              </a:spcAft>
            </a:pPr>
            <a:r>
              <a:rPr sz="1550" b="0" i="0">
                <a:solidFill>
                  <a:srgbClr val="1E1E1E"/>
                </a:solidFill>
                <a:latin typeface="Calibri"/>
              </a:rPr>
              <a:t>Under WSL2 the Windows compositor shared the card, leaving roughly 3.5 GB usable. The authors' default settings did not fit, so batch size and normalisation had to be set deliberately rather than left at their defaults. On Fedora almost the full 6 GB is available.</a:t>
            </a:r>
          </a:p>
        </p:txBody>
      </p:sp>
      <p:graphicFrame>
        <p:nvGraphicFramePr>
          <p:cNvPr id="4" name="Table 3"/>
          <p:cNvGraphicFramePr>
            <a:graphicFrameLocks noGrp="1"/>
          </p:cNvGraphicFramePr>
          <p:nvPr/>
        </p:nvGraphicFramePr>
        <p:xfrm>
          <a:off x="822960" y="2880360"/>
          <a:ext cx="10515600" cy="1097280"/>
        </p:xfrm>
        <a:graphic>
          <a:graphicData uri="http://schemas.openxmlformats.org/drawingml/2006/table">
            <a:tbl>
              <a:tblPr>
                <a:tableStyleId>{5C22544A-7EE6-4342-B048-85BDC9FD1C3A}</a:tableStyleId>
              </a:tblPr>
              <a:tblGrid>
                <a:gridCol w="5181600"/>
                <a:gridCol w="1219200"/>
                <a:gridCol w="1676400"/>
                <a:gridCol w="2438400"/>
              </a:tblGrid>
              <a:tr h="365760">
                <a:tc>
                  <a:txBody>
                    <a:bodyPr wrap="square"/>
                    <a:lstStyle/>
                    <a:p>
                      <a:pPr algn="l"/>
                      <a:r>
                        <a:rPr sz="1350" b="1">
                          <a:solidFill>
                            <a:srgbClr val="FFFFFF"/>
                          </a:solidFill>
                          <a:latin typeface="Calibri"/>
                        </a:rPr>
                        <a:t>Configuration</a:t>
                      </a:r>
                    </a:p>
                  </a:txBody>
                  <a:tcPr marL="54864" marR="54864" marT="18288" marB="18288">
                    <a:solidFill>
                      <a:srgbClr val="0F2043"/>
                    </a:solidFill>
                  </a:tcPr>
                </a:tc>
                <a:tc>
                  <a:txBody>
                    <a:bodyPr wrap="square"/>
                    <a:lstStyle/>
                    <a:p>
                      <a:pPr algn="ctr"/>
                      <a:r>
                        <a:rPr sz="1350" b="1">
                          <a:solidFill>
                            <a:srgbClr val="FFFFFF"/>
                          </a:solidFill>
                          <a:latin typeface="Calibri"/>
                        </a:rPr>
                        <a:t>Batch</a:t>
                      </a:r>
                    </a:p>
                  </a:txBody>
                  <a:tcPr marL="54864" marR="54864" marT="18288" marB="18288">
                    <a:solidFill>
                      <a:srgbClr val="0F2043"/>
                    </a:solidFill>
                  </a:tcPr>
                </a:tc>
                <a:tc>
                  <a:txBody>
                    <a:bodyPr wrap="square"/>
                    <a:lstStyle/>
                    <a:p>
                      <a:pPr algn="ctr"/>
                      <a:r>
                        <a:rPr sz="1350" b="1">
                          <a:solidFill>
                            <a:srgbClr val="FFFFFF"/>
                          </a:solidFill>
                          <a:latin typeface="Calibri"/>
                        </a:rPr>
                        <a:t>VRAM</a:t>
                      </a:r>
                    </a:p>
                  </a:txBody>
                  <a:tcPr marL="54864" marR="54864" marT="18288" marB="18288">
                    <a:solidFill>
                      <a:srgbClr val="0F2043"/>
                    </a:solidFill>
                  </a:tcPr>
                </a:tc>
                <a:tc>
                  <a:txBody>
                    <a:bodyPr wrap="square"/>
                    <a:lstStyle/>
                    <a:p>
                      <a:pPr algn="ctr"/>
                      <a:r>
                        <a:rPr sz="1350" b="1">
                          <a:solidFill>
                            <a:srgbClr val="FFFFFF"/>
                          </a:solidFill>
                          <a:latin typeface="Calibri"/>
                        </a:rPr>
                        <a:t>ms / step</a:t>
                      </a:r>
                    </a:p>
                  </a:txBody>
                  <a:tcPr marL="54864" marR="54864" marT="18288" marB="18288">
                    <a:solidFill>
                      <a:srgbClr val="0F2043"/>
                    </a:solidFill>
                  </a:tcPr>
                </a:tc>
              </a:tr>
              <a:tr h="365760">
                <a:tc>
                  <a:txBody>
                    <a:bodyPr wrap="square"/>
                    <a:lstStyle/>
                    <a:p>
                      <a:pPr algn="l"/>
                      <a:r>
                        <a:rPr sz="1350" b="0">
                          <a:solidFill>
                            <a:srgbClr val="1E1E1E"/>
                          </a:solidFill>
                          <a:latin typeface="Calibri"/>
                        </a:rPr>
                        <a:t>tf_unet  layers=3, features_root=32</a:t>
                      </a:r>
                    </a:p>
                  </a:txBody>
                  <a:tcPr marL="54864" marR="54864" marT="18288" marB="18288">
                    <a:solidFill>
                      <a:srgbClr val="FFFFFF"/>
                    </a:solidFill>
                  </a:tcPr>
                </a:tc>
                <a:tc>
                  <a:txBody>
                    <a:bodyPr wrap="square"/>
                    <a:lstStyle/>
                    <a:p>
                      <a:pPr algn="ctr"/>
                      <a:r>
                        <a:rPr sz="1350" b="0">
                          <a:solidFill>
                            <a:srgbClr val="1E1E1E"/>
                          </a:solidFill>
                          <a:latin typeface="Calibri"/>
                        </a:rPr>
                        <a:t>4</a:t>
                      </a:r>
                    </a:p>
                  </a:txBody>
                  <a:tcPr marL="54864" marR="54864" marT="18288" marB="18288">
                    <a:solidFill>
                      <a:srgbClr val="FFFFFF"/>
                    </a:solidFill>
                  </a:tcPr>
                </a:tc>
                <a:tc>
                  <a:txBody>
                    <a:bodyPr wrap="square"/>
                    <a:lstStyle/>
                    <a:p>
                      <a:pPr algn="ctr"/>
                      <a:r>
                        <a:rPr sz="1350" b="0">
                          <a:solidFill>
                            <a:srgbClr val="1E1E1E"/>
                          </a:solidFill>
                          <a:latin typeface="Calibri"/>
                        </a:rPr>
                        <a:t>4.29 GB</a:t>
                      </a:r>
                    </a:p>
                  </a:txBody>
                  <a:tcPr marL="54864" marR="54864" marT="18288" marB="18288">
                    <a:solidFill>
                      <a:srgbClr val="FFFFFF"/>
                    </a:solidFill>
                  </a:tcPr>
                </a:tc>
                <a:tc>
                  <a:txBody>
                    <a:bodyPr wrap="square"/>
                    <a:lstStyle/>
                    <a:p>
                      <a:pPr algn="ctr"/>
                      <a:r>
                        <a:rPr sz="1350" b="0">
                          <a:solidFill>
                            <a:srgbClr val="1E1E1E"/>
                          </a:solidFill>
                          <a:latin typeface="Calibri"/>
                        </a:rPr>
                        <a:t>174</a:t>
                      </a:r>
                    </a:p>
                  </a:txBody>
                  <a:tcPr marL="54864" marR="54864" marT="18288" marB="18288">
                    <a:solidFill>
                      <a:srgbClr val="FFFFFF"/>
                    </a:solidFill>
                  </a:tcPr>
                </a:tc>
              </a:tr>
              <a:tr h="365760">
                <a:tc>
                  <a:txBody>
                    <a:bodyPr wrap="square"/>
                    <a:lstStyle/>
                    <a:p>
                      <a:pPr algn="l"/>
                      <a:r>
                        <a:rPr sz="1350" b="1">
                          <a:solidFill>
                            <a:srgbClr val="E31837"/>
                          </a:solidFill>
                          <a:latin typeface="Calibri"/>
                        </a:rPr>
                        <a:t>tf_unet  on battery (same settings)</a:t>
                      </a:r>
                    </a:p>
                  </a:txBody>
                  <a:tcPr marL="54864" marR="54864" marT="18288" marB="18288">
                    <a:solidFill>
                      <a:srgbClr val="F3F5F8"/>
                    </a:solidFill>
                  </a:tcPr>
                </a:tc>
                <a:tc>
                  <a:txBody>
                    <a:bodyPr wrap="square"/>
                    <a:lstStyle/>
                    <a:p>
                      <a:pPr algn="ctr"/>
                      <a:r>
                        <a:rPr sz="1350" b="1">
                          <a:solidFill>
                            <a:srgbClr val="E31837"/>
                          </a:solidFill>
                          <a:latin typeface="Calibri"/>
                        </a:rPr>
                        <a:t>4</a:t>
                      </a:r>
                    </a:p>
                  </a:txBody>
                  <a:tcPr marL="54864" marR="54864" marT="18288" marB="18288">
                    <a:solidFill>
                      <a:srgbClr val="F3F5F8"/>
                    </a:solidFill>
                  </a:tcPr>
                </a:tc>
                <a:tc>
                  <a:txBody>
                    <a:bodyPr wrap="square"/>
                    <a:lstStyle/>
                    <a:p>
                      <a:pPr algn="ctr"/>
                      <a:r>
                        <a:rPr sz="1350" b="1">
                          <a:solidFill>
                            <a:srgbClr val="E31837"/>
                          </a:solidFill>
                          <a:latin typeface="Calibri"/>
                        </a:rPr>
                        <a:t>4.29 GB</a:t>
                      </a:r>
                    </a:p>
                  </a:txBody>
                  <a:tcPr marL="54864" marR="54864" marT="18288" marB="18288">
                    <a:solidFill>
                      <a:srgbClr val="F3F5F8"/>
                    </a:solidFill>
                  </a:tcPr>
                </a:tc>
                <a:tc>
                  <a:txBody>
                    <a:bodyPr wrap="square"/>
                    <a:lstStyle/>
                    <a:p>
                      <a:pPr algn="ctr"/>
                      <a:r>
                        <a:rPr sz="1350" b="1">
                          <a:solidFill>
                            <a:srgbClr val="E31837"/>
                          </a:solidFill>
                          <a:latin typeface="Calibri"/>
                        </a:rPr>
                        <a:t>2684   (15.3x slower)</a:t>
                      </a:r>
                    </a:p>
                  </a:txBody>
                  <a:tcPr marL="54864" marR="54864" marT="18288" marB="18288">
                    <a:solidFill>
                      <a:srgbClr val="F3F5F8"/>
                    </a:solidFill>
                  </a:tcPr>
                </a:tc>
              </a:tr>
            </a:tbl>
          </a:graphicData>
        </a:graphic>
      </p:graphicFrame>
      <p:sp>
        <p:nvSpPr>
          <p:cNvPr id="5" name="TextBox 4"/>
          <p:cNvSpPr txBox="1"/>
          <p:nvPr/>
        </p:nvSpPr>
        <p:spPr>
          <a:xfrm>
            <a:off x="777240" y="4114800"/>
            <a:ext cx="10607040" cy="2011680"/>
          </a:xfrm>
          <a:prstGeom prst="rect">
            <a:avLst/>
          </a:prstGeom>
          <a:noFill/>
        </p:spPr>
        <p:txBody>
          <a:bodyPr wrap="square">
            <a:spAutoFit/>
          </a:bodyPr>
          <a:lstStyle/>
          <a:p>
            <a:pPr>
              <a:spcAft>
                <a:spcPts val="700"/>
              </a:spcAft>
            </a:pPr>
            <a:r>
              <a:rPr sz="1550" b="0" i="0">
                <a:solidFill>
                  <a:srgbClr val="1E1E1E"/>
                </a:solidFill>
                <a:latin typeface="Calibri"/>
              </a:rPr>
              <a:t>•  </a:t>
            </a:r>
            <a:r>
              <a:rPr sz="1550" b="1" i="0">
                <a:solidFill>
                  <a:srgbClr val="1E1E1E"/>
                </a:solidFill>
                <a:latin typeface="Calibri"/>
              </a:rPr>
              <a:t>Model size: </a:t>
            </a:r>
            <a:r>
              <a:rPr sz="1550" b="0" i="0">
                <a:solidFill>
                  <a:srgbClr val="1E1E1E"/>
                </a:solidFill>
                <a:latin typeface="Calibri"/>
              </a:rPr>
              <a:t>layers=3, features_root=32 → 465,986 trainable parameters (measured, not estimated).</a:t>
            </a:r>
          </a:p>
          <a:p>
            <a:pPr>
              <a:spcAft>
                <a:spcPts val="700"/>
              </a:spcAft>
            </a:pPr>
            <a:r>
              <a:rPr sz="1550" b="0" i="0">
                <a:solidFill>
                  <a:srgbClr val="1E1E1E"/>
                </a:solidFill>
                <a:latin typeface="Calibri"/>
              </a:rPr>
              <a:t>•  </a:t>
            </a:r>
            <a:r>
              <a:rPr sz="1550" b="1" i="0">
                <a:solidFill>
                  <a:srgbClr val="1E1E1E"/>
                </a:solidFill>
                <a:latin typeface="Calibri"/>
              </a:rPr>
              <a:t>Only one run fits on this card. </a:t>
            </a:r>
            <a:r>
              <a:rPr sz="1550" b="0" i="0">
                <a:solidFill>
                  <a:srgbClr val="1E1E1E"/>
                </a:solidFill>
                <a:latin typeface="Calibri"/>
              </a:rPr>
              <a:t>A second training job dies immediately with RESOURCE_EXHAUSTED while the first keeps going, which makes the error message misleading.</a:t>
            </a:r>
          </a:p>
          <a:p>
            <a:pPr>
              <a:spcAft>
                <a:spcPts val="700"/>
              </a:spcAft>
            </a:pPr>
            <a:r>
              <a:rPr sz="1550" b="0" i="0">
                <a:solidFill>
                  <a:srgbClr val="1E1E1E"/>
                </a:solidFill>
                <a:latin typeface="Calibri"/>
              </a:rPr>
              <a:t>•  </a:t>
            </a:r>
            <a:r>
              <a:rPr sz="1550" b="1" i="0">
                <a:solidFill>
                  <a:srgbClr val="E31837"/>
                </a:solidFill>
                <a:latin typeface="Calibri"/>
              </a:rPr>
              <a:t>Always plug the laptop in. </a:t>
            </a:r>
            <a:r>
              <a:rPr sz="1550" b="0" i="0">
                <a:solidFill>
                  <a:srgbClr val="1E1E1E"/>
                </a:solidFill>
                <a:latin typeface="Calibri"/>
              </a:rPr>
              <a:t>On battery the SM clock is pinned at 210 MHz of 2100 MHz. This is the single biggest performance factor we found.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E31837"/>
                </a:solidFill>
                <a:latin typeface="Calibri"/>
              </a:rPr>
              <a:t>➢ Baseline problem: tf_unet scored F1 0.39</a:t>
            </a:r>
          </a:p>
        </p:txBody>
      </p:sp>
      <p:sp>
        <p:nvSpPr>
          <p:cNvPr id="3" name="TextBox 2"/>
          <p:cNvSpPr txBox="1"/>
          <p:nvPr/>
        </p:nvSpPr>
        <p:spPr>
          <a:xfrm>
            <a:off x="777240" y="1572768"/>
            <a:ext cx="10607040" cy="1371600"/>
          </a:xfrm>
          <a:prstGeom prst="rect">
            <a:avLst/>
          </a:prstGeom>
          <a:noFill/>
        </p:spPr>
        <p:txBody>
          <a:bodyPr wrap="square">
            <a:spAutoFit/>
          </a:bodyPr>
          <a:lstStyle/>
          <a:p>
            <a:pPr>
              <a:spcAft>
                <a:spcPts val="800"/>
              </a:spcAft>
            </a:pPr>
            <a:r>
              <a:rPr sz="1550" b="0" i="0">
                <a:solidFill>
                  <a:srgbClr val="1E1E1E"/>
                </a:solidFill>
                <a:latin typeface="Calibri"/>
              </a:rPr>
              <a:t>Our own model scored 0.98 on the same synthetic data. The obvious conclusion was that the authors' architecture was simply worse. We tested that instead of assuming it — four controlled runs, identical dataset, architecture, optimiser and batch size. Only the two listed variables changed.</a:t>
            </a:r>
          </a:p>
        </p:txBody>
      </p:sp>
      <p:graphicFrame>
        <p:nvGraphicFramePr>
          <p:cNvPr id="4" name="Table 3"/>
          <p:cNvGraphicFramePr>
            <a:graphicFrameLocks noGrp="1"/>
          </p:cNvGraphicFramePr>
          <p:nvPr/>
        </p:nvGraphicFramePr>
        <p:xfrm>
          <a:off x="822960" y="3017520"/>
          <a:ext cx="10515596" cy="1920240"/>
        </p:xfrm>
        <a:graphic>
          <a:graphicData uri="http://schemas.openxmlformats.org/drawingml/2006/table">
            <a:tbl>
              <a:tblPr>
                <a:tableStyleId>{5C22544A-7EE6-4342-B048-85BDC9FD1C3A}</a:tableStyleId>
              </a:tblPr>
              <a:tblGrid>
                <a:gridCol w="402236"/>
                <a:gridCol w="1494019"/>
                <a:gridCol w="1379095"/>
                <a:gridCol w="1149245"/>
                <a:gridCol w="1149245"/>
                <a:gridCol w="1149245"/>
                <a:gridCol w="3792511"/>
              </a:tblGrid>
              <a:tr h="384048">
                <a:tc>
                  <a:txBody>
                    <a:bodyPr wrap="square"/>
                    <a:lstStyle/>
                    <a:p>
                      <a:pPr algn="l"/>
                      <a:r>
                        <a:rPr sz="1300" b="1">
                          <a:solidFill>
                            <a:srgbClr val="FFFFFF"/>
                          </a:solidFill>
                          <a:latin typeface="Calibri"/>
                        </a:rPr>
                        <a:t>#</a:t>
                      </a:r>
                    </a:p>
                  </a:txBody>
                  <a:tcPr marL="54864" marR="54864" marT="18288" marB="18288">
                    <a:solidFill>
                      <a:srgbClr val="0F2043"/>
                    </a:solidFill>
                  </a:tcPr>
                </a:tc>
                <a:tc>
                  <a:txBody>
                    <a:bodyPr wrap="square"/>
                    <a:lstStyle/>
                    <a:p>
                      <a:pPr algn="ctr"/>
                      <a:r>
                        <a:rPr sz="1300" b="1">
                          <a:solidFill>
                            <a:srgbClr val="FFFFFF"/>
                          </a:solidFill>
                          <a:latin typeface="Calibri"/>
                        </a:rPr>
                        <a:t>Normalisation</a:t>
                      </a:r>
                    </a:p>
                  </a:txBody>
                  <a:tcPr marL="54864" marR="54864" marT="18288" marB="18288">
                    <a:solidFill>
                      <a:srgbClr val="0F2043"/>
                    </a:solidFill>
                  </a:tcPr>
                </a:tc>
                <a:tc>
                  <a:txBody>
                    <a:bodyPr wrap="square"/>
                    <a:lstStyle/>
                    <a:p>
                      <a:pPr algn="ctr"/>
                      <a:r>
                        <a:rPr sz="1300" b="1">
                          <a:solidFill>
                            <a:srgbClr val="FFFFFF"/>
                          </a:solidFill>
                          <a:latin typeface="Calibri"/>
                        </a:rPr>
                        <a:t>Class weights</a:t>
                      </a:r>
                    </a:p>
                  </a:txBody>
                  <a:tcPr marL="54864" marR="54864" marT="18288" marB="18288">
                    <a:solidFill>
                      <a:srgbClr val="0F2043"/>
                    </a:solidFill>
                  </a:tcPr>
                </a:tc>
                <a:tc>
                  <a:txBody>
                    <a:bodyPr wrap="square"/>
                    <a:lstStyle/>
                    <a:p>
                      <a:pPr algn="ctr"/>
                      <a:r>
                        <a:rPr sz="1300" b="1">
                          <a:solidFill>
                            <a:srgbClr val="FFFFFF"/>
                          </a:solidFill>
                          <a:latin typeface="Calibri"/>
                        </a:rPr>
                        <a:t>Epochs</a:t>
                      </a:r>
                    </a:p>
                  </a:txBody>
                  <a:tcPr marL="54864" marR="54864" marT="18288" marB="18288">
                    <a:solidFill>
                      <a:srgbClr val="0F2043"/>
                    </a:solidFill>
                  </a:tcPr>
                </a:tc>
                <a:tc>
                  <a:txBody>
                    <a:bodyPr wrap="square"/>
                    <a:lstStyle/>
                    <a:p>
                      <a:pPr algn="ctr"/>
                      <a:r>
                        <a:rPr sz="1300" b="1">
                          <a:solidFill>
                            <a:srgbClr val="FFFFFF"/>
                          </a:solidFill>
                          <a:latin typeface="Calibri"/>
                        </a:rPr>
                        <a:t>ROC AUC</a:t>
                      </a:r>
                    </a:p>
                  </a:txBody>
                  <a:tcPr marL="54864" marR="54864" marT="18288" marB="18288">
                    <a:solidFill>
                      <a:srgbClr val="0F2043"/>
                    </a:solidFill>
                  </a:tcPr>
                </a:tc>
                <a:tc>
                  <a:txBody>
                    <a:bodyPr wrap="square"/>
                    <a:lstStyle/>
                    <a:p>
                      <a:pPr algn="ctr"/>
                      <a:r>
                        <a:rPr sz="1300" b="1">
                          <a:solidFill>
                            <a:srgbClr val="FFFFFF"/>
                          </a:solidFill>
                          <a:latin typeface="Calibri"/>
                        </a:rPr>
                        <a:t>max F1</a:t>
                      </a:r>
                    </a:p>
                  </a:txBody>
                  <a:tcPr marL="54864" marR="54864" marT="18288" marB="18288">
                    <a:solidFill>
                      <a:srgbClr val="0F2043"/>
                    </a:solidFill>
                  </a:tcPr>
                </a:tc>
                <a:tc>
                  <a:txBody>
                    <a:bodyPr wrap="square"/>
                    <a:lstStyle/>
                    <a:p>
                      <a:pPr algn="ctr"/>
                      <a:r>
                        <a:rPr sz="1300" b="1">
                          <a:solidFill>
                            <a:srgbClr val="FFFFFF"/>
                          </a:solidFill>
                          <a:latin typeface="Calibri"/>
                        </a:rPr>
                        <a:t>Behaviour</a:t>
                      </a:r>
                    </a:p>
                  </a:txBody>
                  <a:tcPr marL="54864" marR="54864" marT="18288" marB="18288">
                    <a:solidFill>
                      <a:srgbClr val="0F2043"/>
                    </a:solidFill>
                  </a:tcPr>
                </a:tc>
              </a:tr>
              <a:tr h="384048">
                <a:tc>
                  <a:txBody>
                    <a:bodyPr wrap="square"/>
                    <a:lstStyle/>
                    <a:p>
                      <a:pPr algn="l"/>
                      <a:r>
                        <a:rPr sz="1300" b="0">
                          <a:solidFill>
                            <a:srgbClr val="1E1E1E"/>
                          </a:solidFill>
                          <a:latin typeface="Calibri"/>
                        </a:rPr>
                        <a:t>1</a:t>
                      </a:r>
                    </a:p>
                  </a:txBody>
                  <a:tcPr marL="54864" marR="54864" marT="18288" marB="18288">
                    <a:solidFill>
                      <a:srgbClr val="FFFFFF"/>
                    </a:solidFill>
                  </a:tcPr>
                </a:tc>
                <a:tc>
                  <a:txBody>
                    <a:bodyPr wrap="square"/>
                    <a:lstStyle/>
                    <a:p>
                      <a:pPr algn="ctr"/>
                      <a:r>
                        <a:rPr sz="1300" b="0">
                          <a:solidFill>
                            <a:srgbClr val="1E1E1E"/>
                          </a:solidFill>
                          <a:latin typeface="Calibri"/>
                        </a:rPr>
                        <a:t>per-image</a:t>
                      </a:r>
                    </a:p>
                  </a:txBody>
                  <a:tcPr marL="54864" marR="54864" marT="18288" marB="18288">
                    <a:solidFill>
                      <a:srgbClr val="FFFFFF"/>
                    </a:solidFill>
                  </a:tcPr>
                </a:tc>
                <a:tc>
                  <a:txBody>
                    <a:bodyPr wrap="square"/>
                    <a:lstStyle/>
                    <a:p>
                      <a:pPr algn="ctr"/>
                      <a:r>
                        <a:rPr sz="1300" b="0">
                          <a:solidFill>
                            <a:srgbClr val="1E1E1E"/>
                          </a:solidFill>
                          <a:latin typeface="Calibri"/>
                        </a:rPr>
                        <a:t>ON</a:t>
                      </a:r>
                    </a:p>
                  </a:txBody>
                  <a:tcPr marL="54864" marR="54864" marT="18288" marB="18288">
                    <a:solidFill>
                      <a:srgbClr val="FFFFFF"/>
                    </a:solidFill>
                  </a:tcPr>
                </a:tc>
                <a:tc>
                  <a:txBody>
                    <a:bodyPr wrap="square"/>
                    <a:lstStyle/>
                    <a:p>
                      <a:pPr algn="ctr"/>
                      <a:r>
                        <a:rPr sz="1300" b="0">
                          <a:solidFill>
                            <a:srgbClr val="1E1E1E"/>
                          </a:solidFill>
                          <a:latin typeface="Calibri"/>
                        </a:rPr>
                        <a:t>22</a:t>
                      </a:r>
                    </a:p>
                  </a:txBody>
                  <a:tcPr marL="54864" marR="54864" marT="18288" marB="18288">
                    <a:solidFill>
                      <a:srgbClr val="FFFFFF"/>
                    </a:solidFill>
                  </a:tcPr>
                </a:tc>
                <a:tc>
                  <a:txBody>
                    <a:bodyPr wrap="square"/>
                    <a:lstStyle/>
                    <a:p>
                      <a:pPr algn="ctr"/>
                      <a:r>
                        <a:rPr sz="1300" b="0">
                          <a:solidFill>
                            <a:srgbClr val="1E1E1E"/>
                          </a:solidFill>
                          <a:latin typeface="Calibri"/>
                        </a:rPr>
                        <a:t>0.6681</a:t>
                      </a:r>
                    </a:p>
                  </a:txBody>
                  <a:tcPr marL="54864" marR="54864" marT="18288" marB="18288">
                    <a:solidFill>
                      <a:srgbClr val="FFFFFF"/>
                    </a:solidFill>
                  </a:tcPr>
                </a:tc>
                <a:tc>
                  <a:txBody>
                    <a:bodyPr wrap="square"/>
                    <a:lstStyle/>
                    <a:p>
                      <a:pPr algn="ctr"/>
                      <a:r>
                        <a:rPr sz="1300" b="0">
                          <a:solidFill>
                            <a:srgbClr val="1E1E1E"/>
                          </a:solidFill>
                          <a:latin typeface="Calibri"/>
                        </a:rPr>
                        <a:t>0.3879</a:t>
                      </a:r>
                    </a:p>
                  </a:txBody>
                  <a:tcPr marL="54864" marR="54864" marT="18288" marB="18288">
                    <a:solidFill>
                      <a:srgbClr val="FFFFFF"/>
                    </a:solidFill>
                  </a:tcPr>
                </a:tc>
                <a:tc>
                  <a:txBody>
                    <a:bodyPr wrap="square"/>
                    <a:lstStyle/>
                    <a:p>
                      <a:pPr algn="ctr"/>
                      <a:r>
                        <a:rPr sz="1300" b="0">
                          <a:solidFill>
                            <a:srgbClr val="1E1E1E"/>
                          </a:solidFill>
                          <a:latin typeface="Calibri"/>
                        </a:rPr>
                        <a:t>froze at 81.1% error for 15 epochs</a:t>
                      </a:r>
                    </a:p>
                  </a:txBody>
                  <a:tcPr marL="54864" marR="54864" marT="18288" marB="18288">
                    <a:solidFill>
                      <a:srgbClr val="FFFFFF"/>
                    </a:solidFill>
                  </a:tcPr>
                </a:tc>
              </a:tr>
              <a:tr h="384048">
                <a:tc>
                  <a:txBody>
                    <a:bodyPr wrap="square"/>
                    <a:lstStyle/>
                    <a:p>
                      <a:pPr algn="l"/>
                      <a:r>
                        <a:rPr sz="1300" b="0">
                          <a:solidFill>
                            <a:srgbClr val="1E1E1E"/>
                          </a:solidFill>
                          <a:latin typeface="Calibri"/>
                        </a:rPr>
                        <a:t>2</a:t>
                      </a:r>
                    </a:p>
                  </a:txBody>
                  <a:tcPr marL="54864" marR="54864" marT="18288" marB="18288">
                    <a:solidFill>
                      <a:srgbClr val="F3F5F8"/>
                    </a:solidFill>
                  </a:tcPr>
                </a:tc>
                <a:tc>
                  <a:txBody>
                    <a:bodyPr wrap="square"/>
                    <a:lstStyle/>
                    <a:p>
                      <a:pPr algn="ctr"/>
                      <a:r>
                        <a:rPr sz="1300" b="0">
                          <a:solidFill>
                            <a:srgbClr val="1E1E1E"/>
                          </a:solidFill>
                          <a:latin typeface="Calibri"/>
                        </a:rPr>
                        <a:t>per-image</a:t>
                      </a:r>
                    </a:p>
                  </a:txBody>
                  <a:tcPr marL="54864" marR="54864" marT="18288" marB="18288">
                    <a:solidFill>
                      <a:srgbClr val="F3F5F8"/>
                    </a:solidFill>
                  </a:tcPr>
                </a:tc>
                <a:tc>
                  <a:txBody>
                    <a:bodyPr wrap="square"/>
                    <a:lstStyle/>
                    <a:p>
                      <a:pPr algn="ctr"/>
                      <a:r>
                        <a:rPr sz="1300" b="0">
                          <a:solidFill>
                            <a:srgbClr val="1E1E1E"/>
                          </a:solidFill>
                          <a:latin typeface="Calibri"/>
                        </a:rPr>
                        <a:t>ON</a:t>
                      </a:r>
                    </a:p>
                  </a:txBody>
                  <a:tcPr marL="54864" marR="54864" marT="18288" marB="18288">
                    <a:solidFill>
                      <a:srgbClr val="F3F5F8"/>
                    </a:solidFill>
                  </a:tcPr>
                </a:tc>
                <a:tc>
                  <a:txBody>
                    <a:bodyPr wrap="square"/>
                    <a:lstStyle/>
                    <a:p>
                      <a:pPr algn="ctr"/>
                      <a:r>
                        <a:rPr sz="1300" b="0">
                          <a:solidFill>
                            <a:srgbClr val="1E1E1E"/>
                          </a:solidFill>
                          <a:latin typeface="Calibri"/>
                        </a:rPr>
                        <a:t>died at 5</a:t>
                      </a:r>
                    </a:p>
                  </a:txBody>
                  <a:tcPr marL="54864" marR="54864" marT="18288" marB="18288">
                    <a:solidFill>
                      <a:srgbClr val="F3F5F8"/>
                    </a:solidFill>
                  </a:tcPr>
                </a:tc>
                <a:tc>
                  <a:txBody>
                    <a:bodyPr wrap="square"/>
                    <a:lstStyle/>
                    <a:p>
                      <a:pPr algn="ctr"/>
                      <a:r>
                        <a:rPr sz="1300" b="0">
                          <a:solidFill>
                            <a:srgbClr val="1E1E1E"/>
                          </a:solidFill>
                          <a:latin typeface="Calibri"/>
                        </a:rPr>
                        <a:t>0.5677</a:t>
                      </a:r>
                    </a:p>
                  </a:txBody>
                  <a:tcPr marL="54864" marR="54864" marT="18288" marB="18288">
                    <a:solidFill>
                      <a:srgbClr val="F3F5F8"/>
                    </a:solidFill>
                  </a:tcPr>
                </a:tc>
                <a:tc>
                  <a:txBody>
                    <a:bodyPr wrap="square"/>
                    <a:lstStyle/>
                    <a:p>
                      <a:pPr algn="ctr"/>
                      <a:r>
                        <a:rPr sz="1300" b="0">
                          <a:solidFill>
                            <a:srgbClr val="1E1E1E"/>
                          </a:solidFill>
                          <a:latin typeface="Calibri"/>
                        </a:rPr>
                        <a:t>0.3064</a:t>
                      </a:r>
                    </a:p>
                  </a:txBody>
                  <a:tcPr marL="54864" marR="54864" marT="18288" marB="18288">
                    <a:solidFill>
                      <a:srgbClr val="F3F5F8"/>
                    </a:solidFill>
                  </a:tcPr>
                </a:tc>
                <a:tc>
                  <a:txBody>
                    <a:bodyPr wrap="square"/>
                    <a:lstStyle/>
                    <a:p>
                      <a:pPr algn="ctr"/>
                      <a:r>
                        <a:rPr sz="1300" b="0">
                          <a:solidFill>
                            <a:srgbClr val="1E1E1E"/>
                          </a:solidFill>
                          <a:latin typeface="Calibri"/>
                        </a:rPr>
                        <a:t>collapsed — constant 0.537 everywhere</a:t>
                      </a:r>
                    </a:p>
                  </a:txBody>
                  <a:tcPr marL="54864" marR="54864" marT="18288" marB="18288">
                    <a:solidFill>
                      <a:srgbClr val="F3F5F8"/>
                    </a:solidFill>
                  </a:tcPr>
                </a:tc>
              </a:tr>
              <a:tr h="384048">
                <a:tc>
                  <a:txBody>
                    <a:bodyPr wrap="square"/>
                    <a:lstStyle/>
                    <a:p>
                      <a:pPr algn="l"/>
                      <a:r>
                        <a:rPr sz="1300" b="0">
                          <a:solidFill>
                            <a:srgbClr val="1E1E1E"/>
                          </a:solidFill>
                          <a:latin typeface="Calibri"/>
                        </a:rPr>
                        <a:t>3</a:t>
                      </a:r>
                    </a:p>
                  </a:txBody>
                  <a:tcPr marL="54864" marR="54864" marT="18288" marB="18288">
                    <a:solidFill>
                      <a:srgbClr val="FFFFFF"/>
                    </a:solidFill>
                  </a:tcPr>
                </a:tc>
                <a:tc>
                  <a:txBody>
                    <a:bodyPr wrap="square"/>
                    <a:lstStyle/>
                    <a:p>
                      <a:pPr algn="ctr"/>
                      <a:r>
                        <a:rPr sz="1300" b="0">
                          <a:solidFill>
                            <a:srgbClr val="1E1E1E"/>
                          </a:solidFill>
                          <a:latin typeface="Calibri"/>
                        </a:rPr>
                        <a:t>per-image</a:t>
                      </a:r>
                    </a:p>
                  </a:txBody>
                  <a:tcPr marL="54864" marR="54864" marT="18288" marB="18288">
                    <a:solidFill>
                      <a:srgbClr val="FFFFFF"/>
                    </a:solidFill>
                  </a:tcPr>
                </a:tc>
                <a:tc>
                  <a:txBody>
                    <a:bodyPr wrap="square"/>
                    <a:lstStyle/>
                    <a:p>
                      <a:pPr algn="ctr"/>
                      <a:r>
                        <a:rPr sz="1300" b="0">
                          <a:solidFill>
                            <a:srgbClr val="1E1E1E"/>
                          </a:solidFill>
                          <a:latin typeface="Calibri"/>
                        </a:rPr>
                        <a:t>OFF</a:t>
                      </a:r>
                    </a:p>
                  </a:txBody>
                  <a:tcPr marL="54864" marR="54864" marT="18288" marB="18288">
                    <a:solidFill>
                      <a:srgbClr val="FFFFFF"/>
                    </a:solidFill>
                  </a:tcPr>
                </a:tc>
                <a:tc>
                  <a:txBody>
                    <a:bodyPr wrap="square"/>
                    <a:lstStyle/>
                    <a:p>
                      <a:pPr algn="ctr"/>
                      <a:r>
                        <a:rPr sz="1300" b="0">
                          <a:solidFill>
                            <a:srgbClr val="1E1E1E"/>
                          </a:solidFill>
                          <a:latin typeface="Calibri"/>
                        </a:rPr>
                        <a:t>60</a:t>
                      </a:r>
                    </a:p>
                  </a:txBody>
                  <a:tcPr marL="54864" marR="54864" marT="18288" marB="18288">
                    <a:solidFill>
                      <a:srgbClr val="FFFFFF"/>
                    </a:solidFill>
                  </a:tcPr>
                </a:tc>
                <a:tc>
                  <a:txBody>
                    <a:bodyPr wrap="square"/>
                    <a:lstStyle/>
                    <a:p>
                      <a:pPr algn="ctr"/>
                      <a:r>
                        <a:rPr sz="1300" b="0">
                          <a:solidFill>
                            <a:srgbClr val="1E1E1E"/>
                          </a:solidFill>
                          <a:latin typeface="Calibri"/>
                        </a:rPr>
                        <a:t>0.8747</a:t>
                      </a:r>
                    </a:p>
                  </a:txBody>
                  <a:tcPr marL="54864" marR="54864" marT="18288" marB="18288">
                    <a:solidFill>
                      <a:srgbClr val="FFFFFF"/>
                    </a:solidFill>
                  </a:tcPr>
                </a:tc>
                <a:tc>
                  <a:txBody>
                    <a:bodyPr wrap="square"/>
                    <a:lstStyle/>
                    <a:p>
                      <a:pPr algn="ctr"/>
                      <a:r>
                        <a:rPr sz="1300" b="0">
                          <a:solidFill>
                            <a:srgbClr val="1E1E1E"/>
                          </a:solidFill>
                          <a:latin typeface="Calibri"/>
                        </a:rPr>
                        <a:t>0.7191</a:t>
                      </a:r>
                    </a:p>
                  </a:txBody>
                  <a:tcPr marL="54864" marR="54864" marT="18288" marB="18288">
                    <a:solidFill>
                      <a:srgbClr val="FFFFFF"/>
                    </a:solidFill>
                  </a:tcPr>
                </a:tc>
                <a:tc>
                  <a:txBody>
                    <a:bodyPr wrap="square"/>
                    <a:lstStyle/>
                    <a:p>
                      <a:pPr algn="ctr"/>
                      <a:r>
                        <a:rPr sz="1300" b="0">
                          <a:solidFill>
                            <a:srgbClr val="1E1E1E"/>
                          </a:solidFill>
                          <a:latin typeface="Calibri"/>
                        </a:rPr>
                        <a:t>trained normally</a:t>
                      </a:r>
                    </a:p>
                  </a:txBody>
                  <a:tcPr marL="54864" marR="54864" marT="18288" marB="18288">
                    <a:solidFill>
                      <a:srgbClr val="FFFFFF"/>
                    </a:solidFill>
                  </a:tcPr>
                </a:tc>
              </a:tr>
              <a:tr h="384048">
                <a:tc>
                  <a:txBody>
                    <a:bodyPr wrap="square"/>
                    <a:lstStyle/>
                    <a:p>
                      <a:pPr algn="l"/>
                      <a:r>
                        <a:rPr sz="1300" b="1">
                          <a:solidFill>
                            <a:srgbClr val="E31837"/>
                          </a:solidFill>
                          <a:latin typeface="Calibri"/>
                        </a:rPr>
                        <a:t>4</a:t>
                      </a:r>
                    </a:p>
                  </a:txBody>
                  <a:tcPr marL="54864" marR="54864" marT="18288" marB="18288">
                    <a:solidFill>
                      <a:srgbClr val="F3F5F8"/>
                    </a:solidFill>
                  </a:tcPr>
                </a:tc>
                <a:tc>
                  <a:txBody>
                    <a:bodyPr wrap="square"/>
                    <a:lstStyle/>
                    <a:p>
                      <a:pPr algn="ctr"/>
                      <a:r>
                        <a:rPr sz="1300" b="1">
                          <a:solidFill>
                            <a:srgbClr val="E31837"/>
                          </a:solidFill>
                          <a:latin typeface="Calibri"/>
                        </a:rPr>
                        <a:t>fixed range</a:t>
                      </a:r>
                    </a:p>
                  </a:txBody>
                  <a:tcPr marL="54864" marR="54864" marT="18288" marB="18288">
                    <a:solidFill>
                      <a:srgbClr val="F3F5F8"/>
                    </a:solidFill>
                  </a:tcPr>
                </a:tc>
                <a:tc>
                  <a:txBody>
                    <a:bodyPr wrap="square"/>
                    <a:lstStyle/>
                    <a:p>
                      <a:pPr algn="ctr"/>
                      <a:r>
                        <a:rPr sz="1300" b="1">
                          <a:solidFill>
                            <a:srgbClr val="E31837"/>
                          </a:solidFill>
                          <a:latin typeface="Calibri"/>
                        </a:rPr>
                        <a:t>OFF</a:t>
                      </a:r>
                    </a:p>
                  </a:txBody>
                  <a:tcPr marL="54864" marR="54864" marT="18288" marB="18288">
                    <a:solidFill>
                      <a:srgbClr val="F3F5F8"/>
                    </a:solidFill>
                  </a:tcPr>
                </a:tc>
                <a:tc>
                  <a:txBody>
                    <a:bodyPr wrap="square"/>
                    <a:lstStyle/>
                    <a:p>
                      <a:pPr algn="ctr"/>
                      <a:r>
                        <a:rPr sz="1300" b="1">
                          <a:solidFill>
                            <a:srgbClr val="E31837"/>
                          </a:solidFill>
                          <a:latin typeface="Calibri"/>
                        </a:rPr>
                        <a:t>60</a:t>
                      </a:r>
                    </a:p>
                  </a:txBody>
                  <a:tcPr marL="54864" marR="54864" marT="18288" marB="18288">
                    <a:solidFill>
                      <a:srgbClr val="F3F5F8"/>
                    </a:solidFill>
                  </a:tcPr>
                </a:tc>
                <a:tc>
                  <a:txBody>
                    <a:bodyPr wrap="square"/>
                    <a:lstStyle/>
                    <a:p>
                      <a:pPr algn="ctr"/>
                      <a:r>
                        <a:rPr sz="1300" b="1">
                          <a:solidFill>
                            <a:srgbClr val="E31837"/>
                          </a:solidFill>
                          <a:latin typeface="Calibri"/>
                        </a:rPr>
                        <a:t>0.9908</a:t>
                      </a:r>
                    </a:p>
                  </a:txBody>
                  <a:tcPr marL="54864" marR="54864" marT="18288" marB="18288">
                    <a:solidFill>
                      <a:srgbClr val="F3F5F8"/>
                    </a:solidFill>
                  </a:tcPr>
                </a:tc>
                <a:tc>
                  <a:txBody>
                    <a:bodyPr wrap="square"/>
                    <a:lstStyle/>
                    <a:p>
                      <a:pPr algn="ctr"/>
                      <a:r>
                        <a:rPr sz="1300" b="1">
                          <a:solidFill>
                            <a:srgbClr val="E31837"/>
                          </a:solidFill>
                          <a:latin typeface="Calibri"/>
                        </a:rPr>
                        <a:t>0.9317</a:t>
                      </a:r>
                    </a:p>
                  </a:txBody>
                  <a:tcPr marL="54864" marR="54864" marT="18288" marB="18288">
                    <a:solidFill>
                      <a:srgbClr val="F3F5F8"/>
                    </a:solidFill>
                  </a:tcPr>
                </a:tc>
                <a:tc>
                  <a:txBody>
                    <a:bodyPr wrap="square"/>
                    <a:lstStyle/>
                    <a:p>
                      <a:pPr algn="ctr"/>
                      <a:r>
                        <a:rPr sz="1300" b="1">
                          <a:solidFill>
                            <a:srgbClr val="E31837"/>
                          </a:solidFill>
                          <a:latin typeface="Calibri"/>
                        </a:rPr>
                        <a:t>trained well</a:t>
                      </a:r>
                    </a:p>
                  </a:txBody>
                  <a:tcPr marL="54864" marR="54864" marT="18288" marB="18288">
                    <a:solidFill>
                      <a:srgbClr val="F3F5F8"/>
                    </a:solidFill>
                  </a:tcPr>
                </a:tc>
              </a:tr>
            </a:tbl>
          </a:graphicData>
        </a:graphic>
      </p:graphicFrame>
      <p:sp>
        <p:nvSpPr>
          <p:cNvPr id="5" name="TextBox 4"/>
          <p:cNvSpPr txBox="1"/>
          <p:nvPr/>
        </p:nvSpPr>
        <p:spPr>
          <a:xfrm>
            <a:off x="822960" y="5715000"/>
            <a:ext cx="10607040" cy="365760"/>
          </a:xfrm>
          <a:prstGeom prst="rect">
            <a:avLst/>
          </a:prstGeom>
          <a:noFill/>
        </p:spPr>
        <p:txBody>
          <a:bodyPr wrap="square">
            <a:spAutoFit/>
          </a:bodyPr>
          <a:lstStyle/>
          <a:p>
            <a:pPr>
              <a:spcAft>
                <a:spcPts val="700"/>
              </a:spcAft>
            </a:pPr>
            <a:r>
              <a:rPr sz="1100" b="0" i="1">
                <a:solidFill>
                  <a:srgbClr val="5A6170"/>
                </a:solidFill>
                <a:latin typeface="Calibri"/>
              </a:rPr>
              <a:t>Same architecture in every row. The authors' code was never modified.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E31837"/>
                </a:solidFill>
                <a:latin typeface="Calibri"/>
              </a:rPr>
              <a:t>➢ Result: 0.3879 → 0.9317</a:t>
            </a:r>
          </a:p>
        </p:txBody>
      </p:sp>
      <p:pic>
        <p:nvPicPr>
          <p:cNvPr id="3" name="Picture 2" descr="chart_synth.png"/>
          <p:cNvPicPr>
            <a:picLocks noChangeAspect="1"/>
          </p:cNvPicPr>
          <p:nvPr/>
        </p:nvPicPr>
        <p:blipFill>
          <a:blip r:embed="rId2"/>
          <a:stretch>
            <a:fillRect/>
          </a:stretch>
        </p:blipFill>
        <p:spPr>
          <a:xfrm>
            <a:off x="2331720" y="1554480"/>
            <a:ext cx="7589520" cy="460000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E31837"/>
                </a:solidFill>
                <a:latin typeface="Calibri"/>
              </a:rPr>
              <a:t>➢ What actually caused it</a:t>
            </a:r>
          </a:p>
        </p:txBody>
      </p:sp>
      <p:pic>
        <p:nvPicPr>
          <p:cNvPr id="3" name="Picture 2" descr="chart_decomp.png"/>
          <p:cNvPicPr>
            <a:picLocks noChangeAspect="1"/>
          </p:cNvPicPr>
          <p:nvPr/>
        </p:nvPicPr>
        <p:blipFill>
          <a:blip r:embed="rId2"/>
          <a:stretch>
            <a:fillRect/>
          </a:stretch>
        </p:blipFill>
        <p:spPr>
          <a:xfrm>
            <a:off x="2148840" y="1572768"/>
            <a:ext cx="7406640" cy="3150455"/>
          </a:xfrm>
          <a:prstGeom prst="rect">
            <a:avLst/>
          </a:prstGeom>
        </p:spPr>
      </p:pic>
      <p:sp>
        <p:nvSpPr>
          <p:cNvPr id="4" name="TextBox 3"/>
          <p:cNvSpPr txBox="1"/>
          <p:nvPr/>
        </p:nvSpPr>
        <p:spPr>
          <a:xfrm>
            <a:off x="822960" y="4864608"/>
            <a:ext cx="10607040" cy="1645920"/>
          </a:xfrm>
          <a:prstGeom prst="rect">
            <a:avLst/>
          </a:prstGeom>
          <a:noFill/>
        </p:spPr>
        <p:txBody>
          <a:bodyPr wrap="square">
            <a:spAutoFit/>
          </a:bodyPr>
          <a:lstStyle/>
          <a:p>
            <a:pPr>
              <a:spcAft>
                <a:spcPts val="700"/>
              </a:spcAft>
            </a:pPr>
            <a:r>
              <a:rPr sz="1500" b="0" i="0">
                <a:solidFill>
                  <a:srgbClr val="1E1E1E"/>
                </a:solidFill>
                <a:latin typeface="Calibri"/>
              </a:rPr>
              <a:t>•  </a:t>
            </a:r>
            <a:r>
              <a:rPr sz="1500" b="1" i="0">
                <a:solidFill>
                  <a:srgbClr val="1E1E1E"/>
                </a:solidFill>
                <a:latin typeface="Calibri"/>
              </a:rPr>
              <a:t>Class weighting was the primary cause, not the architecture. </a:t>
            </a:r>
            <a:r>
              <a:rPr sz="1500" b="0" i="0">
                <a:solidFill>
                  <a:srgbClr val="1E1E1E"/>
                </a:solidFill>
                <a:latin typeface="Calibri"/>
              </a:rPr>
              <a:t>It is the correct textbook remedy for imbalance, and here it is lethal.</a:t>
            </a:r>
          </a:p>
          <a:p>
            <a:pPr>
              <a:spcAft>
                <a:spcPts val="700"/>
              </a:spcAft>
            </a:pPr>
            <a:r>
              <a:rPr sz="1500" b="0" i="0">
                <a:solidFill>
                  <a:srgbClr val="1E1E1E"/>
                </a:solidFill>
                <a:latin typeface="Calibri"/>
              </a:rPr>
              <a:t>•  </a:t>
            </a:r>
            <a:r>
              <a:rPr sz="1500" b="1" i="0">
                <a:solidFill>
                  <a:srgbClr val="1E1E1E"/>
                </a:solidFill>
                <a:latin typeface="Calibri"/>
              </a:rPr>
              <a:t>Why: </a:t>
            </a:r>
            <a:r>
              <a:rPr sz="1500" b="0" i="0">
                <a:solidFill>
                  <a:srgbClr val="1E1E1E"/>
                </a:solidFill>
                <a:latin typeface="Calibri"/>
              </a:rPr>
              <a:t>tf_unet applies ReLU directly to its output. The weight pushes the clean-class score negative, ReLU clamps it to exactly 0, and ReLU's slope at a negative input is 0 — so there is no gradient and the network cannot recover. Verified: constant 0.537 across all 24,840,000 test pixels.</a:t>
            </a:r>
          </a:p>
          <a:p>
            <a:pPr>
              <a:spcAft>
                <a:spcPts val="700"/>
              </a:spcAft>
            </a:pPr>
            <a:r>
              <a:rPr sz="1500" b="0" i="0">
                <a:solidFill>
                  <a:srgbClr val="1E1E1E"/>
                </a:solidFill>
                <a:latin typeface="Calibri"/>
              </a:rPr>
              <a:t>•  </a:t>
            </a:r>
            <a:r>
              <a:rPr sz="1500" b="1" i="0">
                <a:solidFill>
                  <a:srgbClr val="E31837"/>
                </a:solidFill>
                <a:latin typeface="Calibri"/>
              </a:rPr>
              <a:t>Neither piece is the villain alone. </a:t>
            </a:r>
            <a:r>
              <a:rPr sz="1500" b="0" i="0">
                <a:solidFill>
                  <a:srgbClr val="1E1E1E"/>
                </a:solidFill>
                <a:latin typeface="Calibri"/>
              </a:rPr>
              <a:t>ReLU alone is fine. Class weights alone are fine. Together they are fatal.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E31837"/>
                </a:solidFill>
                <a:latin typeface="Calibri"/>
              </a:rPr>
              <a:t>➢ The second cause: per-image normalisation</a:t>
            </a:r>
          </a:p>
        </p:txBody>
      </p:sp>
      <p:sp>
        <p:nvSpPr>
          <p:cNvPr id="3" name="TextBox 2"/>
          <p:cNvSpPr txBox="1"/>
          <p:nvPr/>
        </p:nvSpPr>
        <p:spPr>
          <a:xfrm>
            <a:off x="777240" y="1572768"/>
            <a:ext cx="10607040" cy="1371600"/>
          </a:xfrm>
          <a:prstGeom prst="rect">
            <a:avLst/>
          </a:prstGeom>
          <a:noFill/>
        </p:spPr>
        <p:txBody>
          <a:bodyPr wrap="square">
            <a:spAutoFit/>
          </a:bodyPr>
          <a:lstStyle/>
          <a:p>
            <a:pPr>
              <a:spcAft>
                <a:spcPts val="800"/>
              </a:spcAft>
            </a:pPr>
            <a:r>
              <a:rPr sz="1550" b="0" i="0">
                <a:solidFill>
                  <a:srgbClr val="1E1E1E"/>
                </a:solidFill>
                <a:latin typeface="Calibri"/>
              </a:rPr>
              <a:t>Each image was being scaled by its own min and max. Measured on this dataset the per-image maximum ranges from 27 to 222 — a factor of 8.2 — so identical physical noise lands at different values in different images and no single threshold works for all of them.</a:t>
            </a:r>
          </a:p>
        </p:txBody>
      </p:sp>
      <p:graphicFrame>
        <p:nvGraphicFramePr>
          <p:cNvPr id="4" name="Table 3"/>
          <p:cNvGraphicFramePr>
            <a:graphicFrameLocks noGrp="1"/>
          </p:cNvGraphicFramePr>
          <p:nvPr/>
        </p:nvGraphicFramePr>
        <p:xfrm>
          <a:off x="1371600" y="2971800"/>
          <a:ext cx="9418318" cy="1152144"/>
        </p:xfrm>
        <a:graphic>
          <a:graphicData uri="http://schemas.openxmlformats.org/drawingml/2006/table">
            <a:tbl>
              <a:tblPr>
                <a:tableStyleId>{5C22544A-7EE6-4342-B048-85BDC9FD1C3A}</a:tableStyleId>
              </a:tblPr>
              <a:tblGrid>
                <a:gridCol w="1909118"/>
                <a:gridCol w="2800041"/>
                <a:gridCol w="2800041"/>
                <a:gridCol w="1909118"/>
              </a:tblGrid>
              <a:tr h="384048">
                <a:tc>
                  <a:txBody>
                    <a:bodyPr wrap="square"/>
                    <a:lstStyle/>
                    <a:p>
                      <a:pPr algn="l"/>
                      <a:r>
                        <a:rPr sz="1350" b="1">
                          <a:solidFill>
                            <a:srgbClr val="FFFFFF"/>
                          </a:solidFill>
                          <a:latin typeface="Calibri"/>
                        </a:rPr>
                        <a:t>Pixel (raw value)</a:t>
                      </a:r>
                    </a:p>
                  </a:txBody>
                  <a:tcPr marL="54864" marR="54864" marT="18288" marB="18288">
                    <a:solidFill>
                      <a:srgbClr val="0F2043"/>
                    </a:solidFill>
                  </a:tcPr>
                </a:tc>
                <a:tc>
                  <a:txBody>
                    <a:bodyPr wrap="square"/>
                    <a:lstStyle/>
                    <a:p>
                      <a:pPr algn="ctr"/>
                      <a:r>
                        <a:rPr sz="1350" b="1">
                          <a:solidFill>
                            <a:srgbClr val="FFFFFF"/>
                          </a:solidFill>
                          <a:latin typeface="Calibri"/>
                        </a:rPr>
                        <a:t>per-image, quiet image (max 27)</a:t>
                      </a:r>
                    </a:p>
                  </a:txBody>
                  <a:tcPr marL="54864" marR="54864" marT="18288" marB="18288">
                    <a:solidFill>
                      <a:srgbClr val="0F2043"/>
                    </a:solidFill>
                  </a:tcPr>
                </a:tc>
                <a:tc>
                  <a:txBody>
                    <a:bodyPr wrap="square"/>
                    <a:lstStyle/>
                    <a:p>
                      <a:pPr algn="ctr"/>
                      <a:r>
                        <a:rPr sz="1350" b="1">
                          <a:solidFill>
                            <a:srgbClr val="FFFFFF"/>
                          </a:solidFill>
                          <a:latin typeface="Calibri"/>
                        </a:rPr>
                        <a:t>per-image, loud image (max 222)</a:t>
                      </a:r>
                    </a:p>
                  </a:txBody>
                  <a:tcPr marL="54864" marR="54864" marT="18288" marB="18288">
                    <a:solidFill>
                      <a:srgbClr val="0F2043"/>
                    </a:solidFill>
                  </a:tcPr>
                </a:tc>
                <a:tc>
                  <a:txBody>
                    <a:bodyPr wrap="square"/>
                    <a:lstStyle/>
                    <a:p>
                      <a:pPr algn="ctr"/>
                      <a:r>
                        <a:rPr sz="1350" b="1">
                          <a:solidFill>
                            <a:srgbClr val="FFFFFF"/>
                          </a:solidFill>
                          <a:latin typeface="Calibri"/>
                        </a:rPr>
                        <a:t>fixed ruler</a:t>
                      </a:r>
                    </a:p>
                  </a:txBody>
                  <a:tcPr marL="54864" marR="54864" marT="18288" marB="18288">
                    <a:solidFill>
                      <a:srgbClr val="0F2043"/>
                    </a:solidFill>
                  </a:tcPr>
                </a:tc>
              </a:tr>
              <a:tr h="384048">
                <a:tc>
                  <a:txBody>
                    <a:bodyPr wrap="square"/>
                    <a:lstStyle/>
                    <a:p>
                      <a:pPr algn="l"/>
                      <a:r>
                        <a:rPr sz="1350">
                          <a:solidFill>
                            <a:srgbClr val="1E1E1E"/>
                          </a:solidFill>
                          <a:latin typeface="Calibri"/>
                        </a:rPr>
                        <a:t>noise  (10)</a:t>
                      </a:r>
                    </a:p>
                  </a:txBody>
                  <a:tcPr marL="54864" marR="54864" marT="18288" marB="18288">
                    <a:solidFill>
                      <a:srgbClr val="FFFFFF"/>
                    </a:solidFill>
                  </a:tcPr>
                </a:tc>
                <a:tc>
                  <a:txBody>
                    <a:bodyPr wrap="square"/>
                    <a:lstStyle/>
                    <a:p>
                      <a:pPr algn="ctr"/>
                      <a:r>
                        <a:rPr sz="1350">
                          <a:solidFill>
                            <a:srgbClr val="1E1E1E"/>
                          </a:solidFill>
                          <a:latin typeface="Calibri"/>
                        </a:rPr>
                        <a:t>0.370</a:t>
                      </a:r>
                    </a:p>
                  </a:txBody>
                  <a:tcPr marL="54864" marR="54864" marT="18288" marB="18288">
                    <a:solidFill>
                      <a:srgbClr val="FFFFFF"/>
                    </a:solidFill>
                  </a:tcPr>
                </a:tc>
                <a:tc>
                  <a:txBody>
                    <a:bodyPr wrap="square"/>
                    <a:lstStyle/>
                    <a:p>
                      <a:pPr algn="ctr"/>
                      <a:r>
                        <a:rPr sz="1350">
                          <a:solidFill>
                            <a:srgbClr val="1E1E1E"/>
                          </a:solidFill>
                          <a:latin typeface="Calibri"/>
                        </a:rPr>
                        <a:t>0.045</a:t>
                      </a:r>
                    </a:p>
                  </a:txBody>
                  <a:tcPr marL="54864" marR="54864" marT="18288" marB="18288">
                    <a:solidFill>
                      <a:srgbClr val="FFFFFF"/>
                    </a:solidFill>
                  </a:tcPr>
                </a:tc>
                <a:tc>
                  <a:txBody>
                    <a:bodyPr wrap="square"/>
                    <a:lstStyle/>
                    <a:p>
                      <a:pPr algn="ctr"/>
                      <a:r>
                        <a:rPr sz="1350">
                          <a:solidFill>
                            <a:srgbClr val="1E1E1E"/>
                          </a:solidFill>
                          <a:latin typeface="Calibri"/>
                        </a:rPr>
                        <a:t>0.345 in both</a:t>
                      </a:r>
                    </a:p>
                  </a:txBody>
                  <a:tcPr marL="54864" marR="54864" marT="18288" marB="18288">
                    <a:solidFill>
                      <a:srgbClr val="FFFFFF"/>
                    </a:solidFill>
                  </a:tcPr>
                </a:tc>
              </a:tr>
              <a:tr h="384048">
                <a:tc>
                  <a:txBody>
                    <a:bodyPr wrap="square"/>
                    <a:lstStyle/>
                    <a:p>
                      <a:pPr algn="l"/>
                      <a:r>
                        <a:rPr sz="1350">
                          <a:solidFill>
                            <a:srgbClr val="1E1E1E"/>
                          </a:solidFill>
                          <a:latin typeface="Calibri"/>
                        </a:rPr>
                        <a:t>faint RFI  (20)</a:t>
                      </a:r>
                    </a:p>
                  </a:txBody>
                  <a:tcPr marL="54864" marR="54864" marT="18288" marB="18288">
                    <a:solidFill>
                      <a:srgbClr val="F3F5F8"/>
                    </a:solidFill>
                  </a:tcPr>
                </a:tc>
                <a:tc>
                  <a:txBody>
                    <a:bodyPr wrap="square"/>
                    <a:lstStyle/>
                    <a:p>
                      <a:pPr algn="ctr"/>
                      <a:r>
                        <a:rPr sz="1350">
                          <a:solidFill>
                            <a:srgbClr val="1E1E1E"/>
                          </a:solidFill>
                          <a:latin typeface="Calibri"/>
                        </a:rPr>
                        <a:t>0.741</a:t>
                      </a:r>
                    </a:p>
                  </a:txBody>
                  <a:tcPr marL="54864" marR="54864" marT="18288" marB="18288">
                    <a:solidFill>
                      <a:srgbClr val="F3F5F8"/>
                    </a:solidFill>
                  </a:tcPr>
                </a:tc>
                <a:tc>
                  <a:txBody>
                    <a:bodyPr wrap="square"/>
                    <a:lstStyle/>
                    <a:p>
                      <a:pPr algn="ctr"/>
                      <a:r>
                        <a:rPr sz="1350">
                          <a:solidFill>
                            <a:srgbClr val="1E1E1E"/>
                          </a:solidFill>
                          <a:latin typeface="Calibri"/>
                        </a:rPr>
                        <a:t>0.090</a:t>
                      </a:r>
                    </a:p>
                  </a:txBody>
                  <a:tcPr marL="54864" marR="54864" marT="18288" marB="18288">
                    <a:solidFill>
                      <a:srgbClr val="F3F5F8"/>
                    </a:solidFill>
                  </a:tcPr>
                </a:tc>
                <a:tc>
                  <a:txBody>
                    <a:bodyPr wrap="square"/>
                    <a:lstStyle/>
                    <a:p>
                      <a:pPr algn="ctr"/>
                      <a:r>
                        <a:rPr sz="1350">
                          <a:solidFill>
                            <a:srgbClr val="1E1E1E"/>
                          </a:solidFill>
                          <a:latin typeface="Calibri"/>
                        </a:rPr>
                        <a:t>0.520 in both</a:t>
                      </a:r>
                    </a:p>
                  </a:txBody>
                  <a:tcPr marL="54864" marR="54864" marT="18288" marB="18288">
                    <a:solidFill>
                      <a:srgbClr val="F3F5F8"/>
                    </a:solidFill>
                  </a:tcPr>
                </a:tc>
              </a:tr>
            </a:tbl>
          </a:graphicData>
        </a:graphic>
      </p:graphicFrame>
      <p:sp>
        <p:nvSpPr>
          <p:cNvPr id="5" name="TextBox 4"/>
          <p:cNvSpPr txBox="1"/>
          <p:nvPr/>
        </p:nvSpPr>
        <p:spPr>
          <a:xfrm>
            <a:off x="777240" y="4251960"/>
            <a:ext cx="10607040" cy="2011680"/>
          </a:xfrm>
          <a:prstGeom prst="rect">
            <a:avLst/>
          </a:prstGeom>
          <a:noFill/>
        </p:spPr>
        <p:txBody>
          <a:bodyPr wrap="square">
            <a:spAutoFit/>
          </a:bodyPr>
          <a:lstStyle/>
          <a:p>
            <a:pPr>
              <a:spcAft>
                <a:spcPts val="700"/>
              </a:spcAft>
            </a:pPr>
            <a:r>
              <a:rPr sz="1500" b="0" i="0">
                <a:solidFill>
                  <a:srgbClr val="1E1E1E"/>
                </a:solidFill>
                <a:latin typeface="Calibri"/>
              </a:rPr>
              <a:t>•  </a:t>
            </a:r>
            <a:r>
              <a:rPr sz="1500" b="1" i="0">
                <a:solidFill>
                  <a:srgbClr val="1E1E1E"/>
                </a:solidFill>
                <a:latin typeface="Calibri"/>
              </a:rPr>
              <a:t>Read the middle columns: </a:t>
            </a:r>
            <a:r>
              <a:rPr sz="1500" b="0" i="0">
                <a:solidFill>
                  <a:srgbClr val="1E1E1E"/>
                </a:solidFill>
                <a:latin typeface="Calibri"/>
              </a:rPr>
              <a:t>noise in the quiet image (0.370) reads brighter than real RFI in the loud image (0.090). The ordering breaks across images.</a:t>
            </a:r>
          </a:p>
          <a:p>
            <a:pPr>
              <a:spcAft>
                <a:spcPts val="700"/>
              </a:spcAft>
            </a:pPr>
            <a:r>
              <a:rPr sz="1500" b="0" i="0">
                <a:solidFill>
                  <a:srgbClr val="1E1E1E"/>
                </a:solidFill>
                <a:latin typeface="Calibri"/>
              </a:rPr>
              <a:t>•  </a:t>
            </a:r>
            <a:r>
              <a:rPr sz="1500" b="1" i="0">
                <a:solidFill>
                  <a:srgbClr val="1E1E1E"/>
                </a:solidFill>
                <a:latin typeface="Calibri"/>
              </a:rPr>
              <a:t>The authors avoided this. </a:t>
            </a:r>
            <a:r>
              <a:rPr sz="1500" b="0" i="0">
                <a:solidFill>
                  <a:srgbClr val="1E1E1E"/>
                </a:solidFill>
                <a:latin typeface="Calibri"/>
              </a:rPr>
              <a:t>Their own launcher passes a_min=30, a_max=210 — one fixed physical range for every image. That pair was never carried into our data loader.</a:t>
            </a:r>
          </a:p>
          <a:p>
            <a:pPr>
              <a:spcAft>
                <a:spcPts val="700"/>
              </a:spcAft>
            </a:pPr>
            <a:r>
              <a:rPr sz="1500" b="0" i="0">
                <a:solidFill>
                  <a:srgbClr val="1E1E1E"/>
                </a:solidFill>
                <a:latin typeface="Calibri"/>
              </a:rPr>
              <a:t>•  </a:t>
            </a:r>
            <a:r>
              <a:rPr sz="1500" b="1" i="0">
                <a:solidFill>
                  <a:srgbClr val="1E1E1E"/>
                </a:solidFill>
                <a:latin typeface="Calibri"/>
              </a:rPr>
              <a:t>tf_unet has no normalisation layers </a:t>
            </a:r>
            <a:r>
              <a:rPr sz="1500" b="0" i="0">
                <a:solidFill>
                  <a:srgbClr val="1E1E1E"/>
                </a:solidFill>
                <a:latin typeface="Calibri"/>
              </a:rPr>
              <a:t>(a 2015 design), so it cannot compensate internally.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E31837"/>
                </a:solidFill>
                <a:latin typeface="Calibri"/>
              </a:rPr>
              <a:t>➢ The HERA dataset — and a flaw in it</a:t>
            </a:r>
          </a:p>
        </p:txBody>
      </p:sp>
      <p:sp>
        <p:nvSpPr>
          <p:cNvPr id="3" name="TextBox 2"/>
          <p:cNvSpPr txBox="1"/>
          <p:nvPr/>
        </p:nvSpPr>
        <p:spPr>
          <a:xfrm>
            <a:off x="777240" y="1572768"/>
            <a:ext cx="5120640" cy="4754880"/>
          </a:xfrm>
          <a:prstGeom prst="rect">
            <a:avLst/>
          </a:prstGeom>
          <a:noFill/>
        </p:spPr>
        <p:txBody>
          <a:bodyPr wrap="square">
            <a:spAutoFit/>
          </a:bodyPr>
          <a:lstStyle/>
          <a:p>
            <a:pPr>
              <a:spcAft>
                <a:spcPts val="800"/>
              </a:spcAft>
            </a:pPr>
            <a:r>
              <a:rPr sz="1650" b="1" i="0">
                <a:solidFill>
                  <a:srgbClr val="0F2043"/>
                </a:solidFill>
                <a:latin typeface="Calibri"/>
              </a:rPr>
              <a:t>What it is</a:t>
            </a:r>
          </a:p>
          <a:p>
            <a:pPr>
              <a:spcAft>
                <a:spcPts val="700"/>
              </a:spcAft>
            </a:pPr>
            <a:r>
              <a:rPr sz="1450" b="0" i="0">
                <a:solidFill>
                  <a:srgbClr val="1E1E1E"/>
                </a:solidFill>
                <a:latin typeface="Calibri"/>
              </a:rPr>
              <a:t>•  </a:t>
            </a:r>
            <a:r>
              <a:rPr sz="1450" b="1" i="0">
                <a:solidFill>
                  <a:srgbClr val="1E1E1E"/>
                </a:solidFill>
                <a:latin typeface="Calibri"/>
              </a:rPr>
              <a:t>Source: </a:t>
            </a:r>
            <a:r>
              <a:rPr sz="1450" b="0" i="0">
                <a:solidFill>
                  <a:srgbClr val="1E1E1E"/>
                </a:solidFill>
                <a:latin typeface="Calibri"/>
              </a:rPr>
              <a:t>Zenodo 6724065, HERA_04-03-2022_all.pkl (440 MB), simulated HERA data from Mesarcik et al.</a:t>
            </a:r>
          </a:p>
          <a:p>
            <a:pPr>
              <a:spcAft>
                <a:spcPts val="700"/>
              </a:spcAft>
            </a:pPr>
            <a:r>
              <a:rPr sz="1450" b="0" i="0">
                <a:solidFill>
                  <a:srgbClr val="1E1E1E"/>
                </a:solidFill>
                <a:latin typeface="Calibri"/>
              </a:rPr>
              <a:t>•  </a:t>
            </a:r>
            <a:r>
              <a:rPr sz="1450" b="1" i="0">
                <a:solidFill>
                  <a:srgbClr val="1E1E1E"/>
                </a:solidFill>
                <a:latin typeface="Calibri"/>
              </a:rPr>
              <a:t>Structure: </a:t>
            </a:r>
            <a:r>
              <a:rPr sz="1450" b="0" i="0">
                <a:solidFill>
                  <a:srgbClr val="1E1E1E"/>
                </a:solidFill>
                <a:latin typeface="Calibri"/>
              </a:rPr>
              <a:t>420 train + 140 test, 512×512, with boolean masks.</a:t>
            </a:r>
          </a:p>
          <a:p>
            <a:pPr>
              <a:spcAft>
                <a:spcPts val="700"/>
              </a:spcAft>
            </a:pPr>
            <a:r>
              <a:rPr sz="1450" b="0" i="0">
                <a:solidFill>
                  <a:srgbClr val="1E1E1E"/>
                </a:solidFill>
                <a:latin typeface="Calibri"/>
              </a:rPr>
              <a:t>•  </a:t>
            </a:r>
            <a:r>
              <a:rPr sz="1450" b="1" i="0">
                <a:solidFill>
                  <a:srgbClr val="1E1E1E"/>
                </a:solidFill>
                <a:latin typeface="Calibri"/>
              </a:rPr>
              <a:t>RFI content: </a:t>
            </a:r>
            <a:r>
              <a:rPr sz="1450" b="0" i="0">
                <a:solidFill>
                  <a:srgbClr val="1E1E1E"/>
                </a:solidFill>
                <a:latin typeface="Calibri"/>
              </a:rPr>
              <a:t>2.75%, against 15.08% in our synthetic dataset.</a:t>
            </a:r>
          </a:p>
          <a:p>
            <a:pPr>
              <a:spcAft>
                <a:spcPts val="800"/>
              </a:spcAft>
            </a:pPr>
            <a:r>
              <a:rPr sz="1650" b="1" i="0">
                <a:solidFill>
                  <a:srgbClr val="0F2043"/>
                </a:solidFill>
                <a:latin typeface="Calibri"/>
              </a:rPr>
              <a:t>Status</a:t>
            </a:r>
          </a:p>
          <a:p>
            <a:pPr>
              <a:spcAft>
                <a:spcPts val="700"/>
              </a:spcAft>
            </a:pPr>
            <a:r>
              <a:rPr sz="1450" b="0" i="0">
                <a:solidFill>
                  <a:srgbClr val="1E1E1E"/>
                </a:solidFill>
                <a:latin typeface="Calibri"/>
              </a:rPr>
              <a:t>•  </a:t>
            </a:r>
            <a:r>
              <a:rPr sz="1450" b="1" i="0">
                <a:solidFill>
                  <a:srgbClr val="E31837"/>
                </a:solidFill>
                <a:latin typeface="Calibri"/>
              </a:rPr>
              <a:t>The authors' tf_unet has not been run on HERA. </a:t>
            </a:r>
            <a:r>
              <a:rPr sz="1450" b="0" i="0">
                <a:solidFill>
                  <a:srgbClr val="1E1E1E"/>
                </a:solidFill>
                <a:latin typeface="Calibri"/>
              </a:rPr>
              <a:t>Only the dataset audit below is complete. This is listed as work still to do.</a:t>
            </a:r>
          </a:p>
        </p:txBody>
      </p:sp>
      <p:sp>
        <p:nvSpPr>
          <p:cNvPr id="4" name="TextBox 3"/>
          <p:cNvSpPr txBox="1"/>
          <p:nvPr/>
        </p:nvSpPr>
        <p:spPr>
          <a:xfrm>
            <a:off x="6035040" y="1572768"/>
            <a:ext cx="5394960" cy="4754880"/>
          </a:xfrm>
          <a:prstGeom prst="rect">
            <a:avLst/>
          </a:prstGeom>
          <a:noFill/>
        </p:spPr>
        <p:txBody>
          <a:bodyPr wrap="square">
            <a:spAutoFit/>
          </a:bodyPr>
          <a:lstStyle/>
          <a:p>
            <a:pPr>
              <a:spcAft>
                <a:spcPts val="800"/>
              </a:spcAft>
            </a:pPr>
            <a:r>
              <a:rPr sz="1650" b="1" i="0">
                <a:solidFill>
                  <a:srgbClr val="E31837"/>
                </a:solidFill>
                <a:latin typeface="Calibri"/>
              </a:rPr>
              <a:t>The published split has train/test leakage</a:t>
            </a:r>
          </a:p>
        </p:txBody>
      </p:sp>
      <p:graphicFrame>
        <p:nvGraphicFramePr>
          <p:cNvPr id="5" name="Table 4"/>
          <p:cNvGraphicFramePr>
            <a:graphicFrameLocks noGrp="1"/>
          </p:cNvGraphicFramePr>
          <p:nvPr/>
        </p:nvGraphicFramePr>
        <p:xfrm>
          <a:off x="6080760" y="2057400"/>
          <a:ext cx="5303519" cy="1737360"/>
        </p:xfrm>
        <a:graphic>
          <a:graphicData uri="http://schemas.openxmlformats.org/drawingml/2006/table">
            <a:tbl>
              <a:tblPr>
                <a:tableStyleId>{5C22544A-7EE6-4342-B048-85BDC9FD1C3A}</a:tableStyleId>
              </a:tblPr>
              <a:tblGrid>
                <a:gridCol w="3447288"/>
                <a:gridCol w="1856231"/>
              </a:tblGrid>
              <a:tr h="347472">
                <a:tc>
                  <a:txBody>
                    <a:bodyPr wrap="square"/>
                    <a:lstStyle/>
                    <a:p>
                      <a:pPr algn="l"/>
                      <a:r>
                        <a:rPr sz="1300" b="1">
                          <a:solidFill>
                            <a:srgbClr val="FFFFFF"/>
                          </a:solidFill>
                          <a:latin typeface="Calibri"/>
                        </a:rPr>
                        <a:t>Check</a:t>
                      </a:r>
                    </a:p>
                  </a:txBody>
                  <a:tcPr marL="54864" marR="54864" marT="18288" marB="18288">
                    <a:solidFill>
                      <a:srgbClr val="0F2043"/>
                    </a:solidFill>
                  </a:tcPr>
                </a:tc>
                <a:tc>
                  <a:txBody>
                    <a:bodyPr wrap="square"/>
                    <a:lstStyle/>
                    <a:p>
                      <a:pPr algn="ctr"/>
                      <a:r>
                        <a:rPr sz="1300" b="1">
                          <a:solidFill>
                            <a:srgbClr val="FFFFFF"/>
                          </a:solidFill>
                          <a:latin typeface="Calibri"/>
                        </a:rPr>
                        <a:t>Result</a:t>
                      </a:r>
                    </a:p>
                  </a:txBody>
                  <a:tcPr marL="54864" marR="54864" marT="18288" marB="18288">
                    <a:solidFill>
                      <a:srgbClr val="0F2043"/>
                    </a:solidFill>
                  </a:tcPr>
                </a:tc>
              </a:tr>
              <a:tr h="347472">
                <a:tc>
                  <a:txBody>
                    <a:bodyPr wrap="square"/>
                    <a:lstStyle/>
                    <a:p>
                      <a:pPr algn="l"/>
                      <a:r>
                        <a:rPr sz="1300" b="0">
                          <a:solidFill>
                            <a:srgbClr val="1E1E1E"/>
                          </a:solidFill>
                          <a:latin typeface="Calibri"/>
                        </a:rPr>
                        <a:t>Unique train images</a:t>
                      </a:r>
                    </a:p>
                  </a:txBody>
                  <a:tcPr marL="54864" marR="54864" marT="18288" marB="18288">
                    <a:solidFill>
                      <a:srgbClr val="FFFFFF"/>
                    </a:solidFill>
                  </a:tcPr>
                </a:tc>
                <a:tc>
                  <a:txBody>
                    <a:bodyPr wrap="square"/>
                    <a:lstStyle/>
                    <a:p>
                      <a:pPr algn="ctr"/>
                      <a:r>
                        <a:rPr sz="1300" b="0">
                          <a:solidFill>
                            <a:srgbClr val="1E1E1E"/>
                          </a:solidFill>
                          <a:latin typeface="Calibri"/>
                        </a:rPr>
                        <a:t>382 / 420</a:t>
                      </a:r>
                    </a:p>
                  </a:txBody>
                  <a:tcPr marL="54864" marR="54864" marT="18288" marB="18288">
                    <a:solidFill>
                      <a:srgbClr val="FFFFFF"/>
                    </a:solidFill>
                  </a:tcPr>
                </a:tc>
              </a:tr>
              <a:tr h="347472">
                <a:tc>
                  <a:txBody>
                    <a:bodyPr wrap="square"/>
                    <a:lstStyle/>
                    <a:p>
                      <a:pPr algn="l"/>
                      <a:r>
                        <a:rPr sz="1300" b="0">
                          <a:solidFill>
                            <a:srgbClr val="1E1E1E"/>
                          </a:solidFill>
                          <a:latin typeface="Calibri"/>
                        </a:rPr>
                        <a:t>Unique test images</a:t>
                      </a:r>
                    </a:p>
                  </a:txBody>
                  <a:tcPr marL="54864" marR="54864" marT="18288" marB="18288">
                    <a:solidFill>
                      <a:srgbClr val="F3F5F8"/>
                    </a:solidFill>
                  </a:tcPr>
                </a:tc>
                <a:tc>
                  <a:txBody>
                    <a:bodyPr wrap="square"/>
                    <a:lstStyle/>
                    <a:p>
                      <a:pPr algn="ctr"/>
                      <a:r>
                        <a:rPr sz="1300" b="0">
                          <a:solidFill>
                            <a:srgbClr val="1E1E1E"/>
                          </a:solidFill>
                          <a:latin typeface="Calibri"/>
                        </a:rPr>
                        <a:t>135 / 140</a:t>
                      </a:r>
                    </a:p>
                  </a:txBody>
                  <a:tcPr marL="54864" marR="54864" marT="18288" marB="18288">
                    <a:solidFill>
                      <a:srgbClr val="F3F5F8"/>
                    </a:solidFill>
                  </a:tcPr>
                </a:tc>
              </a:tr>
              <a:tr h="347472">
                <a:tc>
                  <a:txBody>
                    <a:bodyPr wrap="square"/>
                    <a:lstStyle/>
                    <a:p>
                      <a:pPr algn="l"/>
                      <a:r>
                        <a:rPr sz="1300" b="1">
                          <a:solidFill>
                            <a:srgbClr val="E31837"/>
                          </a:solidFill>
                          <a:latin typeface="Calibri"/>
                        </a:rPr>
                        <a:t>Train ∩ test overlap</a:t>
                      </a:r>
                    </a:p>
                  </a:txBody>
                  <a:tcPr marL="54864" marR="54864" marT="18288" marB="18288">
                    <a:solidFill>
                      <a:srgbClr val="FFFFFF"/>
                    </a:solidFill>
                  </a:tcPr>
                </a:tc>
                <a:tc>
                  <a:txBody>
                    <a:bodyPr wrap="square"/>
                    <a:lstStyle/>
                    <a:p>
                      <a:pPr algn="ctr"/>
                      <a:r>
                        <a:rPr sz="1300" b="1">
                          <a:solidFill>
                            <a:srgbClr val="E31837"/>
                          </a:solidFill>
                          <a:latin typeface="Calibri"/>
                        </a:rPr>
                        <a:t>31 images</a:t>
                      </a:r>
                    </a:p>
                  </a:txBody>
                  <a:tcPr marL="54864" marR="54864" marT="18288" marB="18288">
                    <a:solidFill>
                      <a:srgbClr val="FFFFFF"/>
                    </a:solidFill>
                  </a:tcPr>
                </a:tc>
              </a:tr>
              <a:tr h="347472">
                <a:tc>
                  <a:txBody>
                    <a:bodyPr wrap="square"/>
                    <a:lstStyle/>
                    <a:p>
                      <a:pPr algn="l"/>
                      <a:r>
                        <a:rPr sz="1300" b="1">
                          <a:solidFill>
                            <a:srgbClr val="E31837"/>
                          </a:solidFill>
                          <a:latin typeface="Calibri"/>
                        </a:rPr>
                        <a:t>… as a share of the test set</a:t>
                      </a:r>
                    </a:p>
                  </a:txBody>
                  <a:tcPr marL="54864" marR="54864" marT="18288" marB="18288">
                    <a:solidFill>
                      <a:srgbClr val="F3F5F8"/>
                    </a:solidFill>
                  </a:tcPr>
                </a:tc>
                <a:tc>
                  <a:txBody>
                    <a:bodyPr wrap="square"/>
                    <a:lstStyle/>
                    <a:p>
                      <a:pPr algn="ctr"/>
                      <a:r>
                        <a:rPr sz="1300" b="1">
                          <a:solidFill>
                            <a:srgbClr val="E31837"/>
                          </a:solidFill>
                          <a:latin typeface="Calibri"/>
                        </a:rPr>
                        <a:t>22%</a:t>
                      </a:r>
                    </a:p>
                  </a:txBody>
                  <a:tcPr marL="54864" marR="54864" marT="18288" marB="18288">
                    <a:solidFill>
                      <a:srgbClr val="F3F5F8"/>
                    </a:solidFill>
                  </a:tcPr>
                </a:tc>
              </a:tr>
            </a:tbl>
          </a:graphicData>
        </a:graphic>
      </p:graphicFrame>
      <p:sp>
        <p:nvSpPr>
          <p:cNvPr id="6" name="TextBox 5"/>
          <p:cNvSpPr txBox="1"/>
          <p:nvPr/>
        </p:nvSpPr>
        <p:spPr>
          <a:xfrm>
            <a:off x="6035040" y="3977639"/>
            <a:ext cx="5394960" cy="2103120"/>
          </a:xfrm>
          <a:prstGeom prst="rect">
            <a:avLst/>
          </a:prstGeom>
          <a:noFill/>
        </p:spPr>
        <p:txBody>
          <a:bodyPr wrap="square">
            <a:spAutoFit/>
          </a:bodyPr>
          <a:lstStyle/>
          <a:p>
            <a:pPr>
              <a:spcAft>
                <a:spcPts val="700"/>
              </a:spcAft>
            </a:pPr>
            <a:r>
              <a:rPr sz="1450" b="0" i="0">
                <a:solidFill>
                  <a:srgbClr val="1E1E1E"/>
                </a:solidFill>
                <a:latin typeface="Calibri"/>
              </a:rPr>
              <a:t>•  </a:t>
            </a:r>
            <a:r>
              <a:rPr sz="1450" b="1" i="0">
                <a:solidFill>
                  <a:srgbClr val="1E1E1E"/>
                </a:solidFill>
                <a:latin typeface="Calibri"/>
              </a:rPr>
              <a:t>31 test images are byte-identical copies of training images, </a:t>
            </a:r>
            <a:r>
              <a:rPr sz="1450" b="0" i="0">
                <a:solidFill>
                  <a:srgbClr val="1E1E1E"/>
                </a:solidFill>
                <a:latin typeface="Calibri"/>
              </a:rPr>
              <a:t>verified by SHA-256 over the raw pixels.</a:t>
            </a:r>
          </a:p>
          <a:p>
            <a:pPr>
              <a:spcAft>
                <a:spcPts val="700"/>
              </a:spcAft>
            </a:pPr>
            <a:r>
              <a:rPr sz="1450" b="0" i="0">
                <a:solidFill>
                  <a:srgbClr val="1E1E1E"/>
                </a:solidFill>
                <a:latin typeface="Calibri"/>
              </a:rPr>
              <a:t>•  </a:t>
            </a:r>
            <a:r>
              <a:rPr sz="1450" b="1" i="0">
                <a:solidFill>
                  <a:srgbClr val="1E1E1E"/>
                </a:solidFill>
                <a:latin typeface="Calibri"/>
              </a:rPr>
              <a:t>This is the dataset's own published split. </a:t>
            </a:r>
            <a:r>
              <a:rPr sz="1450" b="0" i="0">
                <a:solidFill>
                  <a:srgbClr val="1E1E1E"/>
                </a:solidFill>
                <a:latin typeface="Calibri"/>
              </a:rPr>
              <a:t>It is a finding about a peer-reviewed benchmark, not a mistake we introduced.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E31837"/>
                </a:solidFill>
                <a:latin typeface="Calibri"/>
              </a:rPr>
              <a:t>➢ The LOFAR dataset — real telescope data</a:t>
            </a:r>
          </a:p>
        </p:txBody>
      </p:sp>
      <p:sp>
        <p:nvSpPr>
          <p:cNvPr id="3" name="TextBox 2"/>
          <p:cNvSpPr txBox="1"/>
          <p:nvPr/>
        </p:nvSpPr>
        <p:spPr>
          <a:xfrm>
            <a:off x="777240" y="1572768"/>
            <a:ext cx="5120640" cy="4846320"/>
          </a:xfrm>
          <a:prstGeom prst="rect">
            <a:avLst/>
          </a:prstGeom>
          <a:noFill/>
        </p:spPr>
        <p:txBody>
          <a:bodyPr wrap="square">
            <a:spAutoFit/>
          </a:bodyPr>
          <a:lstStyle/>
          <a:p>
            <a:pPr>
              <a:spcAft>
                <a:spcPts val="800"/>
              </a:spcAft>
            </a:pPr>
            <a:r>
              <a:rPr sz="1650" b="1" i="0">
                <a:solidFill>
                  <a:srgbClr val="0F2043"/>
                </a:solidFill>
                <a:latin typeface="Calibri"/>
              </a:rPr>
              <a:t>What it is</a:t>
            </a:r>
          </a:p>
          <a:p>
            <a:pPr>
              <a:spcAft>
                <a:spcPts val="700"/>
              </a:spcAft>
            </a:pPr>
            <a:r>
              <a:rPr sz="1400" b="0" i="0">
                <a:solidFill>
                  <a:srgbClr val="1E1E1E"/>
                </a:solidFill>
                <a:latin typeface="Calibri"/>
              </a:rPr>
              <a:t>•  </a:t>
            </a:r>
            <a:r>
              <a:rPr sz="1400" b="1" i="0">
                <a:solidFill>
                  <a:srgbClr val="1E1E1E"/>
                </a:solidFill>
                <a:latin typeface="Calibri"/>
              </a:rPr>
              <a:t>Real observations, </a:t>
            </a:r>
            <a:r>
              <a:rPr sz="1400" b="0" i="0">
                <a:solidFill>
                  <a:srgbClr val="1E1E1E"/>
                </a:solidFill>
                <a:latin typeface="Calibri"/>
              </a:rPr>
              <a:t>not simulated. 9.3 GB pickle, from Mesarcik et al. 2022 (Zenodo 6724065).</a:t>
            </a:r>
          </a:p>
          <a:p>
            <a:pPr>
              <a:spcAft>
                <a:spcPts val="700"/>
              </a:spcAft>
            </a:pPr>
            <a:r>
              <a:rPr sz="1400" b="0" i="0">
                <a:solidFill>
                  <a:srgbClr val="1E1E1E"/>
                </a:solidFill>
                <a:latin typeface="Calibri"/>
              </a:rPr>
              <a:t>•  </a:t>
            </a:r>
            <a:r>
              <a:rPr sz="1400" b="1" i="0">
                <a:solidFill>
                  <a:srgbClr val="1E1E1E"/>
                </a:solidFill>
                <a:latin typeface="Calibri"/>
              </a:rPr>
              <a:t>Structure: </a:t>
            </a:r>
            <a:r>
              <a:rPr sz="1400" b="0" i="0">
                <a:solidFill>
                  <a:srgbClr val="1E1E1E"/>
                </a:solidFill>
                <a:latin typeface="Calibri"/>
              </a:rPr>
              <a:t>a list of 4 arrays — 7500 training images and masks, 109 test images and masks.</a:t>
            </a:r>
          </a:p>
          <a:p>
            <a:pPr>
              <a:spcAft>
                <a:spcPts val="700"/>
              </a:spcAft>
            </a:pPr>
            <a:r>
              <a:rPr sz="1400" b="0" i="0">
                <a:solidFill>
                  <a:srgbClr val="1E1E1E"/>
                </a:solidFill>
                <a:latin typeface="Calibri"/>
              </a:rPr>
              <a:t>•  </a:t>
            </a:r>
            <a:r>
              <a:rPr sz="1400" b="1" i="0">
                <a:solidFill>
                  <a:srgbClr val="1E1E1E"/>
                </a:solidFill>
                <a:latin typeface="Calibri"/>
              </a:rPr>
              <a:t>Each image: </a:t>
            </a:r>
            <a:r>
              <a:rPr sz="1400" b="0" i="0">
                <a:solidFill>
                  <a:srgbClr val="1E1E1E"/>
                </a:solidFill>
                <a:latin typeface="Calibri"/>
              </a:rPr>
              <a:t>512×512, rows = time, columns = frequency (measured, and the opposite of our synthetic data).</a:t>
            </a:r>
          </a:p>
          <a:p>
            <a:pPr>
              <a:spcAft>
                <a:spcPts val="700"/>
              </a:spcAft>
            </a:pPr>
            <a:r>
              <a:rPr sz="1400" b="0" i="0">
                <a:solidFill>
                  <a:srgbClr val="1E1E1E"/>
                </a:solidFill>
                <a:latin typeface="Calibri"/>
              </a:rPr>
              <a:t>•  </a:t>
            </a:r>
            <a:r>
              <a:rPr sz="1400" b="1" i="0">
                <a:solidFill>
                  <a:srgbClr val="1E1E1E"/>
                </a:solidFill>
                <a:latin typeface="Calibri"/>
              </a:rPr>
              <a:t>Training labels: </a:t>
            </a:r>
            <a:r>
              <a:rPr sz="1400" b="0" i="0">
                <a:solidFill>
                  <a:srgbClr val="1E1E1E"/>
                </a:solidFill>
                <a:latin typeface="Calibri"/>
              </a:rPr>
              <a:t>produced by AOFlagger, a classical algorithm — not by a person.</a:t>
            </a:r>
          </a:p>
          <a:p>
            <a:pPr>
              <a:spcAft>
                <a:spcPts val="700"/>
              </a:spcAft>
            </a:pPr>
            <a:r>
              <a:rPr sz="1400" b="0" i="0">
                <a:solidFill>
                  <a:srgbClr val="1E1E1E"/>
                </a:solidFill>
                <a:latin typeface="Calibri"/>
              </a:rPr>
              <a:t>•  </a:t>
            </a:r>
            <a:r>
              <a:rPr sz="1400" b="1" i="0">
                <a:solidFill>
                  <a:srgbClr val="1E1E1E"/>
                </a:solidFill>
                <a:latin typeface="Calibri"/>
              </a:rPr>
              <a:t>Test labels: </a:t>
            </a:r>
            <a:r>
              <a:rPr sz="1400" b="0" i="0">
                <a:solidFill>
                  <a:srgbClr val="1E1E1E"/>
                </a:solidFill>
                <a:latin typeface="Calibri"/>
              </a:rPr>
              <a:t>109 baselines hand-labelled by a human expert. This is the real ground truth.</a:t>
            </a:r>
          </a:p>
        </p:txBody>
      </p:sp>
      <p:sp>
        <p:nvSpPr>
          <p:cNvPr id="4" name="TextBox 3"/>
          <p:cNvSpPr txBox="1"/>
          <p:nvPr/>
        </p:nvSpPr>
        <p:spPr>
          <a:xfrm>
            <a:off x="6035040" y="1572768"/>
            <a:ext cx="5394960" cy="4846320"/>
          </a:xfrm>
          <a:prstGeom prst="rect">
            <a:avLst/>
          </a:prstGeom>
          <a:noFill/>
        </p:spPr>
        <p:txBody>
          <a:bodyPr wrap="square">
            <a:spAutoFit/>
          </a:bodyPr>
          <a:lstStyle/>
          <a:p>
            <a:pPr>
              <a:spcAft>
                <a:spcPts val="800"/>
              </a:spcAft>
            </a:pPr>
            <a:r>
              <a:rPr sz="1650" b="1" i="0">
                <a:solidFill>
                  <a:srgbClr val="E31837"/>
                </a:solidFill>
                <a:latin typeface="Calibri"/>
              </a:rPr>
              <a:t>Three traps we found and had to guard against</a:t>
            </a:r>
          </a:p>
          <a:p>
            <a:pPr>
              <a:spcAft>
                <a:spcPts val="700"/>
              </a:spcAft>
            </a:pPr>
            <a:r>
              <a:rPr sz="1400" b="0" i="0">
                <a:solidFill>
                  <a:srgbClr val="1E1E1E"/>
                </a:solidFill>
                <a:latin typeface="Calibri"/>
              </a:rPr>
              <a:t>•  </a:t>
            </a:r>
            <a:r>
              <a:rPr sz="1400" b="1" i="0">
                <a:solidFill>
                  <a:srgbClr val="1E1E1E"/>
                </a:solidFill>
                <a:latin typeface="Calibri"/>
              </a:rPr>
              <a:t>All 109 test images are inside the training set. </a:t>
            </a:r>
            <a:r>
              <a:rPr sz="1400" b="0" i="0">
                <a:solidFill>
                  <a:srgbClr val="1E1E1E"/>
                </a:solidFill>
                <a:latin typeface="Calibri"/>
              </a:rPr>
              <a:t>Byte-identical, verified by MD5 and element-wise comparison (largest pixel difference 0.0). We drop them before training — 7356 images remain.</a:t>
            </a:r>
          </a:p>
          <a:p>
            <a:pPr>
              <a:spcAft>
                <a:spcPts val="700"/>
              </a:spcAft>
            </a:pPr>
            <a:r>
              <a:rPr sz="1400" b="0" i="0">
                <a:solidFill>
                  <a:srgbClr val="1E1E1E"/>
                </a:solidFill>
                <a:latin typeface="Calibri"/>
              </a:rPr>
              <a:t>•  </a:t>
            </a:r>
            <a:r>
              <a:rPr sz="1400" b="1" i="0">
                <a:solidFill>
                  <a:srgbClr val="1E1E1E"/>
                </a:solidFill>
                <a:latin typeface="Calibri"/>
              </a:rPr>
              <a:t>The metric must be pooled. </a:t>
            </a:r>
            <a:r>
              <a:rPr sz="1400" b="0" i="0">
                <a:solidFill>
                  <a:srgbClr val="1E1E1E"/>
                </a:solidFill>
                <a:latin typeface="Calibri"/>
              </a:rPr>
              <a:t>A pooled pixel-wise F1 and a mean of per-image F1s differ by 0.103 on this data.</a:t>
            </a:r>
          </a:p>
          <a:p>
            <a:pPr>
              <a:spcAft>
                <a:spcPts val="700"/>
              </a:spcAft>
            </a:pPr>
            <a:r>
              <a:rPr sz="1400" b="0" i="0">
                <a:solidFill>
                  <a:srgbClr val="1E1E1E"/>
                </a:solidFill>
                <a:latin typeface="Calibri"/>
              </a:rPr>
              <a:t>•  </a:t>
            </a:r>
            <a:r>
              <a:rPr sz="1400" b="1" i="0">
                <a:solidFill>
                  <a:srgbClr val="1E1E1E"/>
                </a:solidFill>
                <a:latin typeface="Calibri"/>
              </a:rPr>
              <a:t>Never open the 9.3 GB pickle directly. </a:t>
            </a:r>
            <a:r>
              <a:rPr sz="1400" b="0" i="0">
                <a:solidFill>
                  <a:srgbClr val="1E1E1E"/>
                </a:solidFill>
                <a:latin typeface="Calibri"/>
              </a:rPr>
              <a:t>It exhausts RAM. We converted it once to memory-mapped arrays: 28.7 MB resident, 0.007 s to open.</a:t>
            </a:r>
          </a:p>
        </p:txBody>
      </p:sp>
      <p:sp>
        <p:nvSpPr>
          <p:cNvPr id="5" name="TextBox 4"/>
          <p:cNvSpPr txBox="1"/>
          <p:nvPr/>
        </p:nvSpPr>
        <p:spPr>
          <a:xfrm>
            <a:off x="822960" y="6263640"/>
            <a:ext cx="10607040" cy="365760"/>
          </a:xfrm>
          <a:prstGeom prst="rect">
            <a:avLst/>
          </a:prstGeom>
          <a:noFill/>
        </p:spPr>
        <p:txBody>
          <a:bodyPr wrap="square">
            <a:spAutoFit/>
          </a:bodyPr>
          <a:lstStyle/>
          <a:p>
            <a:pPr>
              <a:spcAft>
                <a:spcPts val="700"/>
              </a:spcAft>
            </a:pPr>
            <a:r>
              <a:rPr sz="1100" b="0" i="1">
                <a:solidFill>
                  <a:srgbClr val="5A6170"/>
                </a:solidFill>
                <a:latin typeface="Calibri"/>
              </a:rPr>
              <a:t>Our AOFlagger measurement reproduces the paper's published 0.5698 to four decimals, which confirms we are using the same data, labels and metric.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E31837"/>
                </a:solidFill>
                <a:latin typeface="Calibri"/>
              </a:rPr>
              <a:t>➢ Why real data is much harder</a:t>
            </a:r>
          </a:p>
        </p:txBody>
      </p:sp>
      <p:pic>
        <p:nvPicPr>
          <p:cNvPr id="3" name="Picture 2" descr="chart_hard.png"/>
          <p:cNvPicPr>
            <a:picLocks noChangeAspect="1"/>
          </p:cNvPicPr>
          <p:nvPr/>
        </p:nvPicPr>
        <p:blipFill>
          <a:blip r:embed="rId2"/>
          <a:stretch>
            <a:fillRect/>
          </a:stretch>
        </p:blipFill>
        <p:spPr>
          <a:xfrm>
            <a:off x="1691640" y="1554480"/>
            <a:ext cx="8778240" cy="4013475"/>
          </a:xfrm>
          <a:prstGeom prst="rect">
            <a:avLst/>
          </a:prstGeom>
        </p:spPr>
      </p:pic>
      <p:sp>
        <p:nvSpPr>
          <p:cNvPr id="4" name="TextBox 3"/>
          <p:cNvSpPr txBox="1"/>
          <p:nvPr/>
        </p:nvSpPr>
        <p:spPr>
          <a:xfrm>
            <a:off x="822960" y="5614416"/>
            <a:ext cx="10607040" cy="1005840"/>
          </a:xfrm>
          <a:prstGeom prst="rect">
            <a:avLst/>
          </a:prstGeom>
          <a:noFill/>
        </p:spPr>
        <p:txBody>
          <a:bodyPr wrap="square">
            <a:spAutoFit/>
          </a:bodyPr>
          <a:lstStyle/>
          <a:p>
            <a:pPr>
              <a:spcAft>
                <a:spcPts val="700"/>
              </a:spcAft>
            </a:pPr>
            <a:r>
              <a:rPr sz="1450" b="0" i="0">
                <a:solidFill>
                  <a:srgbClr val="1E1E1E"/>
                </a:solidFill>
                <a:latin typeface="Calibri"/>
              </a:rPr>
              <a:t>•  </a:t>
            </a:r>
            <a:r>
              <a:rPr sz="1450" b="1" i="0">
                <a:solidFill>
                  <a:srgbClr val="1E1E1E"/>
                </a:solidFill>
                <a:latin typeface="Calibri"/>
              </a:rPr>
              <a:t>Our synthetic label is RFI &gt; 0.5 sigma by construction, </a:t>
            </a:r>
            <a:r>
              <a:rPr sz="1450" b="0" i="0">
                <a:solidFill>
                  <a:srgbClr val="1E1E1E"/>
                </a:solidFill>
                <a:latin typeface="Calibri"/>
              </a:rPr>
              <a:t>so every labelled pixel is brighter than the noise and there is no ambiguity.</a:t>
            </a:r>
          </a:p>
          <a:p>
            <a:pPr>
              <a:spcAft>
                <a:spcPts val="700"/>
              </a:spcAft>
            </a:pPr>
            <a:r>
              <a:rPr sz="1450" b="0" i="0">
                <a:solidFill>
                  <a:srgbClr val="1E1E1E"/>
                </a:solidFill>
                <a:latin typeface="Calibri"/>
              </a:rPr>
              <a:t>•  </a:t>
            </a:r>
            <a:r>
              <a:rPr sz="1450" b="1" i="0">
                <a:solidFill>
                  <a:srgbClr val="E31837"/>
                </a:solidFill>
                <a:latin typeface="Calibri"/>
              </a:rPr>
              <a:t>On LOFAR, about a quarter of labelled RFI is dimmer than a typical clean pixel. </a:t>
            </a:r>
            <a:r>
              <a:rPr sz="1450" b="0" i="0">
                <a:solidFill>
                  <a:srgbClr val="1E1E1E"/>
                </a:solidFill>
                <a:latin typeface="Calibri"/>
              </a:rPr>
              <a:t>Those pixels carry no brightness evidence at all — they can only be found from context. On top of that, the training labels themselves are roughly 44% wrong against the human expert.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E31837"/>
                </a:solidFill>
                <a:latin typeface="Calibri"/>
              </a:rPr>
              <a:t>➢ Authors' tf_unet on real LOFAR data</a:t>
            </a:r>
          </a:p>
        </p:txBody>
      </p:sp>
      <p:sp>
        <p:nvSpPr>
          <p:cNvPr id="3" name="TextBox 2"/>
          <p:cNvSpPr txBox="1"/>
          <p:nvPr/>
        </p:nvSpPr>
        <p:spPr>
          <a:xfrm>
            <a:off x="777240" y="1572768"/>
            <a:ext cx="10607040" cy="1097280"/>
          </a:xfrm>
          <a:prstGeom prst="rect">
            <a:avLst/>
          </a:prstGeom>
          <a:noFill/>
        </p:spPr>
        <p:txBody>
          <a:bodyPr wrap="square">
            <a:spAutoFit/>
          </a:bodyPr>
          <a:lstStyle/>
          <a:p>
            <a:pPr>
              <a:spcAft>
                <a:spcPts val="800"/>
              </a:spcAft>
            </a:pPr>
            <a:r>
              <a:rPr sz="1500" b="0" i="0">
                <a:solidFill>
                  <a:srgbClr val="1E1E1E"/>
                </a:solidFill>
                <a:latin typeface="Calibri"/>
              </a:rPr>
              <a:t>Authors' unmodified tf_unet, layers 3, features_root 32, fixed-range normalisation, no class weights — exactly the configuration that fixed the synthetic case. Trained on 6621 clean images, tested on the 109 human-expert-labelled baselines. Three seeds.</a:t>
            </a:r>
          </a:p>
        </p:txBody>
      </p:sp>
      <p:graphicFrame>
        <p:nvGraphicFramePr>
          <p:cNvPr id="4" name="Table 3"/>
          <p:cNvGraphicFramePr>
            <a:graphicFrameLocks noGrp="1"/>
          </p:cNvGraphicFramePr>
          <p:nvPr/>
        </p:nvGraphicFramePr>
        <p:xfrm>
          <a:off x="822960" y="2697480"/>
          <a:ext cx="10515600" cy="1152144"/>
        </p:xfrm>
        <a:graphic>
          <a:graphicData uri="http://schemas.openxmlformats.org/drawingml/2006/table">
            <a:tbl>
              <a:tblPr>
                <a:tableStyleId>{5C22544A-7EE6-4342-B048-85BDC9FD1C3A}</a:tableStyleId>
              </a:tblPr>
              <a:tblGrid>
                <a:gridCol w="3286125"/>
                <a:gridCol w="1971675"/>
                <a:gridCol w="1971675"/>
                <a:gridCol w="1971675"/>
                <a:gridCol w="1314450"/>
              </a:tblGrid>
              <a:tr h="384048">
                <a:tc>
                  <a:txBody>
                    <a:bodyPr wrap="square"/>
                    <a:lstStyle/>
                    <a:p>
                      <a:pPr algn="l"/>
                      <a:r>
                        <a:rPr sz="1350" b="1">
                          <a:solidFill>
                            <a:srgbClr val="FFFFFF"/>
                          </a:solidFill>
                          <a:latin typeface="Calibri"/>
                        </a:rPr>
                        <a:t>Setting</a:t>
                      </a:r>
                    </a:p>
                  </a:txBody>
                  <a:tcPr marL="54864" marR="54864" marT="18288" marB="18288">
                    <a:solidFill>
                      <a:srgbClr val="0F2043"/>
                    </a:solidFill>
                  </a:tcPr>
                </a:tc>
                <a:tc>
                  <a:txBody>
                    <a:bodyPr wrap="square"/>
                    <a:lstStyle/>
                    <a:p>
                      <a:pPr algn="ctr"/>
                      <a:r>
                        <a:rPr sz="1350" b="1">
                          <a:solidFill>
                            <a:srgbClr val="FFFFFF"/>
                          </a:solidFill>
                          <a:latin typeface="Calibri"/>
                        </a:rPr>
                        <a:t>pooled F1</a:t>
                      </a:r>
                    </a:p>
                  </a:txBody>
                  <a:tcPr marL="54864" marR="54864" marT="18288" marB="18288">
                    <a:solidFill>
                      <a:srgbClr val="0F2043"/>
                    </a:solidFill>
                  </a:tcPr>
                </a:tc>
                <a:tc>
                  <a:txBody>
                    <a:bodyPr wrap="square"/>
                    <a:lstStyle/>
                    <a:p>
                      <a:pPr algn="ctr"/>
                      <a:r>
                        <a:rPr sz="1350" b="1">
                          <a:solidFill>
                            <a:srgbClr val="FFFFFF"/>
                          </a:solidFill>
                          <a:latin typeface="Calibri"/>
                        </a:rPr>
                        <a:t>max F1</a:t>
                      </a:r>
                    </a:p>
                  </a:txBody>
                  <a:tcPr marL="54864" marR="54864" marT="18288" marB="18288">
                    <a:solidFill>
                      <a:srgbClr val="0F2043"/>
                    </a:solidFill>
                  </a:tcPr>
                </a:tc>
                <a:tc>
                  <a:txBody>
                    <a:bodyPr wrap="square"/>
                    <a:lstStyle/>
                    <a:p>
                      <a:pPr algn="ctr"/>
                      <a:r>
                        <a:rPr sz="1350" b="1">
                          <a:solidFill>
                            <a:srgbClr val="FFFFFF"/>
                          </a:solidFill>
                          <a:latin typeface="Calibri"/>
                        </a:rPr>
                        <a:t>ROC AUC</a:t>
                      </a:r>
                    </a:p>
                  </a:txBody>
                  <a:tcPr marL="54864" marR="54864" marT="18288" marB="18288">
                    <a:solidFill>
                      <a:srgbClr val="0F2043"/>
                    </a:solidFill>
                  </a:tcPr>
                </a:tc>
                <a:tc>
                  <a:txBody>
                    <a:bodyPr wrap="square"/>
                    <a:lstStyle/>
                    <a:p>
                      <a:pPr algn="ctr"/>
                      <a:r>
                        <a:rPr sz="1350" b="1">
                          <a:solidFill>
                            <a:srgbClr val="FFFFFF"/>
                          </a:solidFill>
                          <a:latin typeface="Calibri"/>
                        </a:rPr>
                        <a:t>best epoch</a:t>
                      </a:r>
                    </a:p>
                  </a:txBody>
                  <a:tcPr marL="54864" marR="54864" marT="18288" marB="18288">
                    <a:solidFill>
                      <a:srgbClr val="0F2043"/>
                    </a:solidFill>
                  </a:tcPr>
                </a:tc>
              </a:tr>
              <a:tr h="384048">
                <a:tc>
                  <a:txBody>
                    <a:bodyPr wrap="square"/>
                    <a:lstStyle/>
                    <a:p>
                      <a:pPr algn="l"/>
                      <a:r>
                        <a:rPr sz="1350" b="0">
                          <a:solidFill>
                            <a:srgbClr val="1E1E1E"/>
                          </a:solidFill>
                          <a:latin typeface="Calibri"/>
                        </a:rPr>
                        <a:t>lr 1e-3, 60 epochs  (3 seeds)</a:t>
                      </a:r>
                    </a:p>
                  </a:txBody>
                  <a:tcPr marL="54864" marR="54864" marT="18288" marB="18288">
                    <a:solidFill>
                      <a:srgbClr val="FFFFFF"/>
                    </a:solidFill>
                  </a:tcPr>
                </a:tc>
                <a:tc>
                  <a:txBody>
                    <a:bodyPr wrap="square"/>
                    <a:lstStyle/>
                    <a:p>
                      <a:pPr algn="ctr"/>
                      <a:r>
                        <a:rPr sz="1350" b="0">
                          <a:solidFill>
                            <a:srgbClr val="1E1E1E"/>
                          </a:solidFill>
                          <a:latin typeface="Calibri"/>
                        </a:rPr>
                        <a:t>0.4563 ± 0.0279</a:t>
                      </a:r>
                    </a:p>
                  </a:txBody>
                  <a:tcPr marL="54864" marR="54864" marT="18288" marB="18288">
                    <a:solidFill>
                      <a:srgbClr val="FFFFFF"/>
                    </a:solidFill>
                  </a:tcPr>
                </a:tc>
                <a:tc>
                  <a:txBody>
                    <a:bodyPr wrap="square"/>
                    <a:lstStyle/>
                    <a:p>
                      <a:pPr algn="ctr"/>
                      <a:r>
                        <a:rPr sz="1350" b="0">
                          <a:solidFill>
                            <a:srgbClr val="1E1E1E"/>
                          </a:solidFill>
                          <a:latin typeface="Calibri"/>
                        </a:rPr>
                        <a:t>0.4901 ± 0.0495</a:t>
                      </a:r>
                    </a:p>
                  </a:txBody>
                  <a:tcPr marL="54864" marR="54864" marT="18288" marB="18288">
                    <a:solidFill>
                      <a:srgbClr val="FFFFFF"/>
                    </a:solidFill>
                  </a:tcPr>
                </a:tc>
                <a:tc>
                  <a:txBody>
                    <a:bodyPr wrap="square"/>
                    <a:lstStyle/>
                    <a:p>
                      <a:pPr algn="ctr"/>
                      <a:r>
                        <a:rPr sz="1350" b="0">
                          <a:solidFill>
                            <a:srgbClr val="1E1E1E"/>
                          </a:solidFill>
                          <a:latin typeface="Calibri"/>
                        </a:rPr>
                        <a:t>0.9389 ± 0.0045</a:t>
                      </a:r>
                    </a:p>
                  </a:txBody>
                  <a:tcPr marL="54864" marR="54864" marT="18288" marB="18288">
                    <a:solidFill>
                      <a:srgbClr val="FFFFFF"/>
                    </a:solidFill>
                  </a:tcPr>
                </a:tc>
                <a:tc>
                  <a:txBody>
                    <a:bodyPr wrap="square"/>
                    <a:lstStyle/>
                    <a:p>
                      <a:pPr algn="ctr"/>
                      <a:r>
                        <a:rPr sz="1350" b="0">
                          <a:solidFill>
                            <a:srgbClr val="1E1E1E"/>
                          </a:solidFill>
                          <a:latin typeface="Calibri"/>
                        </a:rPr>
                        <a:t>50–58</a:t>
                      </a:r>
                    </a:p>
                  </a:txBody>
                  <a:tcPr marL="54864" marR="54864" marT="18288" marB="18288">
                    <a:solidFill>
                      <a:srgbClr val="FFFFFF"/>
                    </a:solidFill>
                  </a:tcPr>
                </a:tc>
              </a:tr>
              <a:tr h="384048">
                <a:tc>
                  <a:txBody>
                    <a:bodyPr wrap="square"/>
                    <a:lstStyle/>
                    <a:p>
                      <a:pPr algn="l"/>
                      <a:r>
                        <a:rPr sz="1350" b="1">
                          <a:solidFill>
                            <a:srgbClr val="E31837"/>
                          </a:solidFill>
                          <a:latin typeface="Calibri"/>
                        </a:rPr>
                        <a:t>lr 1e-4, 150 epochs  (3 seeds)</a:t>
                      </a:r>
                    </a:p>
                  </a:txBody>
                  <a:tcPr marL="54864" marR="54864" marT="18288" marB="18288">
                    <a:solidFill>
                      <a:srgbClr val="F3F5F8"/>
                    </a:solidFill>
                  </a:tcPr>
                </a:tc>
                <a:tc>
                  <a:txBody>
                    <a:bodyPr wrap="square"/>
                    <a:lstStyle/>
                    <a:p>
                      <a:pPr algn="ctr"/>
                      <a:r>
                        <a:rPr sz="1350" b="1">
                          <a:solidFill>
                            <a:srgbClr val="E31837"/>
                          </a:solidFill>
                          <a:latin typeface="Calibri"/>
                        </a:rPr>
                        <a:t>0.5021 ± 0.0259</a:t>
                      </a:r>
                    </a:p>
                  </a:txBody>
                  <a:tcPr marL="54864" marR="54864" marT="18288" marB="18288">
                    <a:solidFill>
                      <a:srgbClr val="F3F5F8"/>
                    </a:solidFill>
                  </a:tcPr>
                </a:tc>
                <a:tc>
                  <a:txBody>
                    <a:bodyPr wrap="square"/>
                    <a:lstStyle/>
                    <a:p>
                      <a:pPr algn="ctr"/>
                      <a:r>
                        <a:rPr sz="1350" b="1">
                          <a:solidFill>
                            <a:srgbClr val="E31837"/>
                          </a:solidFill>
                          <a:latin typeface="Calibri"/>
                        </a:rPr>
                        <a:t>0.5482 ± 0.0139</a:t>
                      </a:r>
                    </a:p>
                  </a:txBody>
                  <a:tcPr marL="54864" marR="54864" marT="18288" marB="18288">
                    <a:solidFill>
                      <a:srgbClr val="F3F5F8"/>
                    </a:solidFill>
                  </a:tcPr>
                </a:tc>
                <a:tc>
                  <a:txBody>
                    <a:bodyPr wrap="square"/>
                    <a:lstStyle/>
                    <a:p>
                      <a:pPr algn="ctr"/>
                      <a:r>
                        <a:rPr sz="1350" b="1">
                          <a:solidFill>
                            <a:srgbClr val="E31837"/>
                          </a:solidFill>
                          <a:latin typeface="Calibri"/>
                        </a:rPr>
                        <a:t>0.9470 ± 0.0074</a:t>
                      </a:r>
                    </a:p>
                  </a:txBody>
                  <a:tcPr marL="54864" marR="54864" marT="18288" marB="18288">
                    <a:solidFill>
                      <a:srgbClr val="F3F5F8"/>
                    </a:solidFill>
                  </a:tcPr>
                </a:tc>
                <a:tc>
                  <a:txBody>
                    <a:bodyPr wrap="square"/>
                    <a:lstStyle/>
                    <a:p>
                      <a:pPr algn="ctr"/>
                      <a:r>
                        <a:rPr sz="1350" b="1">
                          <a:solidFill>
                            <a:srgbClr val="E31837"/>
                          </a:solidFill>
                          <a:latin typeface="Calibri"/>
                        </a:rPr>
                        <a:t>114</a:t>
                      </a:r>
                    </a:p>
                  </a:txBody>
                  <a:tcPr marL="54864" marR="54864" marT="18288" marB="18288">
                    <a:solidFill>
                      <a:srgbClr val="F3F5F8"/>
                    </a:solidFill>
                  </a:tcPr>
                </a:tc>
              </a:tr>
            </a:tbl>
          </a:graphicData>
        </a:graphic>
      </p:graphicFrame>
      <p:sp>
        <p:nvSpPr>
          <p:cNvPr id="5" name="TextBox 4"/>
          <p:cNvSpPr txBox="1"/>
          <p:nvPr/>
        </p:nvSpPr>
        <p:spPr>
          <a:xfrm>
            <a:off x="777240" y="3977639"/>
            <a:ext cx="10607040" cy="2194560"/>
          </a:xfrm>
          <a:prstGeom prst="rect">
            <a:avLst/>
          </a:prstGeom>
          <a:noFill/>
        </p:spPr>
        <p:txBody>
          <a:bodyPr wrap="square">
            <a:spAutoFit/>
          </a:bodyPr>
          <a:lstStyle/>
          <a:p>
            <a:pPr>
              <a:spcAft>
                <a:spcPts val="700"/>
              </a:spcAft>
            </a:pPr>
            <a:r>
              <a:rPr sz="1500" b="0" i="0">
                <a:solidFill>
                  <a:srgbClr val="1E1E1E"/>
                </a:solidFill>
                <a:latin typeface="Calibri"/>
              </a:rPr>
              <a:t>•  </a:t>
            </a:r>
            <a:r>
              <a:rPr sz="1500" b="1" i="0">
                <a:solidFill>
                  <a:srgbClr val="1E1E1E"/>
                </a:solidFill>
                <a:latin typeface="Calibri"/>
              </a:rPr>
              <a:t>It did not collapse, </a:t>
            </a:r>
            <a:r>
              <a:rPr sz="1500" b="0" i="0">
                <a:solidFill>
                  <a:srgbClr val="1E1E1E"/>
                </a:solidFill>
                <a:latin typeface="Calibri"/>
              </a:rPr>
              <a:t>which was the real risk at 1:129 imbalance with no class weighting.</a:t>
            </a:r>
          </a:p>
          <a:p>
            <a:pPr>
              <a:spcAft>
                <a:spcPts val="700"/>
              </a:spcAft>
            </a:pPr>
            <a:r>
              <a:rPr sz="1500" b="0" i="0">
                <a:solidFill>
                  <a:srgbClr val="1E1E1E"/>
                </a:solidFill>
                <a:latin typeface="Calibri"/>
              </a:rPr>
              <a:t>•  </a:t>
            </a:r>
            <a:r>
              <a:rPr sz="1500" b="1" i="0">
                <a:solidFill>
                  <a:srgbClr val="1E1E1E"/>
                </a:solidFill>
                <a:latin typeface="Calibri"/>
              </a:rPr>
              <a:t>The learning rate mattered more than any architecture change we have measured. </a:t>
            </a:r>
            <a:r>
              <a:rPr sz="1500" b="0" i="0">
                <a:solidFill>
                  <a:srgbClr val="1E1E1E"/>
                </a:solidFill>
                <a:latin typeface="Calibri"/>
              </a:rPr>
              <a:t>Dropping from 1e-3 to 1e-4 and training longer gained +0.058 max F1 and more than halved the seed spread.</a:t>
            </a:r>
          </a:p>
          <a:p>
            <a:pPr>
              <a:spcAft>
                <a:spcPts val="700"/>
              </a:spcAft>
            </a:pPr>
            <a:r>
              <a:rPr sz="1500" b="0" i="0">
                <a:solidFill>
                  <a:srgbClr val="1E1E1E"/>
                </a:solidFill>
                <a:latin typeface="Calibri"/>
              </a:rPr>
              <a:t>•  </a:t>
            </a:r>
            <a:r>
              <a:rPr sz="1500" b="1" i="0">
                <a:solidFill>
                  <a:srgbClr val="E31837"/>
                </a:solidFill>
                <a:latin typeface="Calibri"/>
              </a:rPr>
              <a:t>Honest caveat: </a:t>
            </a:r>
            <a:r>
              <a:rPr sz="1500" b="0" i="0">
                <a:solidFill>
                  <a:srgbClr val="1E1E1E"/>
                </a:solidFill>
                <a:latin typeface="Calibri"/>
              </a:rPr>
              <a:t>that +0.058 is NOT statistically significant at 3 seeds (paired t = 1.54, 2 dof). An earlier single-seed run suggested +0.118 — seed 0 was a lucky draw, and two more seeds halved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E31837"/>
                </a:solidFill>
                <a:latin typeface="Calibri"/>
              </a:rPr>
              <a:t>➢ Where that puts us</a:t>
            </a:r>
          </a:p>
        </p:txBody>
      </p:sp>
      <p:pic>
        <p:nvPicPr>
          <p:cNvPr id="3" name="Picture 2" descr="chart_lofar.png"/>
          <p:cNvPicPr>
            <a:picLocks noChangeAspect="1"/>
          </p:cNvPicPr>
          <p:nvPr/>
        </p:nvPicPr>
        <p:blipFill>
          <a:blip r:embed="rId2"/>
          <a:stretch>
            <a:fillRect/>
          </a:stretch>
        </p:blipFill>
        <p:spPr>
          <a:xfrm>
            <a:off x="2240280" y="1554480"/>
            <a:ext cx="7680960" cy="4011514"/>
          </a:xfrm>
          <a:prstGeom prst="rect">
            <a:avLst/>
          </a:prstGeom>
        </p:spPr>
      </p:pic>
      <p:sp>
        <p:nvSpPr>
          <p:cNvPr id="4" name="TextBox 3"/>
          <p:cNvSpPr txBox="1"/>
          <p:nvPr/>
        </p:nvSpPr>
        <p:spPr>
          <a:xfrm>
            <a:off x="822960" y="5614416"/>
            <a:ext cx="10607040" cy="1005840"/>
          </a:xfrm>
          <a:prstGeom prst="rect">
            <a:avLst/>
          </a:prstGeom>
          <a:noFill/>
        </p:spPr>
        <p:txBody>
          <a:bodyPr wrap="square">
            <a:spAutoFit/>
          </a:bodyPr>
          <a:lstStyle/>
          <a:p>
            <a:pPr>
              <a:spcAft>
                <a:spcPts val="700"/>
              </a:spcAft>
            </a:pPr>
            <a:r>
              <a:rPr sz="1350" b="0" i="0">
                <a:solidFill>
                  <a:srgbClr val="1E1E1E"/>
                </a:solidFill>
                <a:latin typeface="Calibri"/>
              </a:rPr>
              <a:t>•  </a:t>
            </a:r>
            <a:r>
              <a:rPr sz="1350" b="1" i="0">
                <a:solidFill>
                  <a:srgbClr val="1E1E1E"/>
                </a:solidFill>
                <a:latin typeface="Calibri"/>
              </a:rPr>
              <a:t>We essentially reproduce the published U-Net. </a:t>
            </a:r>
            <a:r>
              <a:rPr sz="1350" b="0" i="0">
                <a:solidFill>
                  <a:srgbClr val="1E1E1E"/>
                </a:solidFill>
                <a:latin typeface="Calibri"/>
              </a:rPr>
              <a:t>0.5482 against their 0.5876 for the same architecture; the remaining 0.024 is plausibly the two differences left — 32×32 patches and per-image normalisation.</a:t>
            </a:r>
          </a:p>
          <a:p>
            <a:pPr>
              <a:spcAft>
                <a:spcPts val="700"/>
              </a:spcAft>
            </a:pPr>
            <a:r>
              <a:rPr sz="1350" b="0" i="0">
                <a:solidFill>
                  <a:srgbClr val="1E1E1E"/>
                </a:solidFill>
                <a:latin typeface="Calibri"/>
              </a:rPr>
              <a:t>•  </a:t>
            </a:r>
            <a:r>
              <a:rPr sz="1350" b="1" i="0">
                <a:solidFill>
                  <a:srgbClr val="1E1E1E"/>
                </a:solidFill>
                <a:latin typeface="Calibri"/>
              </a:rPr>
              <a:t>AOFlagger sits at 0.5698 </a:t>
            </a:r>
            <a:r>
              <a:rPr sz="1350" b="0" i="0">
                <a:solidFill>
                  <a:srgbClr val="1E1E1E"/>
                </a:solidFill>
                <a:latin typeface="Calibri"/>
              </a:rPr>
              <a:t>and it wrote the training labels — every learned method here is taught by something itself only ~57% right.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E31837"/>
                </a:solidFill>
                <a:latin typeface="Calibri"/>
              </a:rPr>
              <a:t>➢ The number worth remembering</a:t>
            </a:r>
          </a:p>
        </p:txBody>
      </p:sp>
      <p:pic>
        <p:nvPicPr>
          <p:cNvPr id="3" name="Picture 2" descr="chart_gap.png"/>
          <p:cNvPicPr>
            <a:picLocks noChangeAspect="1"/>
          </p:cNvPicPr>
          <p:nvPr/>
        </p:nvPicPr>
        <p:blipFill>
          <a:blip r:embed="rId2"/>
          <a:stretch>
            <a:fillRect/>
          </a:stretch>
        </p:blipFill>
        <p:spPr>
          <a:xfrm>
            <a:off x="3063240" y="1554480"/>
            <a:ext cx="6035040" cy="3862606"/>
          </a:xfrm>
          <a:prstGeom prst="rect">
            <a:avLst/>
          </a:prstGeom>
        </p:spPr>
      </p:pic>
      <p:sp>
        <p:nvSpPr>
          <p:cNvPr id="4" name="TextBox 3"/>
          <p:cNvSpPr txBox="1"/>
          <p:nvPr/>
        </p:nvSpPr>
        <p:spPr>
          <a:xfrm>
            <a:off x="822960" y="5504688"/>
            <a:ext cx="10607040" cy="1097280"/>
          </a:xfrm>
          <a:prstGeom prst="rect">
            <a:avLst/>
          </a:prstGeom>
          <a:noFill/>
        </p:spPr>
        <p:txBody>
          <a:bodyPr wrap="square">
            <a:spAutoFit/>
          </a:bodyPr>
          <a:lstStyle/>
          <a:p>
            <a:pPr>
              <a:spcAft>
                <a:spcPts val="700"/>
              </a:spcAft>
            </a:pPr>
            <a:r>
              <a:rPr sz="1550" b="0" i="0">
                <a:solidFill>
                  <a:srgbClr val="1E1E1E"/>
                </a:solidFill>
                <a:latin typeface="Calibri"/>
              </a:rPr>
              <a:t>•  </a:t>
            </a:r>
            <a:r>
              <a:rPr sz="1550" b="1" i="0">
                <a:solidFill>
                  <a:srgbClr val="1E1E1E"/>
                </a:solidFill>
                <a:latin typeface="Calibri"/>
              </a:rPr>
              <a:t>Identical code, identical architecture, identical training budget. </a:t>
            </a:r>
            <a:r>
              <a:rPr sz="1550" b="0" i="0">
                <a:solidFill>
                  <a:srgbClr val="1E1E1E"/>
                </a:solidFill>
                <a:latin typeface="Calibri"/>
              </a:rPr>
              <a:t>Only the data changed.</a:t>
            </a:r>
          </a:p>
          <a:p>
            <a:pPr>
              <a:spcAft>
                <a:spcPts val="700"/>
              </a:spcAft>
            </a:pPr>
            <a:r>
              <a:rPr sz="1550" b="0" i="0">
                <a:solidFill>
                  <a:srgbClr val="1E1E1E"/>
                </a:solidFill>
                <a:latin typeface="Calibri"/>
              </a:rPr>
              <a:t>•  </a:t>
            </a:r>
            <a:r>
              <a:rPr sz="1550" b="1" i="0">
                <a:solidFill>
                  <a:srgbClr val="E31837"/>
                </a:solidFill>
                <a:latin typeface="Calibri"/>
              </a:rPr>
              <a:t>A synthetic benchmark can overstate a method's real performance by more than 0.38 F1. </a:t>
            </a:r>
            <a:r>
              <a:rPr sz="1550" b="0" i="0">
                <a:solidFill>
                  <a:srgbClr val="1E1E1E"/>
                </a:solidFill>
                <a:latin typeface="Calibri"/>
              </a:rPr>
              <a:t>Any result quoted on synthetic data alone should be read with that in mind — including our own.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b="1">
                <a:solidFill>
                  <a:srgbClr val="E31837"/>
                </a:solidFill>
                <a:latin typeface="Calibri"/>
              </a:rPr>
              <a:t>➢ To Do Next Week</a:t>
            </a:r>
          </a:p>
        </p:txBody>
      </p:sp>
      <p:sp>
        <p:nvSpPr>
          <p:cNvPr id="3" name="TextBox 2"/>
          <p:cNvSpPr txBox="1"/>
          <p:nvPr/>
        </p:nvSpPr>
        <p:spPr>
          <a:xfrm>
            <a:off x="1005840" y="1600200"/>
            <a:ext cx="10058400" cy="4572000"/>
          </a:xfrm>
          <a:prstGeom prst="rect">
            <a:avLst/>
          </a:prstGeom>
          <a:noFill/>
        </p:spPr>
        <p:txBody>
          <a:bodyPr wrap="square">
            <a:spAutoFit/>
          </a:bodyPr>
          <a:lstStyle/>
          <a:p>
            <a:pPr>
              <a:spcAft>
                <a:spcPts val="1600"/>
              </a:spcAft>
            </a:pPr>
            <a:r>
              <a:rPr sz="1900" b="0" i="0">
                <a:solidFill>
                  <a:srgbClr val="1E1E1E"/>
                </a:solidFill>
                <a:latin typeface="Calibri"/>
              </a:rPr>
              <a:t>•  </a:t>
            </a:r>
            <a:r>
              <a:rPr sz="1900" b="1" i="0">
                <a:solidFill>
                  <a:srgbClr val="1E1E1E"/>
                </a:solidFill>
                <a:latin typeface="Calibri"/>
              </a:rPr>
              <a:t>Run the authors' tf_unet on HERA: </a:t>
            </a:r>
            <a:r>
              <a:rPr sz="1900" b="0" i="0">
                <a:solidFill>
                  <a:srgbClr val="1E1E1E"/>
                </a:solidFill>
                <a:latin typeface="Calibri"/>
              </a:rPr>
              <a:t>the one gap in this week's comparison — the dataset is audited and deduplicated, but the baseline has not been run on it.</a:t>
            </a:r>
          </a:p>
          <a:p>
            <a:pPr>
              <a:spcAft>
                <a:spcPts val="1600"/>
              </a:spcAft>
            </a:pPr>
            <a:r>
              <a:rPr sz="1900" b="0" i="0">
                <a:solidFill>
                  <a:srgbClr val="1E1E1E"/>
                </a:solidFill>
                <a:latin typeface="Calibri"/>
              </a:rPr>
              <a:t>•  </a:t>
            </a:r>
            <a:r>
              <a:rPr sz="1900" b="1" i="0">
                <a:solidFill>
                  <a:srgbClr val="1E1E1E"/>
                </a:solidFill>
                <a:latin typeface="Calibri"/>
              </a:rPr>
              <a:t>Present our own hybrid model: </a:t>
            </a:r>
            <a:r>
              <a:rPr sz="1900" b="0" i="0">
                <a:solidFill>
                  <a:srgbClr val="1E1E1E"/>
                </a:solidFill>
                <a:latin typeface="Calibri"/>
              </a:rPr>
              <a:t>results on the synthetic, and on the real LOFAR data against the same published benchmarks.</a:t>
            </a:r>
          </a:p>
          <a:p>
            <a:pPr>
              <a:spcAft>
                <a:spcPts val="1600"/>
              </a:spcAft>
            </a:pPr>
            <a:r>
              <a:rPr sz="1900" b="0" i="0">
                <a:solidFill>
                  <a:srgbClr val="1E1E1E"/>
                </a:solidFill>
                <a:latin typeface="Calibri"/>
              </a:rPr>
              <a:t>•  </a:t>
            </a:r>
            <a:r>
              <a:rPr sz="1900" b="1" i="0">
                <a:solidFill>
                  <a:srgbClr val="1E1E1E"/>
                </a:solidFill>
                <a:latin typeface="Calibri"/>
              </a:rPr>
              <a:t>Architecture ablation: </a:t>
            </a:r>
            <a:r>
              <a:rPr sz="1900" b="0" i="0">
                <a:solidFill>
                  <a:srgbClr val="1E1E1E"/>
                </a:solidFill>
                <a:latin typeface="Calibri"/>
              </a:rPr>
              <a:t>which parts of the model actually contribute, measured on real data rather than assumed.</a:t>
            </a:r>
          </a:p>
          <a:p>
            <a:pPr>
              <a:spcAft>
                <a:spcPts val="1600"/>
              </a:spcAft>
            </a:pPr>
            <a:r>
              <a:rPr sz="1900" b="0" i="0">
                <a:solidFill>
                  <a:srgbClr val="1E1E1E"/>
                </a:solidFill>
                <a:latin typeface="Calibri"/>
              </a:rPr>
              <a:t>•  </a:t>
            </a:r>
            <a:r>
              <a:rPr sz="1900" b="1" i="0">
                <a:solidFill>
                  <a:srgbClr val="1E1E1E"/>
                </a:solidFill>
                <a:latin typeface="Calibri"/>
              </a:rPr>
              <a:t>Begin the project report. </a:t>
            </a:r>
            <a:r>
              <a:rPr sz="1900" b="0" i="0">
                <a:solidFill>
                  <a:srgbClr val="1E1E1E"/>
                </a:solidFill>
                <a:latin typeface="Calibri"/>
              </a:rPr>
              <a:t>The measurements are largely complete; the writing is now the bottleneck.</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Red">
      <a:dk1>
        <a:srgbClr val="000000"/>
      </a:dk1>
      <a:lt1>
        <a:srgbClr val="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Red">
      <a:dk1>
        <a:srgbClr val="000000"/>
      </a:dk1>
      <a:lt1>
        <a:srgbClr val="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