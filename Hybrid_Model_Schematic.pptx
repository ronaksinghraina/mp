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3" r:id="rId4"/>
    <p:sldMasterId id="214748367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Ronak Singh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/>
          <p:nvPr/>
        </p:nvSpPr>
        <p:spPr>
          <a:xfrm>
            <a:off x="0" y="0"/>
            <a:ext cx="12192000" cy="4606724"/>
          </a:xfrm>
          <a:prstGeom prst="rect">
            <a:avLst/>
          </a:prstGeom>
          <a:solidFill>
            <a:srgbClr val="9208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" name="Google Shape;18;p2"/>
          <p:cNvGrpSpPr/>
          <p:nvPr/>
        </p:nvGrpSpPr>
        <p:grpSpPr>
          <a:xfrm>
            <a:off x="4539436" y="1893116"/>
            <a:ext cx="3113127" cy="3113127"/>
            <a:chOff x="4539436" y="1893116"/>
            <a:chExt cx="3113127" cy="3113127"/>
          </a:xfrm>
        </p:grpSpPr>
        <p:sp>
          <p:nvSpPr>
            <p:cNvPr id="19" name="Google Shape;19;p2"/>
            <p:cNvSpPr/>
            <p:nvPr/>
          </p:nvSpPr>
          <p:spPr>
            <a:xfrm>
              <a:off x="4539436" y="1893116"/>
              <a:ext cx="3113127" cy="3113127"/>
            </a:xfrm>
            <a:prstGeom prst="ellipse">
              <a:avLst/>
            </a:prstGeom>
            <a:solidFill>
              <a:srgbClr val="DA222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4648304" y="2001985"/>
              <a:ext cx="2895391" cy="2895391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" name="Google Shape;21;p2"/>
          <p:cNvSpPr/>
          <p:nvPr/>
        </p:nvSpPr>
        <p:spPr>
          <a:xfrm>
            <a:off x="-2" y="3912719"/>
            <a:ext cx="12192000" cy="228263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22" name="Google Shape;2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044975" y="2476877"/>
            <a:ext cx="2102047" cy="1232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6256" y="5877605"/>
            <a:ext cx="4130398" cy="92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782187" y="1367519"/>
            <a:ext cx="30483" cy="5656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976150" y="2885751"/>
            <a:ext cx="30483" cy="5656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3"/>
          <p:cNvSpPr txBox="1"/>
          <p:nvPr>
            <p:ph type="title"/>
          </p:nvPr>
        </p:nvSpPr>
        <p:spPr>
          <a:xfrm>
            <a:off x="2209801" y="328976"/>
            <a:ext cx="6721764" cy="9176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  <a:defRPr b="1">
                <a:solidFill>
                  <a:srgbClr val="FF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3"/>
          <p:cNvSpPr txBox="1"/>
          <p:nvPr>
            <p:ph idx="12" type="sldNum"/>
          </p:nvPr>
        </p:nvSpPr>
        <p:spPr>
          <a:xfrm>
            <a:off x="3385127" y="63602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Logo, company name&#10;&#10;Description automatically generated" id="31" name="Google Shape;3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08684" y="365125"/>
            <a:ext cx="1851025" cy="1085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5400000">
            <a:off x="5982501" y="1364002"/>
            <a:ext cx="58278" cy="108136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3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6095648" y="-4527556"/>
            <a:ext cx="65358" cy="121273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logo with a head and lines&#10;&#10;Description automatically generated with medium confidence" id="34" name="Google Shape;3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70576" y="86881"/>
            <a:ext cx="1366447" cy="1390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5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1" name="Google Shape;51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9" name="Google Shape;69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6" name="Google Shape;76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7" name="Google Shape;77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1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제목 슬라이드">
  <p:cSld name="9_제목 슬라이드">
    <p:bg>
      <p:bgPr>
        <a:solidFill>
          <a:srgbClr val="920815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/>
          <p:nvPr/>
        </p:nvSpPr>
        <p:spPr>
          <a:xfrm>
            <a:off x="2204720" y="0"/>
            <a:ext cx="9774801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rgbClr val="C70B1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/>
          <p:nvPr/>
        </p:nvSpPr>
        <p:spPr>
          <a:xfrm>
            <a:off x="2826365" y="0"/>
            <a:ext cx="9365635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95" name="Google Shape;95;p13"/>
          <p:cNvPicPr preferRelativeResize="0"/>
          <p:nvPr/>
        </p:nvPicPr>
        <p:blipFill rotWithShape="1">
          <a:blip r:embed="rId2">
            <a:alphaModFix amt="5000"/>
          </a:blip>
          <a:srcRect b="0" l="0" r="0" t="0"/>
          <a:stretch/>
        </p:blipFill>
        <p:spPr>
          <a:xfrm>
            <a:off x="2360757" y="794085"/>
            <a:ext cx="5433589" cy="3186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48840" y="5457398"/>
            <a:ext cx="5433589" cy="1213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 txBox="1"/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5"/>
          <p:cNvSpPr/>
          <p:nvPr/>
        </p:nvSpPr>
        <p:spPr>
          <a:xfrm>
            <a:off x="0" y="0"/>
            <a:ext cx="12192000" cy="4606800"/>
          </a:xfrm>
          <a:prstGeom prst="rect">
            <a:avLst/>
          </a:prstGeom>
          <a:solidFill>
            <a:srgbClr val="9208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6" name="Google Shape;106;p15"/>
          <p:cNvGrpSpPr/>
          <p:nvPr/>
        </p:nvGrpSpPr>
        <p:grpSpPr>
          <a:xfrm>
            <a:off x="4539436" y="1893116"/>
            <a:ext cx="3113100" cy="3113100"/>
            <a:chOff x="4539436" y="1893116"/>
            <a:chExt cx="3113100" cy="3113100"/>
          </a:xfrm>
        </p:grpSpPr>
        <p:sp>
          <p:nvSpPr>
            <p:cNvPr id="107" name="Google Shape;107;p15"/>
            <p:cNvSpPr/>
            <p:nvPr/>
          </p:nvSpPr>
          <p:spPr>
            <a:xfrm>
              <a:off x="4539436" y="1893116"/>
              <a:ext cx="3113100" cy="3113100"/>
            </a:xfrm>
            <a:prstGeom prst="ellipse">
              <a:avLst/>
            </a:prstGeom>
            <a:solidFill>
              <a:srgbClr val="DA222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5"/>
            <p:cNvSpPr/>
            <p:nvPr/>
          </p:nvSpPr>
          <p:spPr>
            <a:xfrm>
              <a:off x="4648304" y="2001985"/>
              <a:ext cx="2895300" cy="2895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9" name="Google Shape;109;p15"/>
          <p:cNvSpPr/>
          <p:nvPr/>
        </p:nvSpPr>
        <p:spPr>
          <a:xfrm>
            <a:off x="-2" y="3912719"/>
            <a:ext cx="12192000" cy="228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110" name="Google Shape;11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044975" y="2476877"/>
            <a:ext cx="2102047" cy="1232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6256" y="5877605"/>
            <a:ext cx="4130398" cy="92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782187" y="1367519"/>
            <a:ext cx="30483" cy="5656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976150" y="2885751"/>
            <a:ext cx="30483" cy="5656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2209801" y="328976"/>
            <a:ext cx="6721800" cy="91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  <a:defRPr b="1">
                <a:solidFill>
                  <a:srgbClr val="FF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6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16"/>
          <p:cNvSpPr txBox="1"/>
          <p:nvPr>
            <p:ph idx="12" type="sldNum"/>
          </p:nvPr>
        </p:nvSpPr>
        <p:spPr>
          <a:xfrm>
            <a:off x="3385127" y="63602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Logo, company name&#10;&#10;Description automatically generated" id="119" name="Google Shape;119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08684" y="365125"/>
            <a:ext cx="1851025" cy="1085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5400000">
            <a:off x="5982501" y="1364002"/>
            <a:ext cx="58278" cy="108136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6095648" y="-4527556"/>
            <a:ext cx="65358" cy="121273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logo with a head and lines&#10;&#10;Description automatically generated with medium confidence" id="122" name="Google Shape;12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70576" y="86881"/>
            <a:ext cx="1366447" cy="1390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/>
          <p:nvPr>
            <p:ph type="title"/>
          </p:nvPr>
        </p:nvSpPr>
        <p:spPr>
          <a:xfrm>
            <a:off x="831850" y="1709738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17"/>
          <p:cNvSpPr txBox="1"/>
          <p:nvPr>
            <p:ph idx="1" type="body"/>
          </p:nvPr>
        </p:nvSpPr>
        <p:spPr>
          <a:xfrm>
            <a:off x="831850" y="4589463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26" name="Google Shape;126;p17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17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1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18"/>
          <p:cNvSpPr txBox="1"/>
          <p:nvPr>
            <p:ph idx="1" type="body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2" name="Google Shape;132;p18"/>
          <p:cNvSpPr txBox="1"/>
          <p:nvPr>
            <p:ph idx="2" type="body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3" name="Google Shape;133;p1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1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type="title"/>
          </p:nvPr>
        </p:nvSpPr>
        <p:spPr>
          <a:xfrm>
            <a:off x="839788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839788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839788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p19"/>
          <p:cNvSpPr txBox="1"/>
          <p:nvPr>
            <p:ph idx="3" type="body"/>
          </p:nvPr>
        </p:nvSpPr>
        <p:spPr>
          <a:xfrm>
            <a:off x="6172200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41" name="Google Shape;141;p19"/>
          <p:cNvSpPr txBox="1"/>
          <p:nvPr>
            <p:ph idx="4" type="body"/>
          </p:nvPr>
        </p:nvSpPr>
        <p:spPr>
          <a:xfrm>
            <a:off x="6172200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2" name="Google Shape;142;p19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19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1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20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20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2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2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2"/>
          <p:cNvSpPr txBox="1"/>
          <p:nvPr>
            <p:ph idx="1" type="body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57" name="Google Shape;157;p22"/>
          <p:cNvSpPr txBox="1"/>
          <p:nvPr>
            <p:ph idx="2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58" name="Google Shape;158;p2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2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3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23"/>
          <p:cNvSpPr/>
          <p:nvPr>
            <p:ph idx="2" type="pic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164" name="Google Shape;164;p23"/>
          <p:cNvSpPr txBox="1"/>
          <p:nvPr>
            <p:ph idx="1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65" name="Google Shape;165;p2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p2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2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4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" type="body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2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5"/>
          <p:cNvSpPr txBox="1"/>
          <p:nvPr>
            <p:ph type="title"/>
          </p:nvPr>
        </p:nvSpPr>
        <p:spPr>
          <a:xfrm rot="5400000">
            <a:off x="7133400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5"/>
          <p:cNvSpPr txBox="1"/>
          <p:nvPr>
            <p:ph idx="1" type="body"/>
          </p:nvPr>
        </p:nvSpPr>
        <p:spPr>
          <a:xfrm rot="5400000">
            <a:off x="1799400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7" name="Google Shape;177;p25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8" name="Google Shape;178;p25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제목 슬라이드">
  <p:cSld name="9_제목 슬라이드">
    <p:bg>
      <p:bgPr>
        <a:solidFill>
          <a:srgbClr val="920815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6"/>
          <p:cNvSpPr/>
          <p:nvPr/>
        </p:nvSpPr>
        <p:spPr>
          <a:xfrm>
            <a:off x="2204720" y="0"/>
            <a:ext cx="9763674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rgbClr val="C70B1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6"/>
          <p:cNvSpPr/>
          <p:nvPr/>
        </p:nvSpPr>
        <p:spPr>
          <a:xfrm>
            <a:off x="2826365" y="0"/>
            <a:ext cx="9365635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183" name="Google Shape;183;p26"/>
          <p:cNvPicPr preferRelativeResize="0"/>
          <p:nvPr/>
        </p:nvPicPr>
        <p:blipFill rotWithShape="1">
          <a:blip r:embed="rId2">
            <a:alphaModFix amt="5000"/>
          </a:blip>
          <a:srcRect b="0" l="0" r="0" t="0"/>
          <a:stretch/>
        </p:blipFill>
        <p:spPr>
          <a:xfrm>
            <a:off x="2360757" y="794085"/>
            <a:ext cx="5433589" cy="3186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48840" y="5457398"/>
            <a:ext cx="5433589" cy="1213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68e7f2f61_23_0)">
  <p:cSld name="Generated (g3f68e7f2f61_23_0)"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5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4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99" name="Google Shape;99;p14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1" name="Google Shape;101;p1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2" name="Google Shape;102;p1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Starting point: a basic U-Net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84048" y="1536192"/>
            <a:ext cx="11466576" cy="4087368"/>
            <a:chOff x="384048" y="1536192"/>
            <a:chExt cx="11466576" cy="4087368"/>
          </a:xfrm>
        </p:grpSpPr>
        <p:sp>
          <p:nvSpPr>
            <p:cNvPr id="4" name="TextBox 3"/>
            <p:cNvSpPr txBox="1"/>
            <p:nvPr/>
          </p:nvSpPr>
          <p:spPr>
            <a:xfrm>
              <a:off x="685800" y="1536192"/>
              <a:ext cx="5486400" cy="29260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▼ Input: spectrogram, 1 × 512 × 512 (time × frequency)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035040" y="1536192"/>
              <a:ext cx="5486400" cy="29260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Output: an RFI probability for every pixel ▲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85800" y="1874519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1 · 8 × 512 × 512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217152" y="1874519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1 · 8 × 512 × 512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2 × (3×3 conv → ReLU)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71800" y="2157984"/>
              <a:ext cx="6245352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1252728" y="2670048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2 · 16 × 256 × 256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650224" y="2670048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2 · 16 × 256 × 256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2 × (3×3 conv → ReLU)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538728" y="2953512"/>
              <a:ext cx="5111496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1819656" y="3465576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3 · 32 × 128 × 128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083296" y="3465576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3 · 32 × 128 × 128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2 × (3×3 conv → ReLU)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4105656" y="3749039"/>
              <a:ext cx="3977640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2386584" y="4261104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4 · 64 × 64 × 64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516368" y="4261104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4 · 64 × 64 × 64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2 × (3×3 conv → ReLU)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672583" y="4544568"/>
              <a:ext cx="2843785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2971800" y="1911095"/>
              <a:ext cx="6245352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1000" b="0">
                  <a:solidFill>
                    <a:srgbClr val="5A6170"/>
                  </a:solidFill>
                  <a:latin typeface="Calibri"/>
                </a:rPr>
                <a:t>skip connection: copy the encoder's features and join them to the decoder's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1527048" y="2441448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384048" y="2441448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V="1">
              <a:off x="10661904" y="2441448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10707624" y="2441448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2093976" y="3236976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950976" y="3236976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V="1">
              <a:off x="10094976" y="3236976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/>
            <p:cNvSpPr txBox="1"/>
            <p:nvPr/>
          </p:nvSpPr>
          <p:spPr>
            <a:xfrm>
              <a:off x="10140696" y="3236976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2660903" y="4032504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1517903" y="4032504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V="1">
              <a:off x="9528048" y="4032504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9573768" y="4032504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951476" y="5056632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Bottleneck · 128 × 32 × 32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4535423" y="4828032"/>
              <a:ext cx="416053" cy="512064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 flipV="1">
              <a:off x="7237476" y="4828032"/>
              <a:ext cx="416052" cy="512064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Rounded Rectangle 33"/>
          <p:cNvSpPr/>
          <p:nvPr/>
        </p:nvSpPr>
        <p:spPr>
          <a:xfrm>
            <a:off x="685800" y="498348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047488"/>
            <a:ext cx="3154680" cy="9601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E1E1E"/>
                </a:solidFill>
                <a:latin typeface="Calibri"/>
              </a:rPr>
              <a:t>Encoder (left): </a:t>
            </a:r>
            <a:r>
              <a:rPr sz="1100" b="0">
                <a:solidFill>
                  <a:srgbClr val="1E1E1E"/>
                </a:solidFill>
                <a:latin typeface="Calibri"/>
              </a:rPr>
              <a:t>shrinks the image step by step and learns WHAT is in it.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E1E1E"/>
                </a:solidFill>
                <a:latin typeface="Calibri"/>
              </a:rPr>
              <a:t>Decoder (right): </a:t>
            </a:r>
            <a:r>
              <a:rPr sz="1100" b="0">
                <a:solidFill>
                  <a:srgbClr val="1E1E1E"/>
                </a:solidFill>
                <a:latin typeface="Calibri"/>
              </a:rPr>
              <a:t>grows it back to full size and learns WHERE it is.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498348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5047488"/>
            <a:ext cx="3154680" cy="9601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E1E1E"/>
                </a:solidFill>
                <a:latin typeface="Calibri"/>
              </a:rPr>
              <a:t>Skip connections: </a:t>
            </a:r>
            <a:r>
              <a:rPr sz="1100" b="0">
                <a:solidFill>
                  <a:srgbClr val="1E1E1E"/>
                </a:solidFill>
                <a:latin typeface="Calibri"/>
              </a:rPr>
              <a:t>pass fine detail straight across, so thin RFI lines are not lost when the image is shrunk.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E1E1E"/>
                </a:solidFill>
                <a:latin typeface="Calibri"/>
              </a:rPr>
              <a:t>Numbers: </a:t>
            </a:r>
            <a:r>
              <a:rPr sz="1100" b="0">
                <a:solidFill>
                  <a:srgbClr val="1E1E1E"/>
                </a:solidFill>
                <a:latin typeface="Calibri"/>
              </a:rPr>
              <a:t>channels × height × width.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Our model: the same U, with 9 changes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84048" y="1536192"/>
            <a:ext cx="11466576" cy="4087368"/>
            <a:chOff x="384048" y="1536192"/>
            <a:chExt cx="11466576" cy="4087368"/>
          </a:xfrm>
        </p:grpSpPr>
        <p:sp>
          <p:nvSpPr>
            <p:cNvPr id="4" name="TextBox 3"/>
            <p:cNvSpPr txBox="1"/>
            <p:nvPr/>
          </p:nvSpPr>
          <p:spPr>
            <a:xfrm>
              <a:off x="685800" y="1536192"/>
              <a:ext cx="5486400" cy="29260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▼ Input: spectrogram, 1 × 512 × 512 — sizes never shrink ⑦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035040" y="1536192"/>
              <a:ext cx="5486400" cy="29260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1×1 conv → 2 raw scores → softmax ⑤ → RFI probability ▲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85800" y="1874519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1 · 8 × 512 × 512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Strip ① → ECA ③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217152" y="1874519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1 · 8 × 512 × 512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ResBlock ②④ → ECA ③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71800" y="2157984"/>
              <a:ext cx="6245352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1252728" y="2670048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2 · 16 × 256 × 256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Strip ① → ECA ③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650224" y="2670048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2 · 16 × 256 × 256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ResBlock ②④ → ECA ③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538728" y="2953512"/>
              <a:ext cx="5111496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1819656" y="3465576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3 · 32 × 128 × 128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Strip ① → ECA ③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083296" y="3465576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3 · 32 × 128 × 128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ResBlock ②④ → ECA ③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4105656" y="3749039"/>
              <a:ext cx="3977640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2386584" y="4261104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4 · 64 × 64 × 64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ECA ③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516368" y="4261104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4 · 64 × 64 × 64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ResBlock ②④ → ECA ③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672583" y="4544568"/>
              <a:ext cx="2843785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2971800" y="1911095"/>
              <a:ext cx="6245352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1000" b="0">
                  <a:solidFill>
                    <a:srgbClr val="5A6170"/>
                  </a:solidFill>
                  <a:latin typeface="Calibri"/>
                </a:rPr>
                <a:t>skip connection: copy the encoder's features and join them to the decoder's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1527048" y="2441448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384048" y="2441448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V="1">
              <a:off x="10661904" y="2441448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10707624" y="2441448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2093976" y="3236976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950976" y="3236976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V="1">
              <a:off x="10094976" y="3236976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/>
            <p:cNvSpPr txBox="1"/>
            <p:nvPr/>
          </p:nvSpPr>
          <p:spPr>
            <a:xfrm>
              <a:off x="10140696" y="3236976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2660903" y="4032504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1517903" y="4032504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V="1">
              <a:off x="9528048" y="4032504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9573768" y="4032504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951476" y="5056632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Bottleneck · 128 × 32 × 32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Strip ①</a:t>
              </a:r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4535423" y="4828032"/>
              <a:ext cx="416053" cy="512064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 flipV="1">
              <a:off x="7237476" y="4828032"/>
              <a:ext cx="416052" cy="512064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Rounded Rectangle 33"/>
          <p:cNvSpPr/>
          <p:nvPr/>
        </p:nvSpPr>
        <p:spPr>
          <a:xfrm>
            <a:off x="685800" y="493776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BE3E7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4983480"/>
            <a:ext cx="3182112" cy="135331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31837"/>
                </a:solidFill>
                <a:latin typeface="Calibri"/>
              </a:rPr>
              <a:t>① Strip convolutions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wide 7/11/21-px windows (enc. 1–3, bottleneck)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E31837"/>
                </a:solidFill>
                <a:latin typeface="Calibri"/>
              </a:rPr>
              <a:t>② Residual shortcut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inside every ResBlock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E31837"/>
                </a:solidFill>
                <a:latin typeface="Calibri"/>
              </a:rPr>
              <a:t>③ ECA attention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re-weights channels, every level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④ GroupNorm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inside every block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⑤ Raw scores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no ReLU before softmax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493776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57031" y="4983480"/>
            <a:ext cx="3182112" cy="135331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⑥ Dice + cross-entropy loss</a:t>
            </a:r>
            <a:r>
              <a:rPr sz="1050" b="0">
                <a:solidFill>
                  <a:srgbClr val="1E1E1E"/>
                </a:solidFill>
                <a:latin typeface="Calibri"/>
              </a:rPr>
              <a:t> (training)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⑦ Same padding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every pixel gets a prediction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⑧ No class weighting</a:t>
            </a:r>
            <a:r>
              <a:rPr sz="1050" b="0">
                <a:solidFill>
                  <a:srgbClr val="1E1E1E"/>
                </a:solidFill>
                <a:latin typeface="Calibri"/>
              </a:rPr>
              <a:t> (training)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⑨ Size</a:t>
            </a:r>
            <a:r>
              <a:rPr sz="1050" b="0">
                <a:solidFill>
                  <a:srgbClr val="1E1E1E"/>
                </a:solidFill>
                <a:latin typeface="Calibri"/>
              </a:rPr>
              <a:t>: 8 → 16 → 32 → 64 → 128 channels, 593,842 parameters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E31837"/>
                </a:solidFill>
                <a:latin typeface="Calibri"/>
              </a:rPr>
              <a:t>Red = RFI-specific additions ①–③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Inside one level, step by step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64208"/>
            <a:ext cx="10835640" cy="13258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755648"/>
            <a:ext cx="1783080" cy="11430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31837"/>
                </a:solidFill>
                <a:latin typeface="Calibri"/>
              </a:rPr>
              <a:t>ResBlock  ②④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1E1E"/>
                </a:solidFill>
                <a:latin typeface="Calibri"/>
              </a:rPr>
              <a:t>Two 3×3 convolutions, each tidied by GroupNorm; the input is added back at the end.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08960"/>
            <a:ext cx="10835640" cy="17830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3200400"/>
            <a:ext cx="1783080" cy="1600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31837"/>
                </a:solidFill>
                <a:latin typeface="Calibri"/>
              </a:rPr>
              <a:t>Strip module  ①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1E1E"/>
                </a:solidFill>
                <a:latin typeface="Calibri"/>
              </a:rPr>
              <a:t>Looks at wider areas (7, 11, 21 px) cheaply: a thin filter along frequency, then one along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5010912"/>
            <a:ext cx="10835640" cy="129844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102352"/>
            <a:ext cx="1783080" cy="11155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31837"/>
                </a:solidFill>
                <a:latin typeface="Calibri"/>
              </a:rPr>
              <a:t>ECA attention  ③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1E1E"/>
                </a:solidFill>
                <a:latin typeface="Calibri"/>
              </a:rPr>
              <a:t>Gives each feature map a weight between 0 and 1, then scales it.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697480" y="1728216"/>
            <a:ext cx="8074152" cy="996696"/>
            <a:chOff x="2697480" y="1728216"/>
            <a:chExt cx="8074152" cy="996696"/>
          </a:xfrm>
        </p:grpSpPr>
        <p:sp>
          <p:nvSpPr>
            <p:cNvPr id="10" name="Rounded Rectangle 9"/>
            <p:cNvSpPr/>
            <p:nvPr/>
          </p:nvSpPr>
          <p:spPr>
            <a:xfrm>
              <a:off x="2697480" y="2267712"/>
              <a:ext cx="566928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input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264408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3429000" y="2267712"/>
              <a:ext cx="841248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3×3 conv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4270248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4434840" y="2267712"/>
              <a:ext cx="1097280" cy="457200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GroupNorm ④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5532120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5696712" y="2267712"/>
              <a:ext cx="64008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ReLU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6336792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6501384" y="2267712"/>
              <a:ext cx="841248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3×3 conv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7342632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7507224" y="2267712"/>
              <a:ext cx="1097280" cy="457200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GroupNorm ④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8604504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/>
            <p:cNvSpPr/>
            <p:nvPr/>
          </p:nvSpPr>
          <p:spPr>
            <a:xfrm>
              <a:off x="8769096" y="2322576"/>
              <a:ext cx="347472" cy="347472"/>
            </a:xfrm>
            <a:prstGeom prst="ellipse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Calibri"/>
                </a:rPr>
                <a:t>+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9116568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9281160" y="2267712"/>
              <a:ext cx="64008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ReLU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9921240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10085832" y="2267712"/>
              <a:ext cx="685800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output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 flipV="1">
              <a:off x="2980944" y="1975104"/>
              <a:ext cx="0" cy="292608"/>
            </a:xfrm>
            <a:prstGeom prst="line">
              <a:avLst/>
            </a:prstGeom>
            <a:ln w="25400">
              <a:solidFill>
                <a:srgbClr val="E3183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2980944" y="1975104"/>
              <a:ext cx="5961888" cy="0"/>
            </a:xfrm>
            <a:prstGeom prst="line">
              <a:avLst/>
            </a:prstGeom>
            <a:ln w="25400">
              <a:solidFill>
                <a:srgbClr val="E3183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8942832" y="1975104"/>
              <a:ext cx="0" cy="347472"/>
            </a:xfrm>
            <a:prstGeom prst="line">
              <a:avLst/>
            </a:prstGeom>
            <a:ln w="25400">
              <a:solidFill>
                <a:srgbClr val="E31837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3072384" y="1728216"/>
              <a:ext cx="73152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50" b="1">
                  <a:solidFill>
                    <a:srgbClr val="E31837"/>
                  </a:solidFill>
                  <a:latin typeface="Calibri"/>
                </a:rPr>
                <a:t>② shortcut: </a:t>
              </a:r>
              <a:r>
                <a:rPr sz="950" b="0">
                  <a:solidFill>
                    <a:srgbClr val="E31837"/>
                  </a:solidFill>
                  <a:latin typeface="Calibri"/>
                </a:rPr>
                <a:t>the input skips the block and is added back (1×1 conv if channel count changes)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2697480" y="3218688"/>
            <a:ext cx="8110727" cy="1600200"/>
            <a:chOff x="2697480" y="3218688"/>
            <a:chExt cx="8110727" cy="1600200"/>
          </a:xfrm>
        </p:grpSpPr>
        <p:sp>
          <p:nvSpPr>
            <p:cNvPr id="32" name="Rounded Rectangle 31"/>
            <p:cNvSpPr/>
            <p:nvPr/>
          </p:nvSpPr>
          <p:spPr>
            <a:xfrm>
              <a:off x="2697480" y="3771900"/>
              <a:ext cx="566928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input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3657600" y="3218688"/>
              <a:ext cx="1554480" cy="27432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1E1E1E"/>
                  </a:solidFill>
                  <a:latin typeface="Calibri"/>
                </a:rPr>
                <a:t>copy (unchanged)</a:t>
              </a:r>
            </a:p>
          </p:txBody>
        </p:sp>
        <p:cxnSp>
          <p:nvCxnSpPr>
            <p:cNvPr id="34" name="Connector 33"/>
            <p:cNvCxnSpPr/>
            <p:nvPr/>
          </p:nvCxnSpPr>
          <p:spPr>
            <a:xfrm flipV="1">
              <a:off x="3264408" y="3355848"/>
              <a:ext cx="393192" cy="644652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Rounded Rectangle 34"/>
            <p:cNvSpPr/>
            <p:nvPr/>
          </p:nvSpPr>
          <p:spPr>
            <a:xfrm>
              <a:off x="3657600" y="3566160"/>
              <a:ext cx="1554480" cy="27432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1×7  →  7×1</a:t>
              </a:r>
            </a:p>
          </p:txBody>
        </p:sp>
        <p:cxnSp>
          <p:nvCxnSpPr>
            <p:cNvPr id="36" name="Connector 35"/>
            <p:cNvCxnSpPr/>
            <p:nvPr/>
          </p:nvCxnSpPr>
          <p:spPr>
            <a:xfrm flipV="1">
              <a:off x="3264408" y="3703320"/>
              <a:ext cx="393192" cy="297180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ounded Rectangle 36"/>
            <p:cNvSpPr/>
            <p:nvPr/>
          </p:nvSpPr>
          <p:spPr>
            <a:xfrm>
              <a:off x="3657600" y="3913632"/>
              <a:ext cx="1554480" cy="27432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1×11  →  11×1</a:t>
              </a:r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3264408" y="4000500"/>
              <a:ext cx="393192" cy="50292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ounded Rectangle 38"/>
            <p:cNvSpPr/>
            <p:nvPr/>
          </p:nvSpPr>
          <p:spPr>
            <a:xfrm>
              <a:off x="3657600" y="4261104"/>
              <a:ext cx="1554480" cy="27432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1×21  →  21×1</a:t>
              </a:r>
            </a:p>
          </p:txBody>
        </p:sp>
        <p:cxnSp>
          <p:nvCxnSpPr>
            <p:cNvPr id="40" name="Connector 39"/>
            <p:cNvCxnSpPr/>
            <p:nvPr/>
          </p:nvCxnSpPr>
          <p:spPr>
            <a:xfrm>
              <a:off x="3264408" y="4000500"/>
              <a:ext cx="393192" cy="397764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ounded Rectangle 40"/>
            <p:cNvSpPr/>
            <p:nvPr/>
          </p:nvSpPr>
          <p:spPr>
            <a:xfrm>
              <a:off x="5623560" y="3726180"/>
              <a:ext cx="1051560" cy="54864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Calibri"/>
                </a:rPr>
                <a:t>join all 4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(concatenate)</a:t>
              </a:r>
            </a:p>
          </p:txBody>
        </p:sp>
        <p:cxnSp>
          <p:nvCxnSpPr>
            <p:cNvPr id="42" name="Connector 41"/>
            <p:cNvCxnSpPr/>
            <p:nvPr/>
          </p:nvCxnSpPr>
          <p:spPr>
            <a:xfrm>
              <a:off x="5212080" y="3355848"/>
              <a:ext cx="411480" cy="644652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 42"/>
            <p:cNvCxnSpPr/>
            <p:nvPr/>
          </p:nvCxnSpPr>
          <p:spPr>
            <a:xfrm>
              <a:off x="5212080" y="3703320"/>
              <a:ext cx="411480" cy="297180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 43"/>
            <p:cNvCxnSpPr/>
            <p:nvPr/>
          </p:nvCxnSpPr>
          <p:spPr>
            <a:xfrm flipV="1">
              <a:off x="5212080" y="4000500"/>
              <a:ext cx="411480" cy="50292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 flipV="1">
              <a:off x="5212080" y="4000500"/>
              <a:ext cx="411480" cy="397764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>
              <a:off x="6675120" y="4000500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ounded Rectangle 46"/>
            <p:cNvSpPr/>
            <p:nvPr/>
          </p:nvSpPr>
          <p:spPr>
            <a:xfrm>
              <a:off x="6839712" y="3771900"/>
              <a:ext cx="105156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1×1 conv (mix)</a:t>
              </a:r>
            </a:p>
          </p:txBody>
        </p:sp>
        <p:cxnSp>
          <p:nvCxnSpPr>
            <p:cNvPr id="48" name="Connector 47"/>
            <p:cNvCxnSpPr/>
            <p:nvPr/>
          </p:nvCxnSpPr>
          <p:spPr>
            <a:xfrm>
              <a:off x="7891272" y="4000500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Rounded Rectangle 48"/>
            <p:cNvSpPr/>
            <p:nvPr/>
          </p:nvSpPr>
          <p:spPr>
            <a:xfrm>
              <a:off x="8055864" y="3771900"/>
              <a:ext cx="1097280" cy="457200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GroupNorm ④</a:t>
              </a:r>
            </a:p>
          </p:txBody>
        </p:sp>
        <p:cxnSp>
          <p:nvCxnSpPr>
            <p:cNvPr id="50" name="Connector 49"/>
            <p:cNvCxnSpPr/>
            <p:nvPr/>
          </p:nvCxnSpPr>
          <p:spPr>
            <a:xfrm>
              <a:off x="9153144" y="4000500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ounded Rectangle 50"/>
            <p:cNvSpPr/>
            <p:nvPr/>
          </p:nvSpPr>
          <p:spPr>
            <a:xfrm>
              <a:off x="9317736" y="3771900"/>
              <a:ext cx="64008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ReLU</a:t>
              </a:r>
            </a:p>
          </p:txBody>
        </p:sp>
        <p:cxnSp>
          <p:nvCxnSpPr>
            <p:cNvPr id="52" name="Connector 51"/>
            <p:cNvCxnSpPr/>
            <p:nvPr/>
          </p:nvCxnSpPr>
          <p:spPr>
            <a:xfrm>
              <a:off x="9957815" y="4000500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ounded Rectangle 52"/>
            <p:cNvSpPr/>
            <p:nvPr/>
          </p:nvSpPr>
          <p:spPr>
            <a:xfrm>
              <a:off x="10122407" y="3771900"/>
              <a:ext cx="685800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output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3657600" y="4617720"/>
              <a:ext cx="6858000" cy="20116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Each path = 1×K along frequency, then K×1 along time → together it covers a K×K square (measured)</a:t>
              </a:r>
            </a:p>
          </p:txBody>
        </p:sp>
      </p:grpSp>
      <p:grpSp>
        <p:nvGrpSpPr>
          <p:cNvPr id="55" name="Group 54"/>
          <p:cNvGrpSpPr/>
          <p:nvPr/>
        </p:nvGrpSpPr>
        <p:grpSpPr>
          <a:xfrm>
            <a:off x="2697480" y="5358384"/>
            <a:ext cx="6510528" cy="886968"/>
            <a:chOff x="2697480" y="5358384"/>
            <a:chExt cx="6510528" cy="886968"/>
          </a:xfrm>
        </p:grpSpPr>
        <p:sp>
          <p:nvSpPr>
            <p:cNvPr id="56" name="Rounded Rectangle 55"/>
            <p:cNvSpPr/>
            <p:nvPr/>
          </p:nvSpPr>
          <p:spPr>
            <a:xfrm>
              <a:off x="2697480" y="5358384"/>
              <a:ext cx="566928" cy="50292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input</a:t>
              </a:r>
            </a:p>
          </p:txBody>
        </p:sp>
        <p:cxnSp>
          <p:nvCxnSpPr>
            <p:cNvPr id="57" name="Connector 56"/>
            <p:cNvCxnSpPr/>
            <p:nvPr/>
          </p:nvCxnSpPr>
          <p:spPr>
            <a:xfrm>
              <a:off x="3264408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ounded Rectangle 57"/>
            <p:cNvSpPr/>
            <p:nvPr/>
          </p:nvSpPr>
          <p:spPr>
            <a:xfrm>
              <a:off x="3429000" y="5358384"/>
              <a:ext cx="1463040" cy="50292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average each feature map → 1 number</a:t>
              </a:r>
            </a:p>
          </p:txBody>
        </p:sp>
        <p:cxnSp>
          <p:nvCxnSpPr>
            <p:cNvPr id="59" name="Connector 58"/>
            <p:cNvCxnSpPr/>
            <p:nvPr/>
          </p:nvCxnSpPr>
          <p:spPr>
            <a:xfrm>
              <a:off x="4892040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Rounded Rectangle 59"/>
            <p:cNvSpPr/>
            <p:nvPr/>
          </p:nvSpPr>
          <p:spPr>
            <a:xfrm>
              <a:off x="5056632" y="5358384"/>
              <a:ext cx="1417320" cy="50292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1-D conv (k = 3) across neighbours</a:t>
              </a:r>
            </a:p>
          </p:txBody>
        </p:sp>
        <p:cxnSp>
          <p:nvCxnSpPr>
            <p:cNvPr id="61" name="Connector 60"/>
            <p:cNvCxnSpPr/>
            <p:nvPr/>
          </p:nvCxnSpPr>
          <p:spPr>
            <a:xfrm>
              <a:off x="6473952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ounded Rectangle 61"/>
            <p:cNvSpPr/>
            <p:nvPr/>
          </p:nvSpPr>
          <p:spPr>
            <a:xfrm>
              <a:off x="6638544" y="5358384"/>
              <a:ext cx="1188720" cy="50292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sigmoid → weight 0 to 1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>
              <a:off x="7827264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/>
            <p:cNvSpPr/>
            <p:nvPr/>
          </p:nvSpPr>
          <p:spPr>
            <a:xfrm>
              <a:off x="7991856" y="5431536"/>
              <a:ext cx="365760" cy="365760"/>
            </a:xfrm>
            <a:prstGeom prst="ellipse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Calibri"/>
                </a:rPr>
                <a:t>×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8357616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Rounded Rectangle 65"/>
            <p:cNvSpPr/>
            <p:nvPr/>
          </p:nvSpPr>
          <p:spPr>
            <a:xfrm>
              <a:off x="8522208" y="5358384"/>
              <a:ext cx="685800" cy="50292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output</a:t>
              </a:r>
            </a:p>
          </p:txBody>
        </p:sp>
        <p:cxnSp>
          <p:nvCxnSpPr>
            <p:cNvPr id="67" name="Connector 66"/>
            <p:cNvCxnSpPr/>
            <p:nvPr/>
          </p:nvCxnSpPr>
          <p:spPr>
            <a:xfrm>
              <a:off x="2980944" y="5861304"/>
              <a:ext cx="0" cy="201168"/>
            </a:xfrm>
            <a:prstGeom prst="line">
              <a:avLst/>
            </a:prstGeom>
            <a:ln w="15875">
              <a:solidFill>
                <a:srgbClr val="5A61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or 67"/>
            <p:cNvCxnSpPr/>
            <p:nvPr/>
          </p:nvCxnSpPr>
          <p:spPr>
            <a:xfrm>
              <a:off x="2980944" y="6062472"/>
              <a:ext cx="5193792" cy="0"/>
            </a:xfrm>
            <a:prstGeom prst="line">
              <a:avLst/>
            </a:prstGeom>
            <a:ln w="15875">
              <a:solidFill>
                <a:srgbClr val="5A61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or 68"/>
            <p:cNvCxnSpPr/>
            <p:nvPr/>
          </p:nvCxnSpPr>
          <p:spPr>
            <a:xfrm flipV="1">
              <a:off x="8174736" y="5797296"/>
              <a:ext cx="0" cy="265176"/>
            </a:xfrm>
            <a:prstGeom prst="line">
              <a:avLst/>
            </a:prstGeom>
            <a:ln w="15875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/>
            <p:cNvSpPr txBox="1"/>
            <p:nvPr/>
          </p:nvSpPr>
          <p:spPr>
            <a:xfrm>
              <a:off x="3118104" y="6044184"/>
              <a:ext cx="4114800" cy="20116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the feature maps themselves go straight to × and are scaled by their weights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From output to RFI mask, and how it learns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10835640" cy="14173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719072"/>
            <a:ext cx="1920240" cy="12801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31837"/>
                </a:solidFill>
                <a:latin typeface="Calibri"/>
              </a:rPr>
              <a:t>Using the model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E1E1E"/>
                </a:solidFill>
                <a:latin typeface="Calibri"/>
              </a:rPr>
              <a:t>after training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697480" y="2103120"/>
            <a:ext cx="8366760" cy="566928"/>
            <a:chOff x="2697480" y="2103120"/>
            <a:chExt cx="8366760" cy="566928"/>
          </a:xfrm>
        </p:grpSpPr>
        <p:sp>
          <p:nvSpPr>
            <p:cNvPr id="6" name="Rounded Rectangle 5"/>
            <p:cNvSpPr/>
            <p:nvPr/>
          </p:nvSpPr>
          <p:spPr>
            <a:xfrm>
              <a:off x="2697480" y="2103120"/>
              <a:ext cx="1188720" cy="566928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1E1E1E"/>
                  </a:solidFill>
                  <a:latin typeface="Calibri"/>
                </a:rPr>
                <a:t>spectrogram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3886200" y="2386584"/>
              <a:ext cx="22860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4114800" y="2103120"/>
              <a:ext cx="1143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Our model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5257800" y="2386584"/>
              <a:ext cx="22860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5486400" y="2103120"/>
              <a:ext cx="169164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probability 0–1 for each pixel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7178040" y="2386584"/>
              <a:ext cx="22860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7406640" y="2103120"/>
              <a:ext cx="1828800" cy="566928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threshold (chosen on validation data)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9235440" y="2386584"/>
              <a:ext cx="22860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9464040" y="2103120"/>
              <a:ext cx="1600200" cy="566928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1E1E1E"/>
                  </a:solidFill>
                  <a:latin typeface="Calibri"/>
                </a:rPr>
                <a:t>RFI mask: yes / no per pixel</a:t>
              </a:r>
            </a:p>
          </p:txBody>
        </p:sp>
      </p:grpSp>
      <p:sp>
        <p:nvSpPr>
          <p:cNvPr id="15" name="Rounded Rectangle 14"/>
          <p:cNvSpPr/>
          <p:nvPr/>
        </p:nvSpPr>
        <p:spPr>
          <a:xfrm>
            <a:off x="685800" y="3246120"/>
            <a:ext cx="10835640" cy="160020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319272"/>
            <a:ext cx="1920240" cy="14630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31837"/>
                </a:solidFill>
                <a:latin typeface="Calibri"/>
              </a:rPr>
              <a:t>Training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E1E1E"/>
                </a:solidFill>
                <a:latin typeface="Calibri"/>
              </a:rPr>
              <a:t>repeated 28,000 times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697480" y="3493008"/>
            <a:ext cx="7498080" cy="1115568"/>
            <a:chOff x="2697480" y="3493008"/>
            <a:chExt cx="7498080" cy="1115568"/>
          </a:xfrm>
        </p:grpSpPr>
        <p:sp>
          <p:nvSpPr>
            <p:cNvPr id="18" name="Rounded Rectangle 17"/>
            <p:cNvSpPr/>
            <p:nvPr/>
          </p:nvSpPr>
          <p:spPr>
            <a:xfrm>
              <a:off x="2697480" y="3493008"/>
              <a:ext cx="169164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model's probabilities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2697480" y="4151376"/>
              <a:ext cx="1691640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1E1E1E"/>
                  </a:solidFill>
                  <a:latin typeface="Calibri"/>
                </a:rPr>
                <a:t>AOFlagger's RFI mask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4800600" y="3593591"/>
              <a:ext cx="2377440" cy="82296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loss = cross-entropy + Dice ⑥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how wrong the model is (no class weighting ⑧)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4389120" y="3721608"/>
              <a:ext cx="411480" cy="182879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 flipV="1">
              <a:off x="4389120" y="4105656"/>
              <a:ext cx="411480" cy="27432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ounded Rectangle 22"/>
            <p:cNvSpPr/>
            <p:nvPr/>
          </p:nvSpPr>
          <p:spPr>
            <a:xfrm>
              <a:off x="7589520" y="3593591"/>
              <a:ext cx="2606040" cy="822960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Adam optimiser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nudges all 593,842 weights to reduce the loss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>
              <a:off x="7178040" y="4005072"/>
              <a:ext cx="41148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Rounded Rectangle 24"/>
          <p:cNvSpPr/>
          <p:nvPr/>
        </p:nvSpPr>
        <p:spPr>
          <a:xfrm>
            <a:off x="685800" y="5029200"/>
            <a:ext cx="10835640" cy="960120"/>
          </a:xfrm>
          <a:prstGeom prst="roundRect">
            <a:avLst>
              <a:gd name="adj" fmla="val 6000"/>
            </a:avLst>
          </a:prstGeom>
          <a:solidFill>
            <a:srgbClr val="FBE3E7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120640"/>
            <a:ext cx="105156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31837"/>
                </a:solidFill>
                <a:latin typeface="Calibri"/>
              </a:rPr>
              <a:t>Which parts actually matter? </a:t>
            </a:r>
            <a:r>
              <a:rPr sz="1300" b="0">
                <a:solidFill>
                  <a:srgbClr val="1E1E1E"/>
                </a:solidFill>
                <a:latin typeface="Calibri"/>
              </a:rPr>
              <a:t>Removing ①②③ (strips, shortcuts, attention) changes F1 from 0.660 to 0.658 — not significant (3 runs each, p = 0.64).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E1E1E"/>
                </a:solidFill>
                <a:latin typeface="Calibri"/>
              </a:rPr>
              <a:t>So the model's strength comes from ④–⑨: </a:t>
            </a:r>
            <a:r>
              <a:rPr sz="1300" b="0">
                <a:solidFill>
                  <a:srgbClr val="1E1E1E"/>
                </a:solidFill>
                <a:latin typeface="Calibri"/>
              </a:rPr>
              <a:t>normalisation, raw output scores, the Dice loss, same padding, no class weighting, and its size and training setup.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Red">
      <a:dk1>
        <a:srgbClr val="000000"/>
      </a:dk1>
      <a:lt1>
        <a:srgbClr val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Red">
      <a:dk1>
        <a:srgbClr val="000000"/>
      </a:dk1>
      <a:lt1>
        <a:srgbClr val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