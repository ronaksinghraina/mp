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onak Sin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4606724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2"/>
          <p:cNvGrpSpPr/>
          <p:nvPr/>
        </p:nvGrpSpPr>
        <p:grpSpPr>
          <a:xfrm>
            <a:off x="4539436" y="1893116"/>
            <a:ext cx="3113127" cy="3113127"/>
            <a:chOff x="4539436" y="1893116"/>
            <a:chExt cx="3113127" cy="3113127"/>
          </a:xfrm>
        </p:grpSpPr>
        <p:sp>
          <p:nvSpPr>
            <p:cNvPr id="19" name="Google Shape;19;p2"/>
            <p:cNvSpPr/>
            <p:nvPr/>
          </p:nvSpPr>
          <p:spPr>
            <a:xfrm>
              <a:off x="4539436" y="1893116"/>
              <a:ext cx="3113127" cy="3113127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48304" y="2001985"/>
              <a:ext cx="2895391" cy="289539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2" y="3912719"/>
            <a:ext cx="12192000" cy="22826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2209801" y="328976"/>
            <a:ext cx="6721764" cy="917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3385127" y="63602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34" name="Google Shape;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/>
          <p:nvPr/>
        </p:nvSpPr>
        <p:spPr>
          <a:xfrm>
            <a:off x="2204720" y="0"/>
            <a:ext cx="9774801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95" name="Google Shape;95;p13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/>
          <p:nvPr/>
        </p:nvSpPr>
        <p:spPr>
          <a:xfrm>
            <a:off x="0" y="0"/>
            <a:ext cx="12192000" cy="4606800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4539436" y="1893116"/>
            <a:ext cx="3113100" cy="3113100"/>
            <a:chOff x="4539436" y="1893116"/>
            <a:chExt cx="3113100" cy="3113100"/>
          </a:xfrm>
        </p:grpSpPr>
        <p:sp>
          <p:nvSpPr>
            <p:cNvPr id="107" name="Google Shape;107;p15"/>
            <p:cNvSpPr/>
            <p:nvPr/>
          </p:nvSpPr>
          <p:spPr>
            <a:xfrm>
              <a:off x="4539436" y="1893116"/>
              <a:ext cx="3113100" cy="3113100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648304" y="2001985"/>
              <a:ext cx="2895300" cy="28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-2" y="3912719"/>
            <a:ext cx="12192000" cy="228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10" name="Google Shape;11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2209801" y="328976"/>
            <a:ext cx="6721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3385127" y="63602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1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7" name="Google Shape;157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2204720" y="0"/>
            <a:ext cx="9763674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83" name="Google Shape;183;p26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8e7f2f61_23_0)">
  <p:cSld name="Generated (g3f68e7f2f61_23_0)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Starting point: a basic U-Net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4048" y="1536192"/>
            <a:ext cx="11466576" cy="4087368"/>
            <a:chOff x="384048" y="1536192"/>
            <a:chExt cx="11466576" cy="4087368"/>
          </a:xfrm>
        </p:grpSpPr>
        <p:sp>
          <p:nvSpPr>
            <p:cNvPr id="4" name="TextBox 3"/>
            <p:cNvSpPr txBox="1"/>
            <p:nvPr/>
          </p:nvSpPr>
          <p:spPr>
            <a:xfrm>
              <a:off x="685800" y="1536192"/>
              <a:ext cx="5486400" cy="29260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▼ Input: spectrogram, 1 × 512 × 512 (time × frequency)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35040" y="1536192"/>
              <a:ext cx="5486400" cy="29260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Output: an RFI probability for every pixel ▲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85800" y="1874519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1 · 8 × 512 × 512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2 × (3×3 conv → ReLU)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17152" y="1874519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1 · 8 × 512 × 512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2 × (3×3 conv → ReLU)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71800" y="2157984"/>
              <a:ext cx="6245352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1252728" y="2670048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2 · 16 × 256 × 256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2 × (3×3 conv → ReLU)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650224" y="2670048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2 · 16 × 256 × 256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2 × (3×3 conv → ReLU)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538728" y="2953512"/>
              <a:ext cx="5111496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1819656" y="3465576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3 · 32 × 128 × 128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2 × (3×3 conv → ReLU)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083296" y="3465576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3 · 32 × 128 × 128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2 × (3×3 conv → ReLU)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105656" y="3749039"/>
              <a:ext cx="3977640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2386584" y="4261104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4 · 64 × 64 × 64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2 × (3×3 conv → ReLU)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16368" y="4261104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4 · 64 × 64 × 64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2 × (3×3 conv → ReLU)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672583" y="4544568"/>
              <a:ext cx="2843785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71800" y="1911095"/>
              <a:ext cx="6245352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>
                  <a:solidFill>
                    <a:srgbClr val="5A6170"/>
                  </a:solidFill>
                  <a:latin typeface="Calibri"/>
                </a:rPr>
                <a:t>skip connection: copy the encoder's features and join them to the decoder's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527048" y="2441448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84048" y="2441448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10661904" y="2441448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0707624" y="2441448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093976" y="3236976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950976" y="3236976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V="1">
              <a:off x="10094976" y="3236976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0140696" y="3236976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660903" y="4032504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517903" y="4032504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V="1">
              <a:off x="9528048" y="4032504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9573768" y="4032504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951476" y="5056632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Bottleneck · 128 × 32 × 32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2 × (3×3 conv → ReLU)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4535423" y="4828032"/>
              <a:ext cx="416053" cy="512064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V="1">
              <a:off x="7237476" y="4828032"/>
              <a:ext cx="416052" cy="512064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ounded Rectangle 33"/>
          <p:cNvSpPr/>
          <p:nvPr/>
        </p:nvSpPr>
        <p:spPr>
          <a:xfrm>
            <a:off x="685800" y="49834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47488"/>
            <a:ext cx="3154680" cy="9601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1E1E"/>
                </a:solidFill>
                <a:latin typeface="Calibri"/>
              </a:rPr>
              <a:t>Encoder (left): </a:t>
            </a:r>
            <a:r>
              <a:rPr sz="1100" b="0">
                <a:solidFill>
                  <a:srgbClr val="1E1E1E"/>
                </a:solidFill>
                <a:latin typeface="Calibri"/>
              </a:rPr>
              <a:t>shrinks the image step by step and learns WHAT is in it.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1E1E"/>
                </a:solidFill>
                <a:latin typeface="Calibri"/>
              </a:rPr>
              <a:t>Decoder (right): </a:t>
            </a:r>
            <a:r>
              <a:rPr sz="1100" b="0">
                <a:solidFill>
                  <a:srgbClr val="1E1E1E"/>
                </a:solidFill>
                <a:latin typeface="Calibri"/>
              </a:rPr>
              <a:t>grows it back to full size and learns WHERE it 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9834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047488"/>
            <a:ext cx="3154680" cy="9601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1E1E"/>
                </a:solidFill>
                <a:latin typeface="Calibri"/>
              </a:rPr>
              <a:t>Skip connections: </a:t>
            </a:r>
            <a:r>
              <a:rPr sz="1100" b="0">
                <a:solidFill>
                  <a:srgbClr val="1E1E1E"/>
                </a:solidFill>
                <a:latin typeface="Calibri"/>
              </a:rPr>
              <a:t>pass fine detail straight across, so thin RFI lines are not lost when the image is shrunk.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1E1E1E"/>
                </a:solidFill>
                <a:latin typeface="Calibri"/>
              </a:rPr>
              <a:t>Numbers: </a:t>
            </a:r>
            <a:r>
              <a:rPr sz="1100" b="0">
                <a:solidFill>
                  <a:srgbClr val="1E1E1E"/>
                </a:solidFill>
                <a:latin typeface="Calibri"/>
              </a:rPr>
              <a:t>channels × height × width.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6144768"/>
            <a:ext cx="10835640" cy="384048"/>
          </a:xfrm>
          <a:prstGeom prst="roundRect">
            <a:avLst>
              <a:gd name="adj" fmla="val 6000"/>
            </a:avLst>
          </a:prstGeom>
          <a:solidFill>
            <a:srgbClr val="FBE3E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6172200"/>
            <a:ext cx="1060704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31837"/>
                </a:solidFill>
                <a:latin typeface="Calibri"/>
              </a:rPr>
              <a:t>Drawn at our model's sizes so slides 1 and 2 line up box for box. </a:t>
            </a:r>
            <a:r>
              <a:rPr sz="1000" b="0">
                <a:solidFill>
                  <a:srgbClr val="1E1E1E"/>
                </a:solidFill>
                <a:latin typeface="Calibri"/>
              </a:rPr>
              <a:t>Akeret's tf_unet (our baseline) is this design, but shrinks only twice (32 → 64 → 128 channels, 465,986 parameters) and trims the border, so 512 × 512 in gives 472 × 472 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Our model: the same U, changed inside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84048" y="1536192"/>
            <a:ext cx="11466576" cy="4087368"/>
            <a:chOff x="384048" y="1536192"/>
            <a:chExt cx="11466576" cy="4087368"/>
          </a:xfrm>
        </p:grpSpPr>
        <p:sp>
          <p:nvSpPr>
            <p:cNvPr id="4" name="TextBox 3"/>
            <p:cNvSpPr txBox="1"/>
            <p:nvPr/>
          </p:nvSpPr>
          <p:spPr>
            <a:xfrm>
              <a:off x="685800" y="1536192"/>
              <a:ext cx="5486400" cy="29260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▼ Input: spectrogram, 1 × 512 × 512 — no border trimming ⑦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35040" y="1536192"/>
              <a:ext cx="5486400" cy="29260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1×1 conv → 2 raw scores → softmax ⑤ → RFI probability ▲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85800" y="1874519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1 · 8 × 512 × 512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ResBlock ②④ → Strip ① → ECA ③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217152" y="1874519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1 · 8 × 512 × 512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ResBlock ②④ → ECA ③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971800" y="2157984"/>
              <a:ext cx="6245352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1252728" y="2670048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2 · 16 × 256 × 256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ResBlock ②④ → Strip ① → ECA ③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650224" y="2670048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2 · 16 × 256 × 256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ResBlock ②④ → ECA ③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538728" y="2953512"/>
              <a:ext cx="5111496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1819656" y="3465576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3 · 32 × 128 × 128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ResBlock ②④ → Strip ① → ECA ③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083296" y="3465576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3 · 32 × 128 × 128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ResBlock ②④ → ECA ③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4105656" y="3749039"/>
              <a:ext cx="3977640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2386584" y="4261104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Encoder 4 · 64 × 64 × 64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ResBlock ②④ → ECA ③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516368" y="4261104"/>
              <a:ext cx="2286000" cy="566928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Decoder 4 · 64 × 64 × 64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join skip → ResBlock ②④ → ECA ③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672583" y="4544568"/>
              <a:ext cx="2843785" cy="0"/>
            </a:xfrm>
            <a:prstGeom prst="line">
              <a:avLst/>
            </a:prstGeom>
            <a:ln w="15875">
              <a:solidFill>
                <a:srgbClr val="5A617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971800" y="1911095"/>
              <a:ext cx="6245352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1000" b="0">
                  <a:solidFill>
                    <a:srgbClr val="5A6170"/>
                  </a:solidFill>
                  <a:latin typeface="Calibri"/>
                </a:rPr>
                <a:t>skip connection: copy the encoder's features and join them to the decoder's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1527048" y="2441448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84048" y="2441448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10661904" y="2441448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0707624" y="2441448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093976" y="3236976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950976" y="3236976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V="1">
              <a:off x="10094976" y="3236976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0140696" y="3236976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660903" y="4032504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1517903" y="4032504"/>
              <a:ext cx="109728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r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max-pool: half size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V="1">
              <a:off x="9528048" y="4032504"/>
              <a:ext cx="0" cy="22860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9573768" y="4032504"/>
              <a:ext cx="1143000" cy="228600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up-conv: double size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951476" y="5056632"/>
              <a:ext cx="2286000" cy="566928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Bottleneck · 128 × 32 × 32</a:t>
              </a:r>
            </a:p>
            <a:p>
              <a:pPr algn="ctr"/>
              <a:r>
                <a:rPr sz="1050" b="0">
                  <a:solidFill>
                    <a:srgbClr val="FFFFFF"/>
                  </a:solidFill>
                  <a:latin typeface="Calibri"/>
                </a:rPr>
                <a:t>ResBlock ②④ → Strip ①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4535423" y="4828032"/>
              <a:ext cx="416053" cy="512064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V="1">
              <a:off x="7237476" y="4828032"/>
              <a:ext cx="416052" cy="512064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ounded Rectangle 33"/>
          <p:cNvSpPr/>
          <p:nvPr/>
        </p:nvSpPr>
        <p:spPr>
          <a:xfrm>
            <a:off x="685800" y="4937760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BE3E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983480"/>
            <a:ext cx="3182112" cy="1508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31837"/>
                </a:solidFill>
                <a:latin typeface="Calibri"/>
              </a:rPr>
              <a:t>① Strip convolutions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7/11/21-px windows (enc. 1–3, bottleneck)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E31837"/>
                </a:solidFill>
                <a:latin typeface="Calibri"/>
              </a:rPr>
              <a:t>② Residual shortcut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inside every ResBlock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E31837"/>
                </a:solidFill>
                <a:latin typeface="Calibri"/>
              </a:rPr>
              <a:t>③ ECA attention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after every encoder and decoder block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④ GroupNorm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in every ResBlock and strip (tf_unet: none)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⑤ Raw scores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no ReLU before softmax (tf_unet has one)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937760"/>
            <a:ext cx="3383280" cy="157276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4983480"/>
            <a:ext cx="3182112" cy="1508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⑥ Dice + cross-entropy loss</a:t>
            </a:r>
            <a:r>
              <a:rPr sz="1000" b="0">
                <a:solidFill>
                  <a:srgbClr val="1E1E1E"/>
                </a:solidFill>
                <a:latin typeface="Calibri"/>
              </a:rPr>
              <a:t> (tf_unet: cross-entropy only)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⑦ Same padding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every pixel gets a prediction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⑧ No class weighting</a:t>
            </a:r>
            <a:r>
              <a:rPr sz="1000" b="0">
                <a:solidFill>
                  <a:srgbClr val="1E1E1E"/>
                </a:solidFill>
                <a:latin typeface="Calibri"/>
              </a:rPr>
              <a:t> — tf_unet has none either; our earlier version used it and scored lower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0F2043"/>
                </a:solidFill>
                <a:latin typeface="Calibri"/>
              </a:rPr>
              <a:t>⑨ Size</a:t>
            </a:r>
            <a:r>
              <a:rPr sz="1000" b="0">
                <a:solidFill>
                  <a:srgbClr val="1E1E1E"/>
                </a:solidFill>
                <a:latin typeface="Calibri"/>
              </a:rPr>
              <a:t>: shrinks 4 times, 8 → 128 channels, 593,842 parameters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E31837"/>
                </a:solidFill>
                <a:latin typeface="Calibri"/>
              </a:rPr>
              <a:t>Red = the three added modules ①–③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Inside one level, step by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64208"/>
            <a:ext cx="10835640" cy="13258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755648"/>
            <a:ext cx="1783080" cy="11430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837"/>
                </a:solidFill>
                <a:latin typeface="Calibri"/>
              </a:rPr>
              <a:t>ResBlock  ②④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  <a:latin typeface="Calibri"/>
              </a:rPr>
              <a:t>Two 3×3 convolutions, each tidied by GroupNorm; the input is added back at the end. Dropout works in training only.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108960"/>
            <a:ext cx="10835640" cy="178308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200400"/>
            <a:ext cx="1783080" cy="1600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837"/>
                </a:solidFill>
                <a:latin typeface="Calibri"/>
              </a:rPr>
              <a:t>Strip module  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  <a:latin typeface="Calibri"/>
              </a:rPr>
              <a:t>Looks at wider areas (7, 11, 21 px) cheaply: a thin filter along frequency, then one along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010912"/>
            <a:ext cx="10835640" cy="129844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102352"/>
            <a:ext cx="1783080" cy="11155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31837"/>
                </a:solidFill>
                <a:latin typeface="Calibri"/>
              </a:rPr>
              <a:t>ECA attention  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E1E1E"/>
                </a:solidFill>
                <a:latin typeface="Calibri"/>
              </a:rPr>
              <a:t>Gives each feature map a weight between 0 and 1, then scales it.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697480" y="1764792"/>
            <a:ext cx="8741664" cy="1033272"/>
            <a:chOff x="2697480" y="1764792"/>
            <a:chExt cx="8741664" cy="1033272"/>
          </a:xfrm>
        </p:grpSpPr>
        <p:sp>
          <p:nvSpPr>
            <p:cNvPr id="10" name="Rounded Rectangle 9"/>
            <p:cNvSpPr/>
            <p:nvPr/>
          </p:nvSpPr>
          <p:spPr>
            <a:xfrm>
              <a:off x="2697480" y="2340864"/>
              <a:ext cx="530352" cy="45720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1E1E1E"/>
                  </a:solidFill>
                  <a:latin typeface="Calibri"/>
                </a:rPr>
                <a:t>input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227832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3364992" y="2340864"/>
              <a:ext cx="749808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3×3 conv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114800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4251960" y="2340864"/>
              <a:ext cx="1051560" cy="457200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GroupNorm ④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5303520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5440680" y="2340864"/>
              <a:ext cx="548640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ReLU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5989320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126480" y="2340864"/>
              <a:ext cx="731520" cy="457200"/>
            </a:xfrm>
            <a:prstGeom prst="roundRect">
              <a:avLst/>
            </a:prstGeom>
            <a:solidFill>
              <a:srgbClr val="5A61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Dropout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6858000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6995160" y="2340864"/>
              <a:ext cx="749808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3×3 conv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7744968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7882128" y="2340864"/>
              <a:ext cx="1051560" cy="457200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GroupNorm ④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8933688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9070848" y="2404872"/>
              <a:ext cx="329184" cy="329184"/>
            </a:xfrm>
            <a:prstGeom prst="ellipse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Calibri"/>
                </a:rPr>
                <a:t>+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9400032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537192" y="2340864"/>
              <a:ext cx="548640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ReLU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10085832" y="256946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/>
            <p:cNvSpPr/>
            <p:nvPr/>
          </p:nvSpPr>
          <p:spPr>
            <a:xfrm>
              <a:off x="10222992" y="2340864"/>
              <a:ext cx="621792" cy="45720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1E1E1E"/>
                  </a:solidFill>
                  <a:latin typeface="Calibri"/>
                </a:rPr>
                <a:t>output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V="1">
              <a:off x="2962656" y="2011680"/>
              <a:ext cx="0" cy="329184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962656" y="2011680"/>
              <a:ext cx="502920" cy="0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30"/>
            <p:cNvSpPr/>
            <p:nvPr/>
          </p:nvSpPr>
          <p:spPr>
            <a:xfrm>
              <a:off x="3465576" y="1883664"/>
              <a:ext cx="731520" cy="2560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3183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950" b="1">
                  <a:solidFill>
                    <a:srgbClr val="E31837"/>
                  </a:solidFill>
                  <a:latin typeface="Calibri"/>
                </a:rPr>
                <a:t>1×1 conv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4197096" y="2011680"/>
              <a:ext cx="5038344" cy="0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9235440" y="2011680"/>
              <a:ext cx="0" cy="393192"/>
            </a:xfrm>
            <a:prstGeom prst="line">
              <a:avLst/>
            </a:prstGeom>
            <a:ln w="25400">
              <a:solidFill>
                <a:srgbClr val="E31837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06824" y="1764792"/>
              <a:ext cx="7132320" cy="20116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1">
                  <a:solidFill>
                    <a:srgbClr val="E31837"/>
                  </a:solidFill>
                  <a:latin typeface="Calibri"/>
                </a:rPr>
                <a:t>② shortcut: </a:t>
              </a:r>
              <a:r>
                <a:rPr sz="900" b="0">
                  <a:solidFill>
                    <a:srgbClr val="E31837"/>
                  </a:solidFill>
                  <a:latin typeface="Calibri"/>
                </a:rPr>
                <a:t>input goes around the block and is added back (via a 1×1 conv: every ResBlock here changes the channel count)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697480" y="3218688"/>
            <a:ext cx="8001000" cy="1600200"/>
            <a:chOff x="2697480" y="3218688"/>
            <a:chExt cx="8001000" cy="1600200"/>
          </a:xfrm>
        </p:grpSpPr>
        <p:sp>
          <p:nvSpPr>
            <p:cNvPr id="36" name="Rounded Rectangle 35"/>
            <p:cNvSpPr/>
            <p:nvPr/>
          </p:nvSpPr>
          <p:spPr>
            <a:xfrm>
              <a:off x="2697480" y="3771900"/>
              <a:ext cx="566928" cy="45720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1E1E1E"/>
                  </a:solidFill>
                  <a:latin typeface="Calibri"/>
                </a:rPr>
                <a:t>input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657600" y="3218688"/>
              <a:ext cx="1554480" cy="27432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1E1E1E"/>
                  </a:solidFill>
                  <a:latin typeface="Calibri"/>
                </a:rPr>
                <a:t>copy (unchanged)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 flipV="1">
              <a:off x="3264408" y="3355848"/>
              <a:ext cx="393192" cy="644652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ounded Rectangle 38"/>
            <p:cNvSpPr/>
            <p:nvPr/>
          </p:nvSpPr>
          <p:spPr>
            <a:xfrm>
              <a:off x="3657600" y="3566160"/>
              <a:ext cx="1554480" cy="27432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1×7  →  7×1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 flipV="1">
              <a:off x="3264408" y="3703320"/>
              <a:ext cx="393192" cy="297180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ounded Rectangle 40"/>
            <p:cNvSpPr/>
            <p:nvPr/>
          </p:nvSpPr>
          <p:spPr>
            <a:xfrm>
              <a:off x="3657600" y="3913632"/>
              <a:ext cx="1554480" cy="27432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1×11  →  11×1</a:t>
              </a:r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3264408" y="4000500"/>
              <a:ext cx="393192" cy="50292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/>
            <p:cNvSpPr/>
            <p:nvPr/>
          </p:nvSpPr>
          <p:spPr>
            <a:xfrm>
              <a:off x="3657600" y="4261104"/>
              <a:ext cx="1554480" cy="27432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1×21  →  21×1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3264408" y="4000500"/>
              <a:ext cx="393192" cy="397764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/>
            <p:cNvSpPr/>
            <p:nvPr/>
          </p:nvSpPr>
          <p:spPr>
            <a:xfrm>
              <a:off x="5623560" y="3726180"/>
              <a:ext cx="1051560" cy="54864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join all 4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(concatenate)</a:t>
              </a:r>
            </a:p>
          </p:txBody>
        </p:sp>
        <p:cxnSp>
          <p:nvCxnSpPr>
            <p:cNvPr id="46" name="Connector 45"/>
            <p:cNvCxnSpPr/>
            <p:nvPr/>
          </p:nvCxnSpPr>
          <p:spPr>
            <a:xfrm>
              <a:off x="5212080" y="3355848"/>
              <a:ext cx="411480" cy="644652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5212080" y="3703320"/>
              <a:ext cx="411480" cy="297180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 flipV="1">
              <a:off x="5212080" y="4000500"/>
              <a:ext cx="411480" cy="50292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V="1">
              <a:off x="5212080" y="4000500"/>
              <a:ext cx="411480" cy="397764"/>
            </a:xfrm>
            <a:prstGeom prst="line">
              <a:avLst/>
            </a:prstGeom>
            <a:ln w="13970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6675120" y="4000500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ounded Rectangle 50"/>
            <p:cNvSpPr/>
            <p:nvPr/>
          </p:nvSpPr>
          <p:spPr>
            <a:xfrm>
              <a:off x="6812280" y="3771900"/>
              <a:ext cx="1051560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1×1 conv (mix)</a:t>
              </a:r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7863840" y="4000500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52"/>
            <p:cNvSpPr/>
            <p:nvPr/>
          </p:nvSpPr>
          <p:spPr>
            <a:xfrm>
              <a:off x="8001000" y="3771900"/>
              <a:ext cx="1097280" cy="457200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GroupNorm ④</a:t>
              </a:r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9098280" y="4000500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ounded Rectangle 54"/>
            <p:cNvSpPr/>
            <p:nvPr/>
          </p:nvSpPr>
          <p:spPr>
            <a:xfrm>
              <a:off x="9235440" y="3771900"/>
              <a:ext cx="640080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Calibri"/>
                </a:rPr>
                <a:t>ReLU</a:t>
              </a:r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9875520" y="4000500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ounded Rectangle 56"/>
            <p:cNvSpPr/>
            <p:nvPr/>
          </p:nvSpPr>
          <p:spPr>
            <a:xfrm>
              <a:off x="10012680" y="3771900"/>
              <a:ext cx="685800" cy="45720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1E1E1E"/>
                  </a:solidFill>
                  <a:latin typeface="Calibri"/>
                </a:rPr>
                <a:t>output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657600" y="4617720"/>
              <a:ext cx="6858000" cy="20116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Each path = 1×K along frequency, then K×1 along time, each channel on its own → together it covers a K×K square (measured)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2697480" y="5358384"/>
            <a:ext cx="6373368" cy="886968"/>
            <a:chOff x="2697480" y="5358384"/>
            <a:chExt cx="6373368" cy="886968"/>
          </a:xfrm>
        </p:grpSpPr>
        <p:sp>
          <p:nvSpPr>
            <p:cNvPr id="60" name="Rounded Rectangle 59"/>
            <p:cNvSpPr/>
            <p:nvPr/>
          </p:nvSpPr>
          <p:spPr>
            <a:xfrm>
              <a:off x="2697480" y="5358384"/>
              <a:ext cx="566928" cy="50292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1E1E1E"/>
                  </a:solidFill>
                  <a:latin typeface="Calibri"/>
                </a:rPr>
                <a:t>input</a:t>
              </a:r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3264408" y="560984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ounded Rectangle 61"/>
            <p:cNvSpPr/>
            <p:nvPr/>
          </p:nvSpPr>
          <p:spPr>
            <a:xfrm>
              <a:off x="3401568" y="5358384"/>
              <a:ext cx="1463040" cy="50292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average each feature map → 1 number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4864608" y="560984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/>
            <p:cNvSpPr/>
            <p:nvPr/>
          </p:nvSpPr>
          <p:spPr>
            <a:xfrm>
              <a:off x="5001768" y="5358384"/>
              <a:ext cx="1417320" cy="50292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1-D conv (k = 3) across neighbouring channels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6419088" y="560984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ounded Rectangle 65"/>
            <p:cNvSpPr/>
            <p:nvPr/>
          </p:nvSpPr>
          <p:spPr>
            <a:xfrm>
              <a:off x="6556248" y="5358384"/>
              <a:ext cx="1188720" cy="50292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sigmoid → weight 0 to 1</a:t>
              </a:r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744968" y="560984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/>
            <p:cNvSpPr/>
            <p:nvPr/>
          </p:nvSpPr>
          <p:spPr>
            <a:xfrm>
              <a:off x="7882128" y="5431536"/>
              <a:ext cx="365760" cy="365760"/>
            </a:xfrm>
            <a:prstGeom prst="ellipse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Calibri"/>
                </a:rPr>
                <a:t>×</a:t>
              </a:r>
            </a:p>
          </p:txBody>
        </p:sp>
        <p:cxnSp>
          <p:nvCxnSpPr>
            <p:cNvPr id="69" name="Connector 68"/>
            <p:cNvCxnSpPr/>
            <p:nvPr/>
          </p:nvCxnSpPr>
          <p:spPr>
            <a:xfrm>
              <a:off x="8247888" y="5609844"/>
              <a:ext cx="13716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ounded Rectangle 69"/>
            <p:cNvSpPr/>
            <p:nvPr/>
          </p:nvSpPr>
          <p:spPr>
            <a:xfrm>
              <a:off x="8385048" y="5358384"/>
              <a:ext cx="685800" cy="50292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50" b="1">
                  <a:solidFill>
                    <a:srgbClr val="1E1E1E"/>
                  </a:solidFill>
                  <a:latin typeface="Calibri"/>
                </a:rPr>
                <a:t>output</a:t>
              </a:r>
            </a:p>
          </p:txBody>
        </p:sp>
        <p:cxnSp>
          <p:nvCxnSpPr>
            <p:cNvPr id="71" name="Connector 70"/>
            <p:cNvCxnSpPr/>
            <p:nvPr/>
          </p:nvCxnSpPr>
          <p:spPr>
            <a:xfrm>
              <a:off x="2980944" y="5861304"/>
              <a:ext cx="0" cy="201168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2980944" y="6062472"/>
              <a:ext cx="5084064" cy="0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 flipV="1">
              <a:off x="8065008" y="5797296"/>
              <a:ext cx="0" cy="265176"/>
            </a:xfrm>
            <a:prstGeom prst="line">
              <a:avLst/>
            </a:prstGeom>
            <a:ln w="15875">
              <a:solidFill>
                <a:srgbClr val="5A617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118104" y="6044184"/>
              <a:ext cx="4114800" cy="201168"/>
            </a:xfrm>
            <a:prstGeom prst="rect">
              <a:avLst/>
            </a:prstGeom>
            <a:noFill/>
          </p:spPr>
          <p:txBody>
            <a:bodyPr wrap="square" anchor="t" lIns="27432" rIns="27432" tIns="9144" bIns="9144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0">
                  <a:solidFill>
                    <a:srgbClr val="5A6170"/>
                  </a:solidFill>
                  <a:latin typeface="Calibri"/>
                </a:rPr>
                <a:t>the feature maps themselves go straight to × and are scaled by their weights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From output to RFI mask, and how it learns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9344"/>
            <a:ext cx="10835640" cy="1170432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664208"/>
            <a:ext cx="1828800" cy="10607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31837"/>
                </a:solidFill>
                <a:latin typeface="Calibri"/>
              </a:rPr>
              <a:t>Using the model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1E1E"/>
                </a:solidFill>
                <a:latin typeface="Calibri"/>
              </a:rPr>
              <a:t>after training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697480" y="1920240"/>
            <a:ext cx="8595359" cy="548640"/>
            <a:chOff x="2697480" y="1920240"/>
            <a:chExt cx="8595359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2697480" y="1920240"/>
              <a:ext cx="1051560" cy="54864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1E1E1E"/>
                  </a:solidFill>
                  <a:latin typeface="Calibri"/>
                </a:rPr>
                <a:t>spectrogram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3749039" y="2194560"/>
              <a:ext cx="182881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/>
            <p:cNvSpPr/>
            <p:nvPr/>
          </p:nvSpPr>
          <p:spPr>
            <a:xfrm>
              <a:off x="3931920" y="1920240"/>
              <a:ext cx="1188720" cy="54864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scale to 0–1 (fixed range)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120640" y="2194560"/>
              <a:ext cx="18288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5303520" y="1920240"/>
              <a:ext cx="960120" cy="548640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Our model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6263640" y="2194560"/>
              <a:ext cx="18288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6446520" y="1920240"/>
              <a:ext cx="1463040" cy="54864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probability 0–1 for each pixel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7909560" y="2194560"/>
              <a:ext cx="18288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8092440" y="1920240"/>
              <a:ext cx="1600200" cy="54864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threshold (picked on validation images)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9692640" y="2194560"/>
              <a:ext cx="182879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875519" y="1920240"/>
              <a:ext cx="1417320" cy="54864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1E1E1E"/>
                  </a:solidFill>
                  <a:latin typeface="Calibri"/>
                </a:rPr>
                <a:t>RFI mask: yes / no per pixel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85800" y="2907792"/>
            <a:ext cx="10835640" cy="1481328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962656"/>
            <a:ext cx="1828800" cy="13716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31837"/>
                </a:solidFill>
                <a:latin typeface="Calibri"/>
              </a:rPr>
              <a:t>Training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E1E1E"/>
                </a:solidFill>
                <a:latin typeface="Calibri"/>
              </a:rPr>
              <a:t>28,000 steps, one image per step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697480" y="3108960"/>
            <a:ext cx="8458199" cy="1097279"/>
            <a:chOff x="2697480" y="3108960"/>
            <a:chExt cx="8458199" cy="1097279"/>
          </a:xfrm>
        </p:grpSpPr>
        <p:sp>
          <p:nvSpPr>
            <p:cNvPr id="20" name="Rounded Rectangle 19"/>
            <p:cNvSpPr/>
            <p:nvPr/>
          </p:nvSpPr>
          <p:spPr>
            <a:xfrm>
              <a:off x="2697480" y="3108960"/>
              <a:ext cx="1554480" cy="4572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model's probabilities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697480" y="3749039"/>
              <a:ext cx="1554480" cy="457200"/>
            </a:xfrm>
            <a:prstGeom prst="roundRect">
              <a:avLst/>
            </a:prstGeom>
            <a:solidFill>
              <a:srgbClr val="DDE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0">
                  <a:solidFill>
                    <a:srgbClr val="1E1E1E"/>
                  </a:solidFill>
                  <a:latin typeface="Calibri"/>
                </a:rPr>
                <a:t>AOFlagger's RFI mask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572000" y="3200400"/>
              <a:ext cx="2103120" cy="914400"/>
            </a:xfrm>
            <a:prstGeom prst="round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loss = cross-entropy + Dice ⑥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how wrong the model is; no class weighting ⑧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4251960" y="3337560"/>
              <a:ext cx="320040" cy="18288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251960" y="3794760"/>
              <a:ext cx="320040" cy="182879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6995159" y="3200400"/>
              <a:ext cx="2057400" cy="914400"/>
            </a:xfrm>
            <a:prstGeom prst="round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Adam optimiser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nudges all 593,842 numbers to lower the loss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675120" y="3657600"/>
              <a:ext cx="320039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ounded Rectangle 26"/>
            <p:cNvSpPr/>
            <p:nvPr/>
          </p:nvSpPr>
          <p:spPr>
            <a:xfrm>
              <a:off x="9372599" y="3200400"/>
              <a:ext cx="1783080" cy="914400"/>
            </a:xfrm>
            <a:prstGeom prst="roundRect">
              <a:avLst/>
            </a:prstGeom>
            <a:solidFill>
              <a:srgbClr val="2E4A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36576" rIns="36576" tIns="9144" bIns="9144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Calibri"/>
                </a:rPr>
                <a:t>Every 1,400 steps</a:t>
              </a:r>
            </a:p>
            <a:p>
              <a:pPr algn="ctr"/>
              <a:r>
                <a:rPr sz="1000" b="0">
                  <a:solidFill>
                    <a:srgbClr val="FFFFFF"/>
                  </a:solidFill>
                  <a:latin typeface="Calibri"/>
                </a:rPr>
                <a:t>check on 150 validation images; keep the best version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9052559" y="3657600"/>
              <a:ext cx="320040" cy="0"/>
            </a:xfrm>
            <a:prstGeom prst="line">
              <a:avLst/>
            </a:prstGeom>
            <a:ln w="19050">
              <a:solidFill>
                <a:srgbClr val="1E1E1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685800" y="4517136"/>
            <a:ext cx="10835640" cy="1645920"/>
          </a:xfrm>
          <a:prstGeom prst="roundRect">
            <a:avLst>
              <a:gd name="adj" fmla="val 6000"/>
            </a:avLst>
          </a:prstGeom>
          <a:solidFill>
            <a:srgbClr val="FBE3E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08576"/>
            <a:ext cx="10515600" cy="14996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31837"/>
                </a:solidFill>
                <a:latin typeface="Calibri"/>
              </a:rPr>
              <a:t>How it is scored: </a:t>
            </a:r>
            <a:r>
              <a:rPr sz="1300" b="0">
                <a:solidFill>
                  <a:srgbClr val="1E1E1E"/>
                </a:solidFill>
                <a:latin typeface="Calibri"/>
              </a:rPr>
              <a:t>109 test images labelled by a human expert; F1 at the best threshold (the standard for this benchmark); 3 runs each, mean ± spread.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1E1E"/>
                </a:solidFill>
                <a:latin typeface="Calibri"/>
              </a:rPr>
              <a:t>Our model 0.6603 ± 0.0040</a:t>
            </a:r>
            <a:r>
              <a:rPr sz="1300" b="0">
                <a:solidFill>
                  <a:srgbClr val="1E1E1E"/>
                </a:solidFill>
                <a:latin typeface="Calibri"/>
              </a:rPr>
              <a:t>  vs  Akeret's tf_unet 0.5482 ± 0.0139  →  about +0.11.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31837"/>
                </a:solidFill>
                <a:latin typeface="Calibri"/>
              </a:rPr>
              <a:t>Which parts matter? </a:t>
            </a:r>
            <a:r>
              <a:rPr sz="1300" b="0">
                <a:solidFill>
                  <a:srgbClr val="1E1E1E"/>
                </a:solidFill>
                <a:latin typeface="Calibri"/>
              </a:rPr>
              <a:t>Removing ①②③ gives 0.6585 — not significant (p = 0.64). Removing ④ as well gives 0.6495 — also not significant (p = 0.48).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1E1E"/>
                </a:solidFill>
                <a:latin typeface="Calibri"/>
              </a:rPr>
              <a:t>So the gain over tf_unet sits mainly in ⑤ ⑥ ⑦ ⑨ </a:t>
            </a:r>
            <a:r>
              <a:rPr sz="1300" b="0">
                <a:solidFill>
                  <a:srgbClr val="1E1E1E"/>
                </a:solidFill>
                <a:latin typeface="Calibri"/>
              </a:rPr>
              <a:t>(raw output, Dice loss, same padding, size and training setup) — not yet tested one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