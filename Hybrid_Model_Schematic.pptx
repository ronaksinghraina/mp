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Ronak Singh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/>
          <p:nvPr/>
        </p:nvSpPr>
        <p:spPr>
          <a:xfrm>
            <a:off x="0" y="0"/>
            <a:ext cx="12192000" cy="4606724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" name="Google Shape;18;p2"/>
          <p:cNvGrpSpPr/>
          <p:nvPr/>
        </p:nvGrpSpPr>
        <p:grpSpPr>
          <a:xfrm>
            <a:off x="4539436" y="1893116"/>
            <a:ext cx="3113127" cy="3113127"/>
            <a:chOff x="4539436" y="1893116"/>
            <a:chExt cx="3113127" cy="3113127"/>
          </a:xfrm>
        </p:grpSpPr>
        <p:sp>
          <p:nvSpPr>
            <p:cNvPr id="19" name="Google Shape;19;p2"/>
            <p:cNvSpPr/>
            <p:nvPr/>
          </p:nvSpPr>
          <p:spPr>
            <a:xfrm>
              <a:off x="4539436" y="1893116"/>
              <a:ext cx="3113127" cy="3113127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4648304" y="2001985"/>
              <a:ext cx="2895391" cy="2895391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" name="Google Shape;21;p2"/>
          <p:cNvSpPr/>
          <p:nvPr/>
        </p:nvSpPr>
        <p:spPr>
          <a:xfrm>
            <a:off x="-2" y="3912719"/>
            <a:ext cx="12192000" cy="228263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22" name="Google Shape;2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"/>
          <p:cNvSpPr txBox="1"/>
          <p:nvPr>
            <p:ph type="title"/>
          </p:nvPr>
        </p:nvSpPr>
        <p:spPr>
          <a:xfrm>
            <a:off x="2209801" y="328976"/>
            <a:ext cx="6721764" cy="9176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3"/>
          <p:cNvSpPr txBox="1"/>
          <p:nvPr>
            <p:ph idx="12" type="sldNum"/>
          </p:nvPr>
        </p:nvSpPr>
        <p:spPr>
          <a:xfrm>
            <a:off x="3385127" y="63602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31" name="Google Shape;3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34" name="Google Shape;3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1" name="Google Shape;51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9" name="Google Shape;69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/>
          <p:nvPr/>
        </p:nvSpPr>
        <p:spPr>
          <a:xfrm>
            <a:off x="2204720" y="0"/>
            <a:ext cx="9774801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95" name="Google Shape;95;p13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5"/>
          <p:cNvSpPr/>
          <p:nvPr/>
        </p:nvSpPr>
        <p:spPr>
          <a:xfrm>
            <a:off x="0" y="0"/>
            <a:ext cx="12192000" cy="4606800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" name="Google Shape;106;p15"/>
          <p:cNvGrpSpPr/>
          <p:nvPr/>
        </p:nvGrpSpPr>
        <p:grpSpPr>
          <a:xfrm>
            <a:off x="4539436" y="1893116"/>
            <a:ext cx="3113100" cy="3113100"/>
            <a:chOff x="4539436" y="1893116"/>
            <a:chExt cx="3113100" cy="3113100"/>
          </a:xfrm>
        </p:grpSpPr>
        <p:sp>
          <p:nvSpPr>
            <p:cNvPr id="107" name="Google Shape;107;p15"/>
            <p:cNvSpPr/>
            <p:nvPr/>
          </p:nvSpPr>
          <p:spPr>
            <a:xfrm>
              <a:off x="4539436" y="1893116"/>
              <a:ext cx="3113100" cy="3113100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4648304" y="2001985"/>
              <a:ext cx="2895300" cy="2895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15"/>
          <p:cNvSpPr/>
          <p:nvPr/>
        </p:nvSpPr>
        <p:spPr>
          <a:xfrm>
            <a:off x="-2" y="3912719"/>
            <a:ext cx="12192000" cy="228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10" name="Google Shape;11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2209801" y="328976"/>
            <a:ext cx="6721800" cy="91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16"/>
          <p:cNvSpPr txBox="1"/>
          <p:nvPr>
            <p:ph idx="12" type="sldNum"/>
          </p:nvPr>
        </p:nvSpPr>
        <p:spPr>
          <a:xfrm>
            <a:off x="3385127" y="63602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119" name="Google Shape;119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122" name="Google Shape;12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6" name="Google Shape;126;p1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8"/>
          <p:cNvSpPr txBox="1"/>
          <p:nvPr>
            <p:ph idx="1" type="body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18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1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9"/>
          <p:cNvSpPr txBox="1"/>
          <p:nvPr>
            <p:ph idx="3" type="body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41" name="Google Shape;141;p19"/>
          <p:cNvSpPr txBox="1"/>
          <p:nvPr>
            <p:ph idx="4" type="body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1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1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2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idx="1" type="body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57" name="Google Shape;157;p22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58" name="Google Shape;158;p2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23"/>
          <p:cNvSpPr/>
          <p:nvPr>
            <p:ph idx="2" type="pic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64" name="Google Shape;164;p23"/>
          <p:cNvSpPr txBox="1"/>
          <p:nvPr>
            <p:ph idx="1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65" name="Google Shape;165;p2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2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2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2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5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5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2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2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6"/>
          <p:cNvSpPr/>
          <p:nvPr/>
        </p:nvSpPr>
        <p:spPr>
          <a:xfrm>
            <a:off x="2204720" y="0"/>
            <a:ext cx="9763674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83" name="Google Shape;183;p26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68e7f2f61_23_0)">
  <p:cSld name="Generated (g3f68e7f2f61_23_0)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9" name="Google Shape;99;p14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1" name="Google Shape;101;p1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2" name="Google Shape;102;p1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Starting point: a basic U-Net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84048" y="1536192"/>
            <a:ext cx="11466576" cy="4087368"/>
            <a:chOff x="384048" y="1536192"/>
            <a:chExt cx="11466576" cy="4087368"/>
          </a:xfrm>
        </p:grpSpPr>
        <p:sp>
          <p:nvSpPr>
            <p:cNvPr id="4" name="TextBox 3"/>
            <p:cNvSpPr txBox="1"/>
            <p:nvPr/>
          </p:nvSpPr>
          <p:spPr>
            <a:xfrm>
              <a:off x="68580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▼ Input: spectrogram, 1 × 512 × 512 (time × frequency)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3504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Output: an RFI probability for every pixel ▲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85800" y="1874519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217152" y="1874519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71800" y="2157984"/>
              <a:ext cx="6245352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1252728" y="2670048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650224" y="2670048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538728" y="2953512"/>
              <a:ext cx="5111496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1819656" y="3465576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083296" y="3465576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4105656" y="3749039"/>
              <a:ext cx="3977640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2386584" y="4261104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16368" y="4261104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672583" y="4544568"/>
              <a:ext cx="2843785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2971800" y="1911095"/>
              <a:ext cx="6245352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>
                  <a:solidFill>
                    <a:srgbClr val="5A6170"/>
                  </a:solidFill>
                  <a:latin typeface="Calibri"/>
                </a:rPr>
                <a:t>skip connection: copy the encoder's features and join them to the decoder's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527048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384048" y="2441448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10661904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0707624" y="2441448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093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950976" y="3236976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V="1">
              <a:off x="10094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10140696" y="3236976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2660903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1517903" y="4032504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V="1">
              <a:off x="9528048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9573768" y="4032504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951476" y="5056632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Bottleneck · 128 × 32 × 32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4535423" y="4828032"/>
              <a:ext cx="416053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V="1">
              <a:off x="7237476" y="4828032"/>
              <a:ext cx="416052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Rounded Rectangle 33"/>
          <p:cNvSpPr/>
          <p:nvPr/>
        </p:nvSpPr>
        <p:spPr>
          <a:xfrm>
            <a:off x="685800" y="498348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047488"/>
            <a:ext cx="3154680" cy="9601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Encoder (left): </a:t>
            </a:r>
            <a:r>
              <a:rPr sz="1100" b="0">
                <a:solidFill>
                  <a:srgbClr val="1E1E1E"/>
                </a:solidFill>
                <a:latin typeface="Calibri"/>
              </a:rPr>
              <a:t>shrinks the image step by step and learns WHAT is in it.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Decoder (right): </a:t>
            </a:r>
            <a:r>
              <a:rPr sz="1100" b="0">
                <a:solidFill>
                  <a:srgbClr val="1E1E1E"/>
                </a:solidFill>
                <a:latin typeface="Calibri"/>
              </a:rPr>
              <a:t>grows it back to full size and learns WHERE it 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98348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5047488"/>
            <a:ext cx="3154680" cy="9601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Skip connections: </a:t>
            </a:r>
            <a:r>
              <a:rPr sz="1100" b="0">
                <a:solidFill>
                  <a:srgbClr val="1E1E1E"/>
                </a:solidFill>
                <a:latin typeface="Calibri"/>
              </a:rPr>
              <a:t>pass fine detail straight across, so thin RFI lines are not lost when the image is shrunk.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Numbers: </a:t>
            </a:r>
            <a:r>
              <a:rPr sz="1100" b="0">
                <a:solidFill>
                  <a:srgbClr val="1E1E1E"/>
                </a:solidFill>
                <a:latin typeface="Calibri"/>
              </a:rPr>
              <a:t>channels × height × width.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Our model: the same U, with 9 changes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84048" y="1536192"/>
            <a:ext cx="11466576" cy="4087368"/>
            <a:chOff x="384048" y="1536192"/>
            <a:chExt cx="11466576" cy="4087368"/>
          </a:xfrm>
        </p:grpSpPr>
        <p:sp>
          <p:nvSpPr>
            <p:cNvPr id="4" name="TextBox 3"/>
            <p:cNvSpPr txBox="1"/>
            <p:nvPr/>
          </p:nvSpPr>
          <p:spPr>
            <a:xfrm>
              <a:off x="68580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▼ Input: spectrogram, 1 × 512 × 512 — sizes never shrink ⑦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3504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1×1 conv → 2 raw scores → softmax ⑤ → RFI probability ▲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85800" y="1874519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217152" y="1874519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71800" y="2157984"/>
              <a:ext cx="6245352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1252728" y="2670048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650224" y="2670048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538728" y="2953512"/>
              <a:ext cx="5111496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1819656" y="3465576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083296" y="3465576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4105656" y="3749039"/>
              <a:ext cx="3977640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2386584" y="4261104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ECA ③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16368" y="4261104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672583" y="4544568"/>
              <a:ext cx="2843785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2971800" y="1911095"/>
              <a:ext cx="6245352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>
                  <a:solidFill>
                    <a:srgbClr val="5A6170"/>
                  </a:solidFill>
                  <a:latin typeface="Calibri"/>
                </a:rPr>
                <a:t>skip connection: copy the encoder's features and join them to the decoder's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527048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384048" y="2441448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10661904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0707624" y="2441448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093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950976" y="3236976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V="1">
              <a:off x="10094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10140696" y="3236976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2660903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1517903" y="4032504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V="1">
              <a:off x="9528048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9573768" y="4032504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951476" y="5056632"/>
              <a:ext cx="2286000" cy="566928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Bottleneck · 128 × 32 × 32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4535423" y="4828032"/>
              <a:ext cx="416053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V="1">
              <a:off x="7237476" y="4828032"/>
              <a:ext cx="416052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Rounded Rectangle 33"/>
          <p:cNvSpPr/>
          <p:nvPr/>
        </p:nvSpPr>
        <p:spPr>
          <a:xfrm>
            <a:off x="685800" y="49377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BE3E7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4983480"/>
            <a:ext cx="3182112" cy="135331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① Strip convolutions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long thin filters (enc. 1–3, bottleneck)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② Residual shortcut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inside every ResBlock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③ ECA attention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re-weights channels, every level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④ GroupNorm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inside every block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⑤ Raw scores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no ReLU before softmax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9377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1" y="4983480"/>
            <a:ext cx="3182112" cy="135331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⑥ Dice + cross-entropy loss</a:t>
            </a:r>
            <a:r>
              <a:rPr sz="1050" b="0">
                <a:solidFill>
                  <a:srgbClr val="1E1E1E"/>
                </a:solidFill>
                <a:latin typeface="Calibri"/>
              </a:rPr>
              <a:t> (training)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⑦ Same padding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every pixel gets a prediction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⑧ No class weighting</a:t>
            </a:r>
            <a:r>
              <a:rPr sz="1050" b="0">
                <a:solidFill>
                  <a:srgbClr val="1E1E1E"/>
                </a:solidFill>
                <a:latin typeface="Calibri"/>
              </a:rPr>
              <a:t> (training)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⑨ Size</a:t>
            </a:r>
            <a:r>
              <a:rPr sz="1050" b="0">
                <a:solidFill>
                  <a:srgbClr val="1E1E1E"/>
                </a:solidFill>
                <a:latin typeface="Calibri"/>
              </a:rPr>
              <a:t>: 8 → 16 → 32 → 64 → 128 channels, 593,842 parameters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Red = RFI-specific additions ①–③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Inside one level, step by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64208"/>
            <a:ext cx="10835640" cy="13258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755648"/>
            <a:ext cx="1783080" cy="11430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ResBlock  ②④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Two 3×3 convolutions, each tidied by GroupNorm; the input is added back at the end.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08960"/>
            <a:ext cx="10835640" cy="17830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3200400"/>
            <a:ext cx="1783080" cy="1600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Strip module  ①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Looks along long thin lines of 7, 11 and 21 pixels, in time and in frequency.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010912"/>
            <a:ext cx="10835640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102352"/>
            <a:ext cx="1783080" cy="11155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ECA attention  ③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Gives each feature map a weight between 0 and 1, then scales it.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697480" y="1728216"/>
            <a:ext cx="8074152" cy="996696"/>
            <a:chOff x="2697480" y="1728216"/>
            <a:chExt cx="8074152" cy="996696"/>
          </a:xfrm>
        </p:grpSpPr>
        <p:sp>
          <p:nvSpPr>
            <p:cNvPr id="10" name="Rounded Rectangle 9"/>
            <p:cNvSpPr/>
            <p:nvPr/>
          </p:nvSpPr>
          <p:spPr>
            <a:xfrm>
              <a:off x="2697480" y="2267712"/>
              <a:ext cx="566928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26440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3429000" y="2267712"/>
              <a:ext cx="841248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3×3 conv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27024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4434840" y="2267712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5532120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5696712" y="2267712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6336792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501384" y="2267712"/>
              <a:ext cx="841248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3×3 conv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342632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7507224" y="2267712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8604504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8769096" y="2322576"/>
              <a:ext cx="347472" cy="347472"/>
            </a:xfrm>
            <a:prstGeom prst="ellipse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alibri"/>
                </a:rPr>
                <a:t>+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911656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9281160" y="2267712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9921240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10085832" y="2267712"/>
              <a:ext cx="68580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 flipV="1">
              <a:off x="2980944" y="1975104"/>
              <a:ext cx="0" cy="292608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2980944" y="1975104"/>
              <a:ext cx="5961888" cy="0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8942832" y="1975104"/>
              <a:ext cx="0" cy="347472"/>
            </a:xfrm>
            <a:prstGeom prst="line">
              <a:avLst/>
            </a:prstGeom>
            <a:ln w="25400">
              <a:solidFill>
                <a:srgbClr val="E31837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3072384" y="1728216"/>
              <a:ext cx="73152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E31837"/>
                  </a:solidFill>
                  <a:latin typeface="Calibri"/>
                </a:rPr>
                <a:t>② shortcut: </a:t>
              </a:r>
              <a:r>
                <a:rPr sz="950" b="0">
                  <a:solidFill>
                    <a:srgbClr val="E31837"/>
                  </a:solidFill>
                  <a:latin typeface="Calibri"/>
                </a:rPr>
                <a:t>the input skips the block and is added back (1×1 conv if channel count changes)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97480" y="3218688"/>
            <a:ext cx="8110727" cy="1600200"/>
            <a:chOff x="2697480" y="3218688"/>
            <a:chExt cx="8110727" cy="1600200"/>
          </a:xfrm>
        </p:grpSpPr>
        <p:sp>
          <p:nvSpPr>
            <p:cNvPr id="32" name="Rounded Rectangle 31"/>
            <p:cNvSpPr/>
            <p:nvPr/>
          </p:nvSpPr>
          <p:spPr>
            <a:xfrm>
              <a:off x="2697480" y="3771900"/>
              <a:ext cx="566928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3657600" y="3218688"/>
              <a:ext cx="1554480" cy="2743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1E1E1E"/>
                  </a:solidFill>
                  <a:latin typeface="Calibri"/>
                </a:rPr>
                <a:t>copy (unchanged)</a:t>
              </a:r>
            </a:p>
          </p:txBody>
        </p:sp>
        <p:cxnSp>
          <p:nvCxnSpPr>
            <p:cNvPr id="34" name="Connector 33"/>
            <p:cNvCxnSpPr/>
            <p:nvPr/>
          </p:nvCxnSpPr>
          <p:spPr>
            <a:xfrm flipV="1">
              <a:off x="3264408" y="3355848"/>
              <a:ext cx="393192" cy="64465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ounded Rectangle 34"/>
            <p:cNvSpPr/>
            <p:nvPr/>
          </p:nvSpPr>
          <p:spPr>
            <a:xfrm>
              <a:off x="3657600" y="3566160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1×7  →  7×1</a:t>
              </a:r>
            </a:p>
          </p:txBody>
        </p:sp>
        <p:cxnSp>
          <p:nvCxnSpPr>
            <p:cNvPr id="36" name="Connector 35"/>
            <p:cNvCxnSpPr/>
            <p:nvPr/>
          </p:nvCxnSpPr>
          <p:spPr>
            <a:xfrm flipV="1">
              <a:off x="3264408" y="3703320"/>
              <a:ext cx="393192" cy="297180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ounded Rectangle 36"/>
            <p:cNvSpPr/>
            <p:nvPr/>
          </p:nvSpPr>
          <p:spPr>
            <a:xfrm>
              <a:off x="3657600" y="3913632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1×11  →  11×1</a:t>
              </a:r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3264408" y="4000500"/>
              <a:ext cx="393192" cy="5029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ounded Rectangle 38"/>
            <p:cNvSpPr/>
            <p:nvPr/>
          </p:nvSpPr>
          <p:spPr>
            <a:xfrm>
              <a:off x="3657600" y="4261104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1×21  →  21×1</a:t>
              </a:r>
            </a:p>
          </p:txBody>
        </p:sp>
        <p:cxnSp>
          <p:nvCxnSpPr>
            <p:cNvPr id="40" name="Connector 39"/>
            <p:cNvCxnSpPr/>
            <p:nvPr/>
          </p:nvCxnSpPr>
          <p:spPr>
            <a:xfrm>
              <a:off x="3264408" y="4000500"/>
              <a:ext cx="393192" cy="397764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ounded Rectangle 40"/>
            <p:cNvSpPr/>
            <p:nvPr/>
          </p:nvSpPr>
          <p:spPr>
            <a:xfrm>
              <a:off x="5623560" y="3726180"/>
              <a:ext cx="1051560" cy="54864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Calibri"/>
                </a:rPr>
                <a:t>join all 4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(concatenate)</a:t>
              </a:r>
            </a:p>
          </p:txBody>
        </p:sp>
        <p:cxnSp>
          <p:nvCxnSpPr>
            <p:cNvPr id="42" name="Connector 41"/>
            <p:cNvCxnSpPr/>
            <p:nvPr/>
          </p:nvCxnSpPr>
          <p:spPr>
            <a:xfrm>
              <a:off x="5212080" y="3355848"/>
              <a:ext cx="411480" cy="64465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>
              <a:off x="5212080" y="3703320"/>
              <a:ext cx="411480" cy="297180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5212080" y="4000500"/>
              <a:ext cx="411480" cy="5029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 flipV="1">
              <a:off x="5212080" y="4000500"/>
              <a:ext cx="411480" cy="397764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6675120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ounded Rectangle 46"/>
            <p:cNvSpPr/>
            <p:nvPr/>
          </p:nvSpPr>
          <p:spPr>
            <a:xfrm>
              <a:off x="6839712" y="3771900"/>
              <a:ext cx="105156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1×1 conv (mix)</a:t>
              </a:r>
            </a:p>
          </p:txBody>
        </p:sp>
        <p:cxnSp>
          <p:nvCxnSpPr>
            <p:cNvPr id="48" name="Connector 47"/>
            <p:cNvCxnSpPr/>
            <p:nvPr/>
          </p:nvCxnSpPr>
          <p:spPr>
            <a:xfrm>
              <a:off x="7891272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ounded Rectangle 48"/>
            <p:cNvSpPr/>
            <p:nvPr/>
          </p:nvSpPr>
          <p:spPr>
            <a:xfrm>
              <a:off x="8055864" y="3771900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9153144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ounded Rectangle 50"/>
            <p:cNvSpPr/>
            <p:nvPr/>
          </p:nvSpPr>
          <p:spPr>
            <a:xfrm>
              <a:off x="9317736" y="3771900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52" name="Connector 51"/>
            <p:cNvCxnSpPr/>
            <p:nvPr/>
          </p:nvCxnSpPr>
          <p:spPr>
            <a:xfrm>
              <a:off x="9957815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52"/>
            <p:cNvSpPr/>
            <p:nvPr/>
          </p:nvSpPr>
          <p:spPr>
            <a:xfrm>
              <a:off x="10122407" y="3771900"/>
              <a:ext cx="68580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3657600" y="4617720"/>
              <a:ext cx="6858000" cy="20116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On LOFAR (rows = time): 1×K runs along frequency (catches broadband bursts) · K×1 runs along time (catches narrowband lines)</a:t>
              </a:r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2697480" y="5358384"/>
            <a:ext cx="6510528" cy="886968"/>
            <a:chOff x="2697480" y="5358384"/>
            <a:chExt cx="6510528" cy="886968"/>
          </a:xfrm>
        </p:grpSpPr>
        <p:sp>
          <p:nvSpPr>
            <p:cNvPr id="56" name="Rounded Rectangle 55"/>
            <p:cNvSpPr/>
            <p:nvPr/>
          </p:nvSpPr>
          <p:spPr>
            <a:xfrm>
              <a:off x="2697480" y="5358384"/>
              <a:ext cx="566928" cy="5029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cxnSp>
          <p:nvCxnSpPr>
            <p:cNvPr id="57" name="Connector 56"/>
            <p:cNvCxnSpPr/>
            <p:nvPr/>
          </p:nvCxnSpPr>
          <p:spPr>
            <a:xfrm>
              <a:off x="3264408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7"/>
            <p:cNvSpPr/>
            <p:nvPr/>
          </p:nvSpPr>
          <p:spPr>
            <a:xfrm>
              <a:off x="3429000" y="5358384"/>
              <a:ext cx="1463040" cy="50292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average each feature map → 1 number</a:t>
              </a:r>
            </a:p>
          </p:txBody>
        </p:sp>
        <p:cxnSp>
          <p:nvCxnSpPr>
            <p:cNvPr id="59" name="Connector 58"/>
            <p:cNvCxnSpPr/>
            <p:nvPr/>
          </p:nvCxnSpPr>
          <p:spPr>
            <a:xfrm>
              <a:off x="4892040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ounded Rectangle 59"/>
            <p:cNvSpPr/>
            <p:nvPr/>
          </p:nvSpPr>
          <p:spPr>
            <a:xfrm>
              <a:off x="5056632" y="5358384"/>
              <a:ext cx="1417320" cy="50292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1-D conv (k = 3) across neighbours</a:t>
              </a:r>
            </a:p>
          </p:txBody>
        </p:sp>
        <p:cxnSp>
          <p:nvCxnSpPr>
            <p:cNvPr id="61" name="Connector 60"/>
            <p:cNvCxnSpPr/>
            <p:nvPr/>
          </p:nvCxnSpPr>
          <p:spPr>
            <a:xfrm>
              <a:off x="6473952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ounded Rectangle 61"/>
            <p:cNvSpPr/>
            <p:nvPr/>
          </p:nvSpPr>
          <p:spPr>
            <a:xfrm>
              <a:off x="6638544" y="5358384"/>
              <a:ext cx="1188720" cy="5029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sigmoid → weight 0 to 1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7827264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91856" y="5431536"/>
              <a:ext cx="365760" cy="365760"/>
            </a:xfrm>
            <a:prstGeom prst="ellipse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alibri"/>
                </a:rPr>
                <a:t>×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8357616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Rounded Rectangle 65"/>
            <p:cNvSpPr/>
            <p:nvPr/>
          </p:nvSpPr>
          <p:spPr>
            <a:xfrm>
              <a:off x="8522208" y="5358384"/>
              <a:ext cx="685800" cy="5029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cxnSp>
          <p:nvCxnSpPr>
            <p:cNvPr id="67" name="Connector 66"/>
            <p:cNvCxnSpPr/>
            <p:nvPr/>
          </p:nvCxnSpPr>
          <p:spPr>
            <a:xfrm>
              <a:off x="2980944" y="5861304"/>
              <a:ext cx="0" cy="201168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>
              <a:off x="2980944" y="6062472"/>
              <a:ext cx="5193792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 flipV="1">
              <a:off x="8174736" y="5797296"/>
              <a:ext cx="0" cy="265176"/>
            </a:xfrm>
            <a:prstGeom prst="line">
              <a:avLst/>
            </a:prstGeom>
            <a:ln w="15875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/>
            <p:cNvSpPr txBox="1"/>
            <p:nvPr/>
          </p:nvSpPr>
          <p:spPr>
            <a:xfrm>
              <a:off x="3118104" y="6044184"/>
              <a:ext cx="4114800" cy="20116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the feature maps themselves go straight to × and are scaled by their weights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From output to RFI mask, and how it learns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0835640" cy="14173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719072"/>
            <a:ext cx="1920240" cy="12801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31837"/>
                </a:solidFill>
                <a:latin typeface="Calibri"/>
              </a:rPr>
              <a:t>Using the model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E1E1E"/>
                </a:solidFill>
                <a:latin typeface="Calibri"/>
              </a:rPr>
              <a:t>after training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697480" y="2103120"/>
            <a:ext cx="8366760" cy="566928"/>
            <a:chOff x="2697480" y="2103120"/>
            <a:chExt cx="8366760" cy="566928"/>
          </a:xfrm>
        </p:grpSpPr>
        <p:sp>
          <p:nvSpPr>
            <p:cNvPr id="6" name="Rounded Rectangle 5"/>
            <p:cNvSpPr/>
            <p:nvPr/>
          </p:nvSpPr>
          <p:spPr>
            <a:xfrm>
              <a:off x="2697480" y="2103120"/>
              <a:ext cx="1188720" cy="566928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spectrogram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388620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4114800" y="2103120"/>
              <a:ext cx="1143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Our model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25780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5486400" y="2103120"/>
              <a:ext cx="169164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probability 0–1 for each pixel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717804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7406640" y="2103120"/>
              <a:ext cx="1828800" cy="566928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threshold (chosen on validation data)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923544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464040" y="2103120"/>
              <a:ext cx="1600200" cy="566928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RFI mask: yes / no per pixel</a:t>
              </a:r>
            </a:p>
          </p:txBody>
        </p:sp>
      </p:grpSp>
      <p:sp>
        <p:nvSpPr>
          <p:cNvPr id="15" name="Rounded Rectangle 14"/>
          <p:cNvSpPr/>
          <p:nvPr/>
        </p:nvSpPr>
        <p:spPr>
          <a:xfrm>
            <a:off x="685800" y="3246120"/>
            <a:ext cx="10835640" cy="16002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319272"/>
            <a:ext cx="1920240" cy="14630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31837"/>
                </a:solidFill>
                <a:latin typeface="Calibri"/>
              </a:rPr>
              <a:t>Training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E1E1E"/>
                </a:solidFill>
                <a:latin typeface="Calibri"/>
              </a:rPr>
              <a:t>repeated 28,000 times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697480" y="3493008"/>
            <a:ext cx="7498080" cy="1115568"/>
            <a:chOff x="2697480" y="3493008"/>
            <a:chExt cx="7498080" cy="1115568"/>
          </a:xfrm>
        </p:grpSpPr>
        <p:sp>
          <p:nvSpPr>
            <p:cNvPr id="18" name="Rounded Rectangle 17"/>
            <p:cNvSpPr/>
            <p:nvPr/>
          </p:nvSpPr>
          <p:spPr>
            <a:xfrm>
              <a:off x="2697480" y="3493008"/>
              <a:ext cx="169164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model's probabilities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2697480" y="4151376"/>
              <a:ext cx="169164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AOFlagger's RFI mask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4800600" y="3593591"/>
              <a:ext cx="2377440" cy="82296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loss = cross-entropy + Dice ⑥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how wrong the model is (no class weighting ⑧)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4389120" y="3721608"/>
              <a:ext cx="411480" cy="182879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 flipV="1">
              <a:off x="4389120" y="4105656"/>
              <a:ext cx="411480" cy="27432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ounded Rectangle 22"/>
            <p:cNvSpPr/>
            <p:nvPr/>
          </p:nvSpPr>
          <p:spPr>
            <a:xfrm>
              <a:off x="7589520" y="3593591"/>
              <a:ext cx="2606040" cy="82296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Adam optimiser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nudges all 593,842 weights to reduce the loss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7178040" y="4005072"/>
              <a:ext cx="41148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Rounded Rectangle 24"/>
          <p:cNvSpPr/>
          <p:nvPr/>
        </p:nvSpPr>
        <p:spPr>
          <a:xfrm>
            <a:off x="685800" y="5029200"/>
            <a:ext cx="10835640" cy="960120"/>
          </a:xfrm>
          <a:prstGeom prst="roundRect">
            <a:avLst>
              <a:gd name="adj" fmla="val 6000"/>
            </a:avLst>
          </a:prstGeom>
          <a:solidFill>
            <a:srgbClr val="FBE3E7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120640"/>
            <a:ext cx="105156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31837"/>
                </a:solidFill>
                <a:latin typeface="Calibri"/>
              </a:rPr>
              <a:t>Which parts actually matter? </a:t>
            </a:r>
            <a:r>
              <a:rPr sz="1300" b="0">
                <a:solidFill>
                  <a:srgbClr val="1E1E1E"/>
                </a:solidFill>
                <a:latin typeface="Calibri"/>
              </a:rPr>
              <a:t>Removing ①②③ (strips, shortcuts, attention) changes F1 from 0.660 to 0.658 — not significant (3 runs each, p = 0.64).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E1E1E"/>
                </a:solidFill>
                <a:latin typeface="Calibri"/>
              </a:rPr>
              <a:t>So the model's strength comes from ④–⑨: </a:t>
            </a:r>
            <a:r>
              <a:rPr sz="1300" b="0">
                <a:solidFill>
                  <a:srgbClr val="1E1E1E"/>
                </a:solidFill>
                <a:latin typeface="Calibri"/>
              </a:rPr>
              <a:t>normalisation, raw output scores, the Dice loss, same padding, no class weighting, and its size and training setup.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