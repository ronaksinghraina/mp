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7632" y="4443984"/>
            <a:ext cx="9144000" cy="640080"/>
          </a:xfrm>
        </p:spPr>
        <p:txBody>
          <a:bodyPr/>
          <a:lstStyle/>
          <a:p>
            <a:pPr algn="ctr"/>
            <a:r>
              <a:rPr sz="3600" b="1">
                <a:solidFill>
                  <a:srgbClr val="E31837"/>
                </a:solidFill>
                <a:latin typeface="Calibri"/>
              </a:rPr>
              <a:t>Weekly Report – The Hybrid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27632" y="5138928"/>
            <a:ext cx="9144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1E1E1E"/>
                </a:solidFill>
                <a:latin typeface="Calibri"/>
              </a:rPr>
              <a:t>08/10/2026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" y="6053328"/>
            <a:ext cx="40233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Ronak Singh (BS-MS 4th Year)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IMS23319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School of Physics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120640" cy="3429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755648"/>
            <a:ext cx="470916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1">
                <a:solidFill>
                  <a:srgbClr val="E31837"/>
                </a:solidFill>
                <a:latin typeface="Calibri"/>
              </a:rPr>
              <a:t>This Week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Two U-Nets compared: </a:t>
            </a:r>
            <a:r>
              <a:rPr sz="1900" b="0">
                <a:solidFill>
                  <a:srgbClr val="1E1E1E"/>
                </a:solidFill>
                <a:latin typeface="Calibri"/>
              </a:rPr>
              <a:t>Akeret et al.'s tf_unet (ours) vs. the U-Net of Mesarcik et al.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Hybrid model: </a:t>
            </a:r>
            <a:r>
              <a:rPr sz="1900" b="0">
                <a:solidFill>
                  <a:srgbClr val="1E1E1E"/>
                </a:solidFill>
                <a:latin typeface="Calibri"/>
              </a:rPr>
              <a:t>presented for the first time — a U-Net with 9 changes.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Which changes matter: </a:t>
            </a:r>
            <a:r>
              <a:rPr sz="1900" b="0">
                <a:solidFill>
                  <a:srgbClr val="1E1E1E"/>
                </a:solidFill>
                <a:latin typeface="Calibri"/>
              </a:rPr>
              <a:t>tested by removing parts and re-training.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600200"/>
            <a:ext cx="5440680" cy="3429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09360" y="1755648"/>
            <a:ext cx="502920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1">
                <a:solidFill>
                  <a:srgbClr val="E31837"/>
                </a:solidFill>
                <a:latin typeface="Calibri"/>
              </a:rPr>
              <a:t>Key Results (LOFAR, max F1)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tf_unet: </a:t>
            </a:r>
            <a:r>
              <a:rPr sz="1900" b="0">
                <a:solidFill>
                  <a:srgbClr val="1E1E1E"/>
                </a:solidFill>
                <a:latin typeface="Calibri"/>
              </a:rPr>
              <a:t>0.548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Mesarcik et al. U-Net: </a:t>
            </a:r>
            <a:r>
              <a:rPr sz="1900" b="0">
                <a:solidFill>
                  <a:srgbClr val="1E1E1E"/>
                </a:solidFill>
                <a:latin typeface="Calibri"/>
              </a:rPr>
              <a:t>0.588  (+0.039)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Our hybrid: </a:t>
            </a:r>
            <a:r>
              <a:rPr sz="1900" b="1">
                <a:solidFill>
                  <a:srgbClr val="E31837"/>
                </a:solidFill>
                <a:latin typeface="Calibri"/>
              </a:rPr>
              <a:t>0.660 — highest we found (best published: 0.640)</a:t>
            </a:r>
          </a:p>
          <a:p>
            <a:pPr algn="l">
              <a:spcAft>
                <a:spcPts val="18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Hybrid with changes 1–3 removed: </a:t>
            </a:r>
            <a:r>
              <a:rPr sz="1900" b="0">
                <a:solidFill>
                  <a:srgbClr val="1E1E1E"/>
                </a:solidFill>
                <a:latin typeface="Calibri"/>
              </a:rPr>
              <a:t>0.658 — no real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Two different U-Nets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07492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4709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043"/>
                </a:solidFill>
                <a:latin typeface="Calibri"/>
              </a:rPr>
              <a:t>Akeret et al. (2017) — tf_unet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The original U-Net code for RFI detection, written in TensorFlow.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This is the U-Net we ran.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00200"/>
            <a:ext cx="548640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36208" y="1645920"/>
            <a:ext cx="512064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043"/>
                </a:solidFill>
                <a:latin typeface="Calibri"/>
              </a:rPr>
              <a:t>Mesarcik et al. (2022) — their own U-Net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Rebuilt from scratch by the authors of the LOFAR dataset paper.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Same name, but a different network (see next slide).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77440" y="3530132"/>
            <a:ext cx="6309360" cy="2788372"/>
            <a:chOff x="2377440" y="3530132"/>
            <a:chExt cx="6309360" cy="2788372"/>
          </a:xfrm>
        </p:grpSpPr>
        <p:cxnSp>
          <p:nvCxnSpPr>
            <p:cNvPr id="8" name="Connector 7"/>
            <p:cNvCxnSpPr/>
            <p:nvPr/>
          </p:nvCxnSpPr>
          <p:spPr>
            <a:xfrm>
              <a:off x="2377440" y="5696712"/>
              <a:ext cx="630936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039922" y="3993001"/>
              <a:ext cx="1829714" cy="1703710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0" name="Connector 9"/>
            <p:cNvCxnSpPr/>
            <p:nvPr/>
          </p:nvCxnSpPr>
          <p:spPr>
            <a:xfrm>
              <a:off x="3954780" y="3949476"/>
              <a:ext cx="0" cy="87051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81628" y="394947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81628" y="4036527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2377440" y="3620292"/>
              <a:ext cx="315468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0.548 ± 0.014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377440" y="5751576"/>
              <a:ext cx="315468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Akeret tf_unet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(ours)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94602" y="3868643"/>
              <a:ext cx="1829714" cy="1828068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6" name="Connector 15"/>
            <p:cNvCxnSpPr/>
            <p:nvPr/>
          </p:nvCxnSpPr>
          <p:spPr>
            <a:xfrm>
              <a:off x="7109460" y="3859316"/>
              <a:ext cx="0" cy="18654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036308" y="385931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036308" y="3877970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5532120" y="3530132"/>
              <a:ext cx="315468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0.588 ± 0.003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32120" y="5751576"/>
              <a:ext cx="315468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Mesarcik et al.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U-Net (published)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8778240" y="4069080"/>
            <a:ext cx="27432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31837"/>
                </a:solidFill>
                <a:latin typeface="Calibri"/>
              </a:rPr>
              <a:t>Gap: 0.039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max F1 on the 109 expert-labelled LOFAR images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What is different between them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645920"/>
          <a:ext cx="1060703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023360"/>
                <a:gridCol w="420623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Akeret et al. tf_unet (ours)</a:t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Mesarcik et al. U-Net</a:t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Normalisation layers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BatchNorm after every layer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Shrinking the image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Max-pooling, 2 times (3 levels)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Stride-2 convolutions, 5 times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Image edges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Trimmed (valid padding)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Kept (same padding)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Network size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465,986 parameters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1,179,121 parameters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Training input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Whole 512×512 image, 4 per batch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32×32 patches, 1024 per batch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Input scaling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Fixed linear range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Clipped, then log-scaled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2 scores, ReLU, softmax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1 score, sigmoid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So the 0.039 gap compares two different networks</a:t>
            </a:r>
            <a:r>
              <a:rPr sz="1600" b="0">
                <a:solidFill>
                  <a:srgbClr val="1E1E1E"/>
                </a:solidFill>
                <a:latin typeface="Calibri"/>
              </a:rPr>
              <a:t> — not the same U-Net trained twice.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9 changes in our Hybrid model (1 of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27632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82496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Strip convolutions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 normal filter looks at a small 3×3 square of pixels.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Each strip path chains a 1×K and a K×1 filter (K = 7, 11, 21): together they cover a K×K square.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Idea: RFI appears as long streaks. As built, it looks at a wider area, not a thin 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41248" y="3511296"/>
            <a:ext cx="548640" cy="548640"/>
          </a:xfrm>
          <a:prstGeom prst="ellipse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Residual shortcuts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Normally the data must pass through every layer, one after another.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 shortcut lets the input skip past a block and be added back at the end.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Idea: faint details are not lost as the data goes deeper into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90288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8" y="4992624"/>
            <a:ext cx="548640" cy="548640"/>
          </a:xfrm>
          <a:prstGeom prst="ellipse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645152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Channel attention (ECA)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The network builds many feature maps, each looking for a different pattern.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Attention learns a weight for each one: useful ones up, others down.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Idea: help the features that spot faint RFI stand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9 changes in our Hybrid model (2 of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27632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82496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GroupNorm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Inside a network, numbers can grow too large or shrink too small.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GroupNorm rescales them inside every block so they stay in a steady range.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has no such step; this also makes training more stable.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41248" y="3511296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No ReLU on the output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passes its final scores through a ReLU, which turns negatives into 0.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With class weighting this can freeze the network so that it stops learning.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The hybrid outputs its raw scores, so this trap cannot happen.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90288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8" y="4992624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645152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Dice loss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The usual loss (cross-entropy) checks every pixel separately.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Dice loss also checks how well the whole predicted RFI shape overlaps the true one.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Helpful when RFI is rare: about 1 pixel in 130 on LOFAR.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9 changes in our Hybrid model (3 of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27632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82496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Same padding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trims the border of the image at every layer (valid padding).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Same padding adds a thin border so the image keeps its full size.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So every pixel, including the edges, gets a prediction.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41248" y="3511296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No class weighting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Class weighting tells the model to care more about the rare RFI pixels.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Our earlier version used it; removing it improved every run (0.647 → 0.660).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tf_unet does not use it either, so this is not a difference from tf_unet.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90288"/>
            <a:ext cx="10881360" cy="1353312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8" y="4992624"/>
            <a:ext cx="548640" cy="548640"/>
          </a:xfrm>
          <a:prstGeom prst="ellipse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645152"/>
            <a:ext cx="9784080" cy="12618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New size and training setup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Shrinks the image 4 times instead of 2, but thinner: 8 filters in the first layer, not 32.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Written in PyTorch; trained with Adam, one image at a time, 28,000 steps.</a:t>
            </a:r>
          </a:p>
          <a:p>
            <a:pPr algn="l">
              <a:spcAft>
                <a:spcPts val="1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 About 594,000 parameters in total.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Changes 1–3, as pictures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520440" cy="41148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719072"/>
            <a:ext cx="3246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1. Strip convolutions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00200"/>
            <a:ext cx="3520440" cy="41148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80560" y="1719072"/>
            <a:ext cx="3246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2. Residual shortcuts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520440" cy="41148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183880" y="1719072"/>
            <a:ext cx="3246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3. Channel attention (ECA)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64107" y="2286000"/>
            <a:ext cx="3072385" cy="1563624"/>
            <a:chOff x="864107" y="2286000"/>
            <a:chExt cx="3072385" cy="1563624"/>
          </a:xfrm>
        </p:grpSpPr>
        <p:sp>
          <p:nvSpPr>
            <p:cNvPr id="10" name="Rectangle 9"/>
            <p:cNvSpPr/>
            <p:nvPr/>
          </p:nvSpPr>
          <p:spPr>
            <a:xfrm>
              <a:off x="1001267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1" name="Rectangle 10"/>
            <p:cNvSpPr/>
            <p:nvPr/>
          </p:nvSpPr>
          <p:spPr>
            <a:xfrm>
              <a:off x="1175003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Rectangle 11"/>
            <p:cNvSpPr/>
            <p:nvPr/>
          </p:nvSpPr>
          <p:spPr>
            <a:xfrm>
              <a:off x="1348739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Rectangle 12"/>
            <p:cNvSpPr/>
            <p:nvPr/>
          </p:nvSpPr>
          <p:spPr>
            <a:xfrm>
              <a:off x="1522475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Rectangle 13"/>
            <p:cNvSpPr/>
            <p:nvPr/>
          </p:nvSpPr>
          <p:spPr>
            <a:xfrm>
              <a:off x="1696211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1869948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6" name="Rectangle 15"/>
            <p:cNvSpPr/>
            <p:nvPr/>
          </p:nvSpPr>
          <p:spPr>
            <a:xfrm>
              <a:off x="2043684" y="228600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7" name="Rectangle 16"/>
            <p:cNvSpPr/>
            <p:nvPr/>
          </p:nvSpPr>
          <p:spPr>
            <a:xfrm>
              <a:off x="1001267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Rectangle 17"/>
            <p:cNvSpPr/>
            <p:nvPr/>
          </p:nvSpPr>
          <p:spPr>
            <a:xfrm>
              <a:off x="1175003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9" name="Rectangle 18"/>
            <p:cNvSpPr/>
            <p:nvPr/>
          </p:nvSpPr>
          <p:spPr>
            <a:xfrm>
              <a:off x="1348739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1522475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Rectangle 20"/>
            <p:cNvSpPr/>
            <p:nvPr/>
          </p:nvSpPr>
          <p:spPr>
            <a:xfrm>
              <a:off x="1696211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2" name="Rectangle 21"/>
            <p:cNvSpPr/>
            <p:nvPr/>
          </p:nvSpPr>
          <p:spPr>
            <a:xfrm>
              <a:off x="1869948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" name="Rectangle 22"/>
            <p:cNvSpPr/>
            <p:nvPr/>
          </p:nvSpPr>
          <p:spPr>
            <a:xfrm>
              <a:off x="2043684" y="245973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Rectangle 23"/>
            <p:cNvSpPr/>
            <p:nvPr/>
          </p:nvSpPr>
          <p:spPr>
            <a:xfrm>
              <a:off x="1001267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" name="Rectangle 24"/>
            <p:cNvSpPr/>
            <p:nvPr/>
          </p:nvSpPr>
          <p:spPr>
            <a:xfrm>
              <a:off x="1175003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" name="Rectangle 25"/>
            <p:cNvSpPr/>
            <p:nvPr/>
          </p:nvSpPr>
          <p:spPr>
            <a:xfrm>
              <a:off x="1348739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" name="Rectangle 26"/>
            <p:cNvSpPr/>
            <p:nvPr/>
          </p:nvSpPr>
          <p:spPr>
            <a:xfrm>
              <a:off x="1522475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Rectangle 27"/>
            <p:cNvSpPr/>
            <p:nvPr/>
          </p:nvSpPr>
          <p:spPr>
            <a:xfrm>
              <a:off x="1696211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" name="Rectangle 28"/>
            <p:cNvSpPr/>
            <p:nvPr/>
          </p:nvSpPr>
          <p:spPr>
            <a:xfrm>
              <a:off x="1869948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" name="Rectangle 29"/>
            <p:cNvSpPr/>
            <p:nvPr/>
          </p:nvSpPr>
          <p:spPr>
            <a:xfrm>
              <a:off x="2043684" y="2633472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" name="Rectangle 30"/>
            <p:cNvSpPr/>
            <p:nvPr/>
          </p:nvSpPr>
          <p:spPr>
            <a:xfrm>
              <a:off x="1001267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Rectangle 31"/>
            <p:cNvSpPr/>
            <p:nvPr/>
          </p:nvSpPr>
          <p:spPr>
            <a:xfrm>
              <a:off x="1175003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Rectangle 32"/>
            <p:cNvSpPr/>
            <p:nvPr/>
          </p:nvSpPr>
          <p:spPr>
            <a:xfrm>
              <a:off x="1348739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" name="Rectangle 33"/>
            <p:cNvSpPr/>
            <p:nvPr/>
          </p:nvSpPr>
          <p:spPr>
            <a:xfrm>
              <a:off x="1522475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" name="Rectangle 34"/>
            <p:cNvSpPr/>
            <p:nvPr/>
          </p:nvSpPr>
          <p:spPr>
            <a:xfrm>
              <a:off x="1696211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Rectangle 35"/>
            <p:cNvSpPr/>
            <p:nvPr/>
          </p:nvSpPr>
          <p:spPr>
            <a:xfrm>
              <a:off x="1869948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7" name="Rectangle 36"/>
            <p:cNvSpPr/>
            <p:nvPr/>
          </p:nvSpPr>
          <p:spPr>
            <a:xfrm>
              <a:off x="2043684" y="2807208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8" name="Rectangle 37"/>
            <p:cNvSpPr/>
            <p:nvPr/>
          </p:nvSpPr>
          <p:spPr>
            <a:xfrm>
              <a:off x="1001267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9" name="Rectangle 38"/>
            <p:cNvSpPr/>
            <p:nvPr/>
          </p:nvSpPr>
          <p:spPr>
            <a:xfrm>
              <a:off x="1175003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0" name="Rectangle 39"/>
            <p:cNvSpPr/>
            <p:nvPr/>
          </p:nvSpPr>
          <p:spPr>
            <a:xfrm>
              <a:off x="1348739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1" name="Rectangle 40"/>
            <p:cNvSpPr/>
            <p:nvPr/>
          </p:nvSpPr>
          <p:spPr>
            <a:xfrm>
              <a:off x="1522475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1696211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Rectangle 42"/>
            <p:cNvSpPr/>
            <p:nvPr/>
          </p:nvSpPr>
          <p:spPr>
            <a:xfrm>
              <a:off x="1869948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4" name="Rectangle 43"/>
            <p:cNvSpPr/>
            <p:nvPr/>
          </p:nvSpPr>
          <p:spPr>
            <a:xfrm>
              <a:off x="2043684" y="2980944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5" name="Rectangle 44"/>
            <p:cNvSpPr/>
            <p:nvPr/>
          </p:nvSpPr>
          <p:spPr>
            <a:xfrm>
              <a:off x="1001267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Rectangle 45"/>
            <p:cNvSpPr/>
            <p:nvPr/>
          </p:nvSpPr>
          <p:spPr>
            <a:xfrm>
              <a:off x="1175003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Rectangle 46"/>
            <p:cNvSpPr/>
            <p:nvPr/>
          </p:nvSpPr>
          <p:spPr>
            <a:xfrm>
              <a:off x="1348739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8" name="Rectangle 47"/>
            <p:cNvSpPr/>
            <p:nvPr/>
          </p:nvSpPr>
          <p:spPr>
            <a:xfrm>
              <a:off x="1522475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9" name="Rectangle 48"/>
            <p:cNvSpPr/>
            <p:nvPr/>
          </p:nvSpPr>
          <p:spPr>
            <a:xfrm>
              <a:off x="1696211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Rectangle 49"/>
            <p:cNvSpPr/>
            <p:nvPr/>
          </p:nvSpPr>
          <p:spPr>
            <a:xfrm>
              <a:off x="1869948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Rectangle 50"/>
            <p:cNvSpPr/>
            <p:nvPr/>
          </p:nvSpPr>
          <p:spPr>
            <a:xfrm>
              <a:off x="2043684" y="3154680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2" name="Rectangle 51"/>
            <p:cNvSpPr/>
            <p:nvPr/>
          </p:nvSpPr>
          <p:spPr>
            <a:xfrm>
              <a:off x="1001267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3" name="Rectangle 52"/>
            <p:cNvSpPr/>
            <p:nvPr/>
          </p:nvSpPr>
          <p:spPr>
            <a:xfrm>
              <a:off x="1175003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4" name="Rectangle 53"/>
            <p:cNvSpPr/>
            <p:nvPr/>
          </p:nvSpPr>
          <p:spPr>
            <a:xfrm>
              <a:off x="1348739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5" name="Rectangle 54"/>
            <p:cNvSpPr/>
            <p:nvPr/>
          </p:nvSpPr>
          <p:spPr>
            <a:xfrm>
              <a:off x="1522475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6" name="Rectangle 55"/>
            <p:cNvSpPr/>
            <p:nvPr/>
          </p:nvSpPr>
          <p:spPr>
            <a:xfrm>
              <a:off x="1696211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7" name="Rectangle 56"/>
            <p:cNvSpPr/>
            <p:nvPr/>
          </p:nvSpPr>
          <p:spPr>
            <a:xfrm>
              <a:off x="1869948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8" name="Rectangle 57"/>
            <p:cNvSpPr/>
            <p:nvPr/>
          </p:nvSpPr>
          <p:spPr>
            <a:xfrm>
              <a:off x="2043684" y="3328416"/>
              <a:ext cx="173736" cy="17373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9" name="TextBox 58"/>
            <p:cNvSpPr txBox="1"/>
            <p:nvPr/>
          </p:nvSpPr>
          <p:spPr>
            <a:xfrm>
              <a:off x="864107" y="3575304"/>
              <a:ext cx="1490472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normal 3×3 filter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2583180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1" name="Rectangle 60"/>
            <p:cNvSpPr/>
            <p:nvPr/>
          </p:nvSpPr>
          <p:spPr>
            <a:xfrm>
              <a:off x="2756916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2" name="Rectangle 61"/>
            <p:cNvSpPr/>
            <p:nvPr/>
          </p:nvSpPr>
          <p:spPr>
            <a:xfrm>
              <a:off x="2930652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3" name="Rectangle 62"/>
            <p:cNvSpPr/>
            <p:nvPr/>
          </p:nvSpPr>
          <p:spPr>
            <a:xfrm>
              <a:off x="3104388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4" name="Rectangle 63"/>
            <p:cNvSpPr/>
            <p:nvPr/>
          </p:nvSpPr>
          <p:spPr>
            <a:xfrm>
              <a:off x="3278124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5" name="Rectangle 64"/>
            <p:cNvSpPr/>
            <p:nvPr/>
          </p:nvSpPr>
          <p:spPr>
            <a:xfrm>
              <a:off x="3451860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6" name="Rectangle 65"/>
            <p:cNvSpPr/>
            <p:nvPr/>
          </p:nvSpPr>
          <p:spPr>
            <a:xfrm>
              <a:off x="3625596" y="228600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7" name="Rectangle 66"/>
            <p:cNvSpPr/>
            <p:nvPr/>
          </p:nvSpPr>
          <p:spPr>
            <a:xfrm>
              <a:off x="2583180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8" name="Rectangle 67"/>
            <p:cNvSpPr/>
            <p:nvPr/>
          </p:nvSpPr>
          <p:spPr>
            <a:xfrm>
              <a:off x="2756916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9" name="Rectangle 68"/>
            <p:cNvSpPr/>
            <p:nvPr/>
          </p:nvSpPr>
          <p:spPr>
            <a:xfrm>
              <a:off x="2930652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0" name="Rectangle 69"/>
            <p:cNvSpPr/>
            <p:nvPr/>
          </p:nvSpPr>
          <p:spPr>
            <a:xfrm>
              <a:off x="3104388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1" name="Rectangle 70"/>
            <p:cNvSpPr/>
            <p:nvPr/>
          </p:nvSpPr>
          <p:spPr>
            <a:xfrm>
              <a:off x="3278124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2" name="Rectangle 71"/>
            <p:cNvSpPr/>
            <p:nvPr/>
          </p:nvSpPr>
          <p:spPr>
            <a:xfrm>
              <a:off x="3451860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3" name="Rectangle 72"/>
            <p:cNvSpPr/>
            <p:nvPr/>
          </p:nvSpPr>
          <p:spPr>
            <a:xfrm>
              <a:off x="3625596" y="245973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4" name="Rectangle 73"/>
            <p:cNvSpPr/>
            <p:nvPr/>
          </p:nvSpPr>
          <p:spPr>
            <a:xfrm>
              <a:off x="2583180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5" name="Rectangle 74"/>
            <p:cNvSpPr/>
            <p:nvPr/>
          </p:nvSpPr>
          <p:spPr>
            <a:xfrm>
              <a:off x="2756916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6" name="Rectangle 75"/>
            <p:cNvSpPr/>
            <p:nvPr/>
          </p:nvSpPr>
          <p:spPr>
            <a:xfrm>
              <a:off x="2930652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7" name="Rectangle 76"/>
            <p:cNvSpPr/>
            <p:nvPr/>
          </p:nvSpPr>
          <p:spPr>
            <a:xfrm>
              <a:off x="3104388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8" name="Rectangle 77"/>
            <p:cNvSpPr/>
            <p:nvPr/>
          </p:nvSpPr>
          <p:spPr>
            <a:xfrm>
              <a:off x="3278124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9" name="Rectangle 78"/>
            <p:cNvSpPr/>
            <p:nvPr/>
          </p:nvSpPr>
          <p:spPr>
            <a:xfrm>
              <a:off x="3451860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0" name="Rectangle 79"/>
            <p:cNvSpPr/>
            <p:nvPr/>
          </p:nvSpPr>
          <p:spPr>
            <a:xfrm>
              <a:off x="3625596" y="2633472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1" name="Rectangle 80"/>
            <p:cNvSpPr/>
            <p:nvPr/>
          </p:nvSpPr>
          <p:spPr>
            <a:xfrm>
              <a:off x="2583180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2" name="Rectangle 81"/>
            <p:cNvSpPr/>
            <p:nvPr/>
          </p:nvSpPr>
          <p:spPr>
            <a:xfrm>
              <a:off x="2756916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3" name="Rectangle 82"/>
            <p:cNvSpPr/>
            <p:nvPr/>
          </p:nvSpPr>
          <p:spPr>
            <a:xfrm>
              <a:off x="2930652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4" name="Rectangle 83"/>
            <p:cNvSpPr/>
            <p:nvPr/>
          </p:nvSpPr>
          <p:spPr>
            <a:xfrm>
              <a:off x="3104388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5" name="Rectangle 84"/>
            <p:cNvSpPr/>
            <p:nvPr/>
          </p:nvSpPr>
          <p:spPr>
            <a:xfrm>
              <a:off x="3278124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6" name="Rectangle 85"/>
            <p:cNvSpPr/>
            <p:nvPr/>
          </p:nvSpPr>
          <p:spPr>
            <a:xfrm>
              <a:off x="3451860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7" name="Rectangle 86"/>
            <p:cNvSpPr/>
            <p:nvPr/>
          </p:nvSpPr>
          <p:spPr>
            <a:xfrm>
              <a:off x="3625596" y="2807208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8" name="Rectangle 87"/>
            <p:cNvSpPr/>
            <p:nvPr/>
          </p:nvSpPr>
          <p:spPr>
            <a:xfrm>
              <a:off x="2583180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9" name="Rectangle 88"/>
            <p:cNvSpPr/>
            <p:nvPr/>
          </p:nvSpPr>
          <p:spPr>
            <a:xfrm>
              <a:off x="2756916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0" name="Rectangle 89"/>
            <p:cNvSpPr/>
            <p:nvPr/>
          </p:nvSpPr>
          <p:spPr>
            <a:xfrm>
              <a:off x="2930652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1" name="Rectangle 90"/>
            <p:cNvSpPr/>
            <p:nvPr/>
          </p:nvSpPr>
          <p:spPr>
            <a:xfrm>
              <a:off x="3104388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2" name="Rectangle 91"/>
            <p:cNvSpPr/>
            <p:nvPr/>
          </p:nvSpPr>
          <p:spPr>
            <a:xfrm>
              <a:off x="3278124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3" name="Rectangle 92"/>
            <p:cNvSpPr/>
            <p:nvPr/>
          </p:nvSpPr>
          <p:spPr>
            <a:xfrm>
              <a:off x="3451860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4" name="Rectangle 93"/>
            <p:cNvSpPr/>
            <p:nvPr/>
          </p:nvSpPr>
          <p:spPr>
            <a:xfrm>
              <a:off x="3625596" y="2980944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5" name="Rectangle 94"/>
            <p:cNvSpPr/>
            <p:nvPr/>
          </p:nvSpPr>
          <p:spPr>
            <a:xfrm>
              <a:off x="2583180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6" name="Rectangle 95"/>
            <p:cNvSpPr/>
            <p:nvPr/>
          </p:nvSpPr>
          <p:spPr>
            <a:xfrm>
              <a:off x="2756916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7" name="Rectangle 96"/>
            <p:cNvSpPr/>
            <p:nvPr/>
          </p:nvSpPr>
          <p:spPr>
            <a:xfrm>
              <a:off x="2930652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8" name="Rectangle 97"/>
            <p:cNvSpPr/>
            <p:nvPr/>
          </p:nvSpPr>
          <p:spPr>
            <a:xfrm>
              <a:off x="3104388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9" name="Rectangle 98"/>
            <p:cNvSpPr/>
            <p:nvPr/>
          </p:nvSpPr>
          <p:spPr>
            <a:xfrm>
              <a:off x="3278124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0" name="Rectangle 99"/>
            <p:cNvSpPr/>
            <p:nvPr/>
          </p:nvSpPr>
          <p:spPr>
            <a:xfrm>
              <a:off x="3451860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1" name="Rectangle 100"/>
            <p:cNvSpPr/>
            <p:nvPr/>
          </p:nvSpPr>
          <p:spPr>
            <a:xfrm>
              <a:off x="3625596" y="3154680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2" name="Rectangle 101"/>
            <p:cNvSpPr/>
            <p:nvPr/>
          </p:nvSpPr>
          <p:spPr>
            <a:xfrm>
              <a:off x="2583180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3" name="Rectangle 102"/>
            <p:cNvSpPr/>
            <p:nvPr/>
          </p:nvSpPr>
          <p:spPr>
            <a:xfrm>
              <a:off x="2756916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4" name="Rectangle 103"/>
            <p:cNvSpPr/>
            <p:nvPr/>
          </p:nvSpPr>
          <p:spPr>
            <a:xfrm>
              <a:off x="2930652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5" name="Rectangle 104"/>
            <p:cNvSpPr/>
            <p:nvPr/>
          </p:nvSpPr>
          <p:spPr>
            <a:xfrm>
              <a:off x="3104388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6" name="Rectangle 105"/>
            <p:cNvSpPr/>
            <p:nvPr/>
          </p:nvSpPr>
          <p:spPr>
            <a:xfrm>
              <a:off x="3278124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7" name="Rectangle 106"/>
            <p:cNvSpPr/>
            <p:nvPr/>
          </p:nvSpPr>
          <p:spPr>
            <a:xfrm>
              <a:off x="3451860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8" name="Rectangle 107"/>
            <p:cNvSpPr/>
            <p:nvPr/>
          </p:nvSpPr>
          <p:spPr>
            <a:xfrm>
              <a:off x="3625596" y="3328416"/>
              <a:ext cx="173736" cy="173736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9" name="TextBox 108"/>
            <p:cNvSpPr txBox="1"/>
            <p:nvPr/>
          </p:nvSpPr>
          <p:spPr>
            <a:xfrm>
              <a:off x="2446020" y="3575304"/>
              <a:ext cx="1490472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strip path: 1×7 then 7×1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4654296" y="2295144"/>
            <a:ext cx="2898648" cy="1225296"/>
            <a:chOff x="4654296" y="2295144"/>
            <a:chExt cx="2898648" cy="1225296"/>
          </a:xfrm>
        </p:grpSpPr>
        <p:sp>
          <p:nvSpPr>
            <p:cNvPr id="111" name="Rectangle 110"/>
            <p:cNvSpPr/>
            <p:nvPr/>
          </p:nvSpPr>
          <p:spPr>
            <a:xfrm>
              <a:off x="4654296" y="3017520"/>
              <a:ext cx="685800" cy="50292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10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5660136" y="3017520"/>
              <a:ext cx="868680" cy="502920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Calibri"/>
                </a:rPr>
                <a:t>layers</a:t>
              </a:r>
            </a:p>
          </p:txBody>
        </p:sp>
        <p:sp>
          <p:nvSpPr>
            <p:cNvPr id="113" name="Oval 112"/>
            <p:cNvSpPr/>
            <p:nvPr/>
          </p:nvSpPr>
          <p:spPr>
            <a:xfrm>
              <a:off x="6848855" y="3076956"/>
              <a:ext cx="384048" cy="384048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114" name="Connector 113"/>
            <p:cNvCxnSpPr/>
            <p:nvPr/>
          </p:nvCxnSpPr>
          <p:spPr>
            <a:xfrm>
              <a:off x="5340096" y="3268980"/>
              <a:ext cx="320040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ctor 114"/>
            <p:cNvCxnSpPr/>
            <p:nvPr/>
          </p:nvCxnSpPr>
          <p:spPr>
            <a:xfrm>
              <a:off x="6528816" y="3268980"/>
              <a:ext cx="320039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or 115"/>
            <p:cNvCxnSpPr/>
            <p:nvPr/>
          </p:nvCxnSpPr>
          <p:spPr>
            <a:xfrm>
              <a:off x="7232903" y="3268980"/>
              <a:ext cx="320041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or 116"/>
            <p:cNvCxnSpPr/>
            <p:nvPr/>
          </p:nvCxnSpPr>
          <p:spPr>
            <a:xfrm flipV="1">
              <a:off x="4997196" y="2606040"/>
              <a:ext cx="0" cy="41148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or 117"/>
            <p:cNvCxnSpPr/>
            <p:nvPr/>
          </p:nvCxnSpPr>
          <p:spPr>
            <a:xfrm>
              <a:off x="4997196" y="2606040"/>
              <a:ext cx="2043683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 118"/>
            <p:cNvCxnSpPr/>
            <p:nvPr/>
          </p:nvCxnSpPr>
          <p:spPr>
            <a:xfrm>
              <a:off x="7040879" y="2606040"/>
              <a:ext cx="0" cy="470916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/>
            <p:cNvSpPr txBox="1"/>
            <p:nvPr/>
          </p:nvSpPr>
          <p:spPr>
            <a:xfrm>
              <a:off x="4997196" y="2295144"/>
              <a:ext cx="2043683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1">
                  <a:solidFill>
                    <a:srgbClr val="E31837"/>
                  </a:solidFill>
                  <a:latin typeface="Calibri"/>
                </a:rPr>
                <a:t>shortcut</a:t>
              </a:r>
            </a:p>
          </p:txBody>
        </p:sp>
      </p:grpSp>
      <p:grpSp>
        <p:nvGrpSpPr>
          <p:cNvPr id="121" name="Group 120"/>
          <p:cNvGrpSpPr/>
          <p:nvPr/>
        </p:nvGrpSpPr>
        <p:grpSpPr>
          <a:xfrm>
            <a:off x="8385048" y="2386584"/>
            <a:ext cx="2843783" cy="1371600"/>
            <a:chOff x="8385048" y="2386584"/>
            <a:chExt cx="2843783" cy="1371600"/>
          </a:xfrm>
        </p:grpSpPr>
        <p:sp>
          <p:nvSpPr>
            <p:cNvPr id="122" name="Rectangle 121"/>
            <p:cNvSpPr/>
            <p:nvPr/>
          </p:nvSpPr>
          <p:spPr>
            <a:xfrm>
              <a:off x="8476488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3" name="Rectangle 122"/>
            <p:cNvSpPr/>
            <p:nvPr/>
          </p:nvSpPr>
          <p:spPr>
            <a:xfrm>
              <a:off x="8695944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4" name="Rectangle 123"/>
            <p:cNvSpPr/>
            <p:nvPr/>
          </p:nvSpPr>
          <p:spPr>
            <a:xfrm>
              <a:off x="8915400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5" name="Rectangle 124"/>
            <p:cNvSpPr/>
            <p:nvPr/>
          </p:nvSpPr>
          <p:spPr>
            <a:xfrm>
              <a:off x="9134856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6" name="Rectangle 125"/>
            <p:cNvSpPr/>
            <p:nvPr/>
          </p:nvSpPr>
          <p:spPr>
            <a:xfrm>
              <a:off x="9354312" y="2880360"/>
              <a:ext cx="155448" cy="54864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7" name="TextBox 126"/>
            <p:cNvSpPr txBox="1"/>
            <p:nvPr/>
          </p:nvSpPr>
          <p:spPr>
            <a:xfrm>
              <a:off x="8385048" y="3483864"/>
              <a:ext cx="1216151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before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0104120" y="3154680"/>
              <a:ext cx="155448" cy="27432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9" name="Rectangle 128"/>
            <p:cNvSpPr/>
            <p:nvPr/>
          </p:nvSpPr>
          <p:spPr>
            <a:xfrm>
              <a:off x="10323576" y="2496312"/>
              <a:ext cx="155448" cy="932688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0" name="Rectangle 129"/>
            <p:cNvSpPr/>
            <p:nvPr/>
          </p:nvSpPr>
          <p:spPr>
            <a:xfrm>
              <a:off x="10543032" y="3044952"/>
              <a:ext cx="155448" cy="384048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1" name="Rectangle 130"/>
            <p:cNvSpPr/>
            <p:nvPr/>
          </p:nvSpPr>
          <p:spPr>
            <a:xfrm>
              <a:off x="10762488" y="2386584"/>
              <a:ext cx="155448" cy="1042415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2" name="Rectangle 131"/>
            <p:cNvSpPr/>
            <p:nvPr/>
          </p:nvSpPr>
          <p:spPr>
            <a:xfrm>
              <a:off x="10981944" y="3209544"/>
              <a:ext cx="155448" cy="219456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3" name="TextBox 132"/>
            <p:cNvSpPr txBox="1"/>
            <p:nvPr/>
          </p:nvSpPr>
          <p:spPr>
            <a:xfrm>
              <a:off x="10012680" y="3483864"/>
              <a:ext cx="1216151" cy="274320"/>
            </a:xfrm>
            <a:prstGeom prst="rect">
              <a:avLst/>
            </a:prstGeom>
            <a:noFill/>
          </p:spPr>
          <p:txBody>
            <a:bodyPr wrap="square" anchor="ctr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after</a:t>
              </a:r>
            </a:p>
          </p:txBody>
        </p:sp>
        <p:sp>
          <p:nvSpPr>
            <p:cNvPr id="134" name="Right Arrow 133"/>
            <p:cNvSpPr/>
            <p:nvPr/>
          </p:nvSpPr>
          <p:spPr>
            <a:xfrm>
              <a:off x="9605772" y="2862072"/>
              <a:ext cx="402336" cy="237744"/>
            </a:xfrm>
            <a:prstGeom prst="rightArrow">
              <a:avLst/>
            </a:prstGeom>
            <a:solidFill>
              <a:srgbClr val="1E1E1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35" name="TextBox 134"/>
          <p:cNvSpPr txBox="1"/>
          <p:nvPr/>
        </p:nvSpPr>
        <p:spPr>
          <a:xfrm>
            <a:off x="822959" y="4069080"/>
            <a:ext cx="31546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Chains a 1×7 and a 7×1 filter (also 11 and 21). Together they cover a whole square, not a line.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500" b="0">
                <a:solidFill>
                  <a:srgbClr val="1E1E1E"/>
                </a:solidFill>
                <a:latin typeface="Calibri"/>
              </a:rPr>
              <a:t>catch streaks. As built, it sees a wider area.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526280" y="4069080"/>
            <a:ext cx="31546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A bypass road: the input skips past the block and is added back at the end.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500" b="0">
                <a:solidFill>
                  <a:srgbClr val="1E1E1E"/>
                </a:solidFill>
                <a:latin typeface="Calibri"/>
              </a:rPr>
              <a:t>faint details are not lost in deep layers.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29600" y="4069080"/>
            <a:ext cx="315468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Learns which feature maps matter and turns them up or down.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500" b="0">
                <a:solidFill>
                  <a:srgbClr val="1E1E1E"/>
                </a:solidFill>
                <a:latin typeface="Calibri"/>
              </a:rPr>
              <a:t>let faint-RFI features stand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Do changes 1–3 matter?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4160520" cy="21031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3840480" cy="1920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Full hybrid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All 9 changes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593,842</a:t>
            </a:r>
            <a:r>
              <a:rPr sz="1600" b="0">
                <a:solidFill>
                  <a:srgbClr val="1E1E1E"/>
                </a:solidFill>
                <a:latin typeface="Calibri"/>
              </a:rPr>
              <a:t>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886200"/>
            <a:ext cx="4160520" cy="21945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3840480" cy="2011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Partial hybrid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Changes 1–3 removed (no strips, no shortcuts, no attention): 6 changes left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486,418</a:t>
            </a:r>
            <a:r>
              <a:rPr sz="1600" b="0">
                <a:solidFill>
                  <a:srgbClr val="1E1E1E"/>
                </a:solidFill>
                <a:latin typeface="Calibri"/>
              </a:rPr>
              <a:t> parameters (18% smaller)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57800" y="1983414"/>
            <a:ext cx="6035040" cy="3283530"/>
            <a:chOff x="5257800" y="1983414"/>
            <a:chExt cx="6035040" cy="3283530"/>
          </a:xfrm>
        </p:grpSpPr>
        <p:cxnSp>
          <p:nvCxnSpPr>
            <p:cNvPr id="8" name="Connector 7"/>
            <p:cNvCxnSpPr/>
            <p:nvPr/>
          </p:nvCxnSpPr>
          <p:spPr>
            <a:xfrm>
              <a:off x="5257800" y="4645152"/>
              <a:ext cx="603504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5891479" y="2326643"/>
              <a:ext cx="1750161" cy="2318508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0" name="Connector 9"/>
            <p:cNvCxnSpPr/>
            <p:nvPr/>
          </p:nvCxnSpPr>
          <p:spPr>
            <a:xfrm>
              <a:off x="6766560" y="2312598"/>
              <a:ext cx="0" cy="2809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693408" y="2312598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693408" y="2340688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257800" y="1983414"/>
              <a:ext cx="301752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0.660 ± 0.004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57800" y="4700016"/>
              <a:ext cx="301752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Full hybrid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(9 changes)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908999" y="2332963"/>
              <a:ext cx="1750161" cy="2312188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6" name="Connector 15"/>
            <p:cNvCxnSpPr/>
            <p:nvPr/>
          </p:nvCxnSpPr>
          <p:spPr>
            <a:xfrm>
              <a:off x="9784080" y="2316460"/>
              <a:ext cx="0" cy="33006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710928" y="2316460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710928" y="234946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8275319" y="1987276"/>
              <a:ext cx="301752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0.658 ± 0.005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275319" y="4700016"/>
              <a:ext cx="301752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Partial hybrid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(6 changes)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257800" y="5349240"/>
            <a:ext cx="62636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No — the score barely moves: 0.660 vs 0.658 </a:t>
            </a:r>
            <a:r>
              <a:rPr sz="1400" b="0">
                <a:solidFill>
                  <a:srgbClr val="1E1E1E"/>
                </a:solidFill>
                <a:latin typeface="Calibri"/>
              </a:rPr>
              <a:t>(3 runs each, p = 0.64).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E1E1E"/>
                </a:solidFill>
                <a:latin typeface="Calibri"/>
              </a:rPr>
              <a:t>Strips, shortcuts and attention add 22% more parameters but no accuracy.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Where everything stands on LOFAR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7240" y="2007656"/>
            <a:ext cx="10607040" cy="3670767"/>
            <a:chOff x="777240" y="2007656"/>
            <a:chExt cx="10607040" cy="3670767"/>
          </a:xfrm>
        </p:grpSpPr>
        <p:cxnSp>
          <p:nvCxnSpPr>
            <p:cNvPr id="4" name="Connector 3"/>
            <p:cNvCxnSpPr/>
            <p:nvPr/>
          </p:nvCxnSpPr>
          <p:spPr>
            <a:xfrm>
              <a:off x="777240" y="5056631"/>
              <a:ext cx="1060704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/>
            <p:cNvSpPr/>
            <p:nvPr/>
          </p:nvSpPr>
          <p:spPr>
            <a:xfrm>
              <a:off x="1024737" y="3367064"/>
              <a:ext cx="683564" cy="1689567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" name="TextBox 5"/>
            <p:cNvSpPr txBox="1"/>
            <p:nvPr/>
          </p:nvSpPr>
          <p:spPr>
            <a:xfrm>
              <a:off x="777240" y="3037880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0.410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σ-clip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threshold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03297" y="2798380"/>
              <a:ext cx="683564" cy="2258251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TextBox 8"/>
            <p:cNvSpPr txBox="1"/>
            <p:nvPr/>
          </p:nvSpPr>
          <p:spPr>
            <a:xfrm>
              <a:off x="1955800" y="2469196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0.548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955800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Akeret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tf_unet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381857" y="2707721"/>
              <a:ext cx="683564" cy="234891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TextBox 11"/>
            <p:cNvSpPr txBox="1"/>
            <p:nvPr/>
          </p:nvSpPr>
          <p:spPr>
            <a:xfrm>
              <a:off x="3134360" y="2378537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0.570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34360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AOFlagger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560417" y="2633545"/>
              <a:ext cx="683564" cy="2423086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TextBox 14"/>
            <p:cNvSpPr txBox="1"/>
            <p:nvPr/>
          </p:nvSpPr>
          <p:spPr>
            <a:xfrm>
              <a:off x="4312920" y="2304361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0.588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312920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Mesarcik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U-Net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738977" y="2592336"/>
              <a:ext cx="683564" cy="2464295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TextBox 17"/>
            <p:cNvSpPr txBox="1"/>
            <p:nvPr/>
          </p:nvSpPr>
          <p:spPr>
            <a:xfrm>
              <a:off x="5491479" y="2263152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0.598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491479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RFI-Net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917537" y="2423379"/>
              <a:ext cx="683564" cy="2633252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TextBox 20"/>
            <p:cNvSpPr txBox="1"/>
            <p:nvPr/>
          </p:nvSpPr>
          <p:spPr>
            <a:xfrm>
              <a:off x="6670040" y="2094195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0.639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670040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RFDL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(2024)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096097" y="2419258"/>
              <a:ext cx="683564" cy="2637373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TextBox 23"/>
            <p:cNvSpPr txBox="1"/>
            <p:nvPr/>
          </p:nvSpPr>
          <p:spPr>
            <a:xfrm>
              <a:off x="7848599" y="2090074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1E1E1E"/>
                  </a:solidFill>
                  <a:latin typeface="Calibri"/>
                </a:rPr>
                <a:t>0.640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48599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Swin-UNETR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(2024)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274657" y="2345082"/>
              <a:ext cx="683564" cy="2711549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" name="TextBox 26"/>
            <p:cNvSpPr txBox="1"/>
            <p:nvPr/>
          </p:nvSpPr>
          <p:spPr>
            <a:xfrm>
              <a:off x="9027160" y="2015898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E31837"/>
                  </a:solidFill>
                  <a:latin typeface="Calibri"/>
                </a:rPr>
                <a:t>0.658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27160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Partial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hybrid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453217" y="2336840"/>
              <a:ext cx="683564" cy="2719791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" name="TextBox 29"/>
            <p:cNvSpPr txBox="1"/>
            <p:nvPr/>
          </p:nvSpPr>
          <p:spPr>
            <a:xfrm>
              <a:off x="10205719" y="2007656"/>
              <a:ext cx="1178559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300" b="1">
                  <a:solidFill>
                    <a:srgbClr val="E31837"/>
                  </a:solidFill>
                  <a:latin typeface="Calibri"/>
                </a:rPr>
                <a:t>0.660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0205719" y="5111495"/>
              <a:ext cx="1178559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Full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hybrid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777240" y="5650992"/>
            <a:ext cx="106070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170"/>
                </a:solidFill>
                <a:latin typeface="Calibri"/>
              </a:rPr>
              <a:t>max F1 on the 109 expert-labelled LOFAR images; every network was trained on AOFlagger labels. </a:t>
            </a:r>
            <a:r>
              <a:rPr sz="1200" b="0">
                <a:solidFill>
                  <a:srgbClr val="5A6170"/>
                </a:solidFill>
                <a:latin typeface="Calibri"/>
              </a:rPr>
              <a:t>Mesarcik U-Net, RFI-Net: Mesarcik et al. (2022); RFDL: van Zyl &amp; Grobler (2024); Swin-UNETR (400M parameters): Ouyang et al. (2024).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2043"/>
                </a:solidFill>
                <a:latin typeface="Calibri"/>
              </a:rPr>
              <a:t>Our lead over RFDL and Swin-UNETR (about 0.02) is smaller than the test-set uncertainty (±0.04).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To Do Next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Find what drives the gain: </a:t>
            </a:r>
            <a:r>
              <a:rPr sz="1900" b="0">
                <a:solidFill>
                  <a:srgbClr val="1E1E1E"/>
                </a:solidFill>
                <a:latin typeface="Calibri"/>
              </a:rPr>
              <a:t>test changes 5, 6, 7 and 9 one at a time, starting with the Dice loss.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Repeat runs </a:t>
            </a:r>
            <a:r>
              <a:rPr sz="1900" b="0">
                <a:solidFill>
                  <a:srgbClr val="1E1E1E"/>
                </a:solidFill>
                <a:latin typeface="Calibri"/>
              </a:rPr>
              <a:t>where results so far come from a single run.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Project report: </a:t>
            </a:r>
            <a:r>
              <a:rPr sz="1900" b="0">
                <a:solidFill>
                  <a:srgbClr val="1E1E1E"/>
                </a:solidFill>
                <a:latin typeface="Calibri"/>
              </a:rPr>
              <a:t>continue from the full first draft.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