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onak Singh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/>
          <p:nvPr/>
        </p:nvSpPr>
        <p:spPr>
          <a:xfrm>
            <a:off x="0" y="0"/>
            <a:ext cx="12192000" cy="4606724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" name="Google Shape;18;p2"/>
          <p:cNvGrpSpPr/>
          <p:nvPr/>
        </p:nvGrpSpPr>
        <p:grpSpPr>
          <a:xfrm>
            <a:off x="4539436" y="1893116"/>
            <a:ext cx="3113127" cy="3113127"/>
            <a:chOff x="4539436" y="1893116"/>
            <a:chExt cx="3113127" cy="3113127"/>
          </a:xfrm>
        </p:grpSpPr>
        <p:sp>
          <p:nvSpPr>
            <p:cNvPr id="19" name="Google Shape;19;p2"/>
            <p:cNvSpPr/>
            <p:nvPr/>
          </p:nvSpPr>
          <p:spPr>
            <a:xfrm>
              <a:off x="4539436" y="1893116"/>
              <a:ext cx="3113127" cy="3113127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48304" y="2001985"/>
              <a:ext cx="2895391" cy="2895391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-2" y="3912719"/>
            <a:ext cx="12192000" cy="228263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type="title"/>
          </p:nvPr>
        </p:nvSpPr>
        <p:spPr>
          <a:xfrm>
            <a:off x="2209801" y="328976"/>
            <a:ext cx="6721764" cy="9176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3385127" y="63602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31" name="Google Shape;3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34" name="Google Shape;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/>
          <p:nvPr/>
        </p:nvSpPr>
        <p:spPr>
          <a:xfrm>
            <a:off x="2204720" y="0"/>
            <a:ext cx="9774801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95" name="Google Shape;95;p13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5"/>
          <p:cNvSpPr/>
          <p:nvPr/>
        </p:nvSpPr>
        <p:spPr>
          <a:xfrm>
            <a:off x="0" y="0"/>
            <a:ext cx="12192000" cy="4606800"/>
          </a:xfrm>
          <a:prstGeom prst="rect">
            <a:avLst/>
          </a:prstGeom>
          <a:solidFill>
            <a:srgbClr val="9208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6" name="Google Shape;106;p15"/>
          <p:cNvGrpSpPr/>
          <p:nvPr/>
        </p:nvGrpSpPr>
        <p:grpSpPr>
          <a:xfrm>
            <a:off x="4539436" y="1893116"/>
            <a:ext cx="3113100" cy="3113100"/>
            <a:chOff x="4539436" y="1893116"/>
            <a:chExt cx="3113100" cy="3113100"/>
          </a:xfrm>
        </p:grpSpPr>
        <p:sp>
          <p:nvSpPr>
            <p:cNvPr id="107" name="Google Shape;107;p15"/>
            <p:cNvSpPr/>
            <p:nvPr/>
          </p:nvSpPr>
          <p:spPr>
            <a:xfrm>
              <a:off x="4539436" y="1893116"/>
              <a:ext cx="3113100" cy="3113100"/>
            </a:xfrm>
            <a:prstGeom prst="ellipse">
              <a:avLst/>
            </a:prstGeom>
            <a:solidFill>
              <a:srgbClr val="DA222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648304" y="2001985"/>
              <a:ext cx="2895300" cy="2895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15"/>
          <p:cNvSpPr/>
          <p:nvPr/>
        </p:nvSpPr>
        <p:spPr>
          <a:xfrm>
            <a:off x="-2" y="3912719"/>
            <a:ext cx="12192000" cy="2282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10" name="Google Shape;11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044975" y="2476877"/>
            <a:ext cx="2102047" cy="12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6256" y="5877605"/>
            <a:ext cx="4130398" cy="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782187" y="1367519"/>
            <a:ext cx="30483" cy="5656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976150" y="2885751"/>
            <a:ext cx="30483" cy="5656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2209801" y="328976"/>
            <a:ext cx="67218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  <a:defRPr b="1">
                <a:solidFill>
                  <a:srgbClr val="FF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3385127" y="63602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ogo, company name&#10;&#10;Description automatically generated" id="119" name="Google Shape;11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684" y="365125"/>
            <a:ext cx="1851025" cy="1085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5400000">
            <a:off x="5982501" y="1364002"/>
            <a:ext cx="58278" cy="1081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6095648" y="-4527556"/>
            <a:ext cx="65358" cy="121273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logo with a head and lines&#10;&#10;Description automatically generated with medium confidence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70576" y="86881"/>
            <a:ext cx="1366447" cy="1390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19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19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57" name="Google Shape;157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8" name="Google Shape;158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65" name="Google Shape;16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1" name="Google Shape;171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제목 슬라이드">
  <p:cSld name="9_제목 슬라이드">
    <p:bg>
      <p:bgPr>
        <a:solidFill>
          <a:srgbClr val="92081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/>
          <p:nvPr/>
        </p:nvSpPr>
        <p:spPr>
          <a:xfrm>
            <a:off x="2204720" y="0"/>
            <a:ext cx="9763674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rgbClr val="C70B1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2826365" y="0"/>
            <a:ext cx="9365635" cy="6858000"/>
          </a:xfrm>
          <a:custGeom>
            <a:rect b="b" l="l" r="r" t="t"/>
            <a:pathLst>
              <a:path extrusionOk="0" h="6858000" w="9365635">
                <a:moveTo>
                  <a:pt x="9044683" y="0"/>
                </a:moveTo>
                <a:lnTo>
                  <a:pt x="9365635" y="0"/>
                </a:lnTo>
                <a:lnTo>
                  <a:pt x="9365635" y="6858000"/>
                </a:lnTo>
                <a:lnTo>
                  <a:pt x="0" y="6858000"/>
                </a:lnTo>
                <a:lnTo>
                  <a:pt x="346277" y="6761053"/>
                </a:lnTo>
                <a:cubicBezTo>
                  <a:pt x="4078056" y="5668626"/>
                  <a:pt x="7180770" y="3232391"/>
                  <a:pt x="9015435" y="5374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, company name&#10;&#10;Description automatically generated" id="183" name="Google Shape;183;p26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2360757" y="794085"/>
            <a:ext cx="5433589" cy="3186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8840" y="5457398"/>
            <a:ext cx="5433589" cy="1213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68e7f2f61_23_0)">
  <p:cSld name="Generated (g3f68e7f2f61_23_0)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2179782" y="365125"/>
            <a:ext cx="683490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2179782" y="365125"/>
            <a:ext cx="6834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7632" y="4443984"/>
            <a:ext cx="9144000" cy="640080"/>
          </a:xfrm>
        </p:spPr>
        <p:txBody>
          <a:bodyPr/>
          <a:lstStyle/>
          <a:p>
            <a:pPr algn="ctr"/>
            <a:r>
              <a:rPr sz="3600" b="1">
                <a:solidFill>
                  <a:srgbClr val="E31837"/>
                </a:solidFill>
                <a:latin typeface="Calibri"/>
              </a:rPr>
              <a:t>Weekly Report – The Hybrid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27632" y="5138928"/>
            <a:ext cx="9144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0">
                <a:solidFill>
                  <a:srgbClr val="1E1E1E"/>
                </a:solidFill>
                <a:latin typeface="Calibri"/>
              </a:rPr>
              <a:t>08/10/2026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" y="6053328"/>
            <a:ext cx="40233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Ronak Singh (BS-MS 4th Year)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IMS23319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School of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120640" cy="32461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470916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This Week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Two U-Nets compared: </a:t>
            </a:r>
            <a:r>
              <a:rPr sz="1600" b="0">
                <a:solidFill>
                  <a:srgbClr val="1E1E1E"/>
                </a:solidFill>
                <a:latin typeface="Calibri"/>
              </a:rPr>
              <a:t>Akeret et al.'s tf_unet (ours) vs. the U-Net of Mesarcik et al.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Hybrid model: </a:t>
            </a:r>
            <a:r>
              <a:rPr sz="1600" b="0">
                <a:solidFill>
                  <a:srgbClr val="1E1E1E"/>
                </a:solidFill>
                <a:latin typeface="Calibri"/>
              </a:rPr>
              <a:t>presented for the first time — a U-Net with 9 changes.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Which changes matter: </a:t>
            </a:r>
            <a:r>
              <a:rPr sz="1600" b="0">
                <a:solidFill>
                  <a:srgbClr val="1E1E1E"/>
                </a:solidFill>
                <a:latin typeface="Calibri"/>
              </a:rPr>
              <a:t>tested by removing parts and re-training.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600200"/>
            <a:ext cx="5440680" cy="32461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0" y="1755648"/>
            <a:ext cx="50292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Key Results (LOFAR, max F1)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tf_unet: </a:t>
            </a:r>
            <a:r>
              <a:rPr sz="1600" b="0">
                <a:solidFill>
                  <a:srgbClr val="1E1E1E"/>
                </a:solidFill>
                <a:latin typeface="Calibri"/>
              </a:rPr>
              <a:t>0.548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Mesarcik et al. U-Net: </a:t>
            </a:r>
            <a:r>
              <a:rPr sz="1600" b="0">
                <a:solidFill>
                  <a:srgbClr val="1E1E1E"/>
                </a:solidFill>
                <a:latin typeface="Calibri"/>
              </a:rPr>
              <a:t>0.588  (+0.039)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Our hybrid: </a:t>
            </a:r>
            <a:r>
              <a:rPr sz="1600" b="1">
                <a:solidFill>
                  <a:srgbClr val="E31837"/>
                </a:solidFill>
                <a:latin typeface="Calibri"/>
              </a:rPr>
              <a:t>0.660 — highest of all methods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•  Hybrid with 3 parts removed: </a:t>
            </a:r>
            <a:r>
              <a:rPr sz="1600" b="0">
                <a:solidFill>
                  <a:srgbClr val="1E1E1E"/>
                </a:solidFill>
                <a:latin typeface="Calibri"/>
              </a:rPr>
              <a:t>0.659 — no real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Two different U-Nets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074920" cy="1874519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1691640"/>
            <a:ext cx="470916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043"/>
                </a:solidFill>
                <a:latin typeface="Calibri"/>
              </a:rPr>
              <a:t>Akeret et al. (2017) — tf_unet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The original U-Net code for RFI detection, written in TensorFlow.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This is the U-Net we 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600200"/>
            <a:ext cx="5486400" cy="1874519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36208" y="1691640"/>
            <a:ext cx="51206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043"/>
                </a:solidFill>
                <a:latin typeface="Calibri"/>
              </a:rPr>
              <a:t>Mesarcik et al. (2022) — their own U-Net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Rebuilt from scratch by the authors of the LOFAR dataset paper.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Same name, but a different network (see next slide).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26080" y="3884658"/>
            <a:ext cx="6309360" cy="2479565"/>
            <a:chOff x="2926080" y="3884658"/>
            <a:chExt cx="6309360" cy="2479565"/>
          </a:xfrm>
        </p:grpSpPr>
        <p:cxnSp>
          <p:nvCxnSpPr>
            <p:cNvPr id="8" name="Connector 7"/>
            <p:cNvCxnSpPr/>
            <p:nvPr/>
          </p:nvCxnSpPr>
          <p:spPr>
            <a:xfrm>
              <a:off x="2926080" y="5742431"/>
              <a:ext cx="6309360" cy="0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588562" y="4325059"/>
              <a:ext cx="1829714" cy="1417372"/>
            </a:xfrm>
            <a:prstGeom prst="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" name="Connector 9"/>
            <p:cNvCxnSpPr/>
            <p:nvPr/>
          </p:nvCxnSpPr>
          <p:spPr>
            <a:xfrm>
              <a:off x="4503420" y="4288849"/>
              <a:ext cx="0" cy="7242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4430268" y="4288849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4430268" y="4361269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2926080" y="3959665"/>
              <a:ext cx="315468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0.548 ± 0.014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26080" y="5797295"/>
              <a:ext cx="315468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Akeret tf_unet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(ours)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743242" y="4221601"/>
              <a:ext cx="1829714" cy="152083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6" name="Connector 15"/>
            <p:cNvCxnSpPr/>
            <p:nvPr/>
          </p:nvCxnSpPr>
          <p:spPr>
            <a:xfrm>
              <a:off x="7658100" y="4213842"/>
              <a:ext cx="0" cy="15519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7584948" y="4213842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7584948" y="4229361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080760" y="3884658"/>
              <a:ext cx="315468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0.588 ± 0.003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0760" y="5797295"/>
              <a:ext cx="315468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Mesarcik et al.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U-Net (published)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8869680" y="4206240"/>
            <a:ext cx="283464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31837"/>
                </a:solidFill>
                <a:latin typeface="Calibri"/>
              </a:rPr>
              <a:t>Gap: 0.039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max F1 on the 109 expert-labelled LOFAR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What is different between them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645920"/>
          <a:ext cx="10607039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023360"/>
                <a:gridCol w="420623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Akeret et al. tf_unet (ours)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Mesarcik et al. U-Net</a:t>
                      </a:r>
                    </a:p>
                  </a:txBody>
                  <a:tcPr marL="73152" marR="73152" anchor="ctr">
                    <a:solidFill>
                      <a:srgbClr val="0F20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Normalisation layers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BatchNorm after every layer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Shrinking the image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Max-pooling (3 levels)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Stride-2 convolutions (5 levels)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Image edges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Trimmed (valid padding)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Kept (same padding)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Network size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465,986 parameters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1,179,121 parameters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Training input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Whole 512×512 image, 4 per batch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32×32 patches, 1024 per batch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Input scaling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Fixed linear range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Clipped, then log-scaled</a:t>
                      </a:r>
                    </a:p>
                  </a:txBody>
                  <a:tcPr marL="73152" marR="73152" anchor="ctr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F2043"/>
                          </a:solidFill>
                          <a:latin typeface="Calibri"/>
                        </a:rPr>
                        <a:t>Output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2 scores, ReLU, softmax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1E1E"/>
                          </a:solidFill>
                          <a:latin typeface="Calibri"/>
                        </a:rPr>
                        <a:t>1 score, sigmoid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So the 0.039 gap compares two different networks</a:t>
            </a:r>
            <a:r>
              <a:rPr sz="1600" b="0">
                <a:solidFill>
                  <a:srgbClr val="1E1E1E"/>
                </a:solidFill>
                <a:latin typeface="Calibri"/>
              </a:rPr>
              <a:t> — not the same U-Net trained twice.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Our Hybrid model: 9 changes to the U-Net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5166360" cy="502920"/>
          </a:xfrm>
          <a:prstGeom prst="roundRect">
            <a:avLst/>
          </a:prstGeom>
          <a:solidFill>
            <a:srgbClr val="E31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Group 1 — RFI-specific parts (3)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166360" cy="2148840"/>
          </a:xfrm>
          <a:prstGeom prst="roundRect">
            <a:avLst/>
          </a:prstGeom>
          <a:solidFill>
            <a:srgbClr val="FBE3E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846320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1. Strip convolutions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look along long thin lines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2. Residual shortcuts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a bypass around each block</a:t>
            </a:r>
          </a:p>
          <a:p>
            <a:pPr algn="l">
              <a:spcAft>
                <a:spcPts val="16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3. Channel attention (ECA)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turns useful features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00200"/>
            <a:ext cx="5349240" cy="502920"/>
          </a:xfrm>
          <a:prstGeom prst="roundRect">
            <a:avLst/>
          </a:prstGeom>
          <a:solidFill>
            <a:srgbClr val="0F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1206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Group 2 — training &amp; design changes (6)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94560"/>
            <a:ext cx="5349240" cy="3703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5080" y="2304288"/>
            <a:ext cx="502920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4. GroupNorm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keeps internal values steady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5. No ReLU on the output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avoids the dead-network trap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6. Dice loss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rewards the right RFI shape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7. Same padding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predicts every pixel, edges too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8. No class weighting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doesn't over-push towards RFI</a:t>
            </a:r>
          </a:p>
          <a:p>
            <a:pPr algn="l">
              <a:spcAft>
                <a:spcPts val="14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9. New size &amp; training </a:t>
            </a:r>
            <a:r>
              <a:rPr sz="1800" b="0">
                <a:solidFill>
                  <a:srgbClr val="1E1E1E"/>
                </a:solidFill>
                <a:latin typeface="Calibri"/>
              </a:rPr>
              <a:t>— 4 levels, thinner, PyTorch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5166360" cy="13716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4846320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1E1E"/>
                </a:solidFill>
                <a:latin typeface="Calibri"/>
              </a:rPr>
              <a:t>Result: </a:t>
            </a:r>
            <a:r>
              <a:rPr sz="1800" b="0">
                <a:solidFill>
                  <a:srgbClr val="1E1E1E"/>
                </a:solidFill>
                <a:latin typeface="Calibri"/>
              </a:rPr>
              <a:t>max F1 </a:t>
            </a:r>
            <a:r>
              <a:rPr sz="1800" b="1">
                <a:solidFill>
                  <a:srgbClr val="E31837"/>
                </a:solidFill>
                <a:latin typeface="Calibri"/>
              </a:rPr>
              <a:t>0.660 ± 0.004</a:t>
            </a:r>
            <a:r>
              <a:rPr sz="1800" b="0">
                <a:solidFill>
                  <a:srgbClr val="1E1E1E"/>
                </a:solidFill>
                <a:latin typeface="Calibri"/>
              </a:rPr>
              <a:t> on LOFAR, with 593,842 parameters.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The three RFI-specific parts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20440" cy="45262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043"/>
                </a:solidFill>
                <a:latin typeface="Calibri"/>
              </a:rPr>
              <a:t>Strip convolutions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00200"/>
            <a:ext cx="3520440" cy="45262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480560" y="169164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043"/>
                </a:solidFill>
                <a:latin typeface="Calibri"/>
              </a:rPr>
              <a:t>Residual shortcuts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00200"/>
            <a:ext cx="3520440" cy="452628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83880" y="1691640"/>
            <a:ext cx="32461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2043"/>
                </a:solidFill>
                <a:latin typeface="Calibri"/>
              </a:rPr>
              <a:t>Channel attention (ECA)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2879" y="2240280"/>
            <a:ext cx="3017521" cy="1408176"/>
            <a:chOff x="182879" y="2240280"/>
            <a:chExt cx="3017521" cy="1408176"/>
          </a:xfrm>
        </p:grpSpPr>
        <p:sp>
          <p:nvSpPr>
            <p:cNvPr id="10" name="Rectangle 9"/>
            <p:cNvSpPr/>
            <p:nvPr/>
          </p:nvSpPr>
          <p:spPr>
            <a:xfrm>
              <a:off x="320040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1" name="Rectangle 10"/>
            <p:cNvSpPr/>
            <p:nvPr/>
          </p:nvSpPr>
          <p:spPr>
            <a:xfrm>
              <a:off x="475488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Rectangle 11"/>
            <p:cNvSpPr/>
            <p:nvPr/>
          </p:nvSpPr>
          <p:spPr>
            <a:xfrm>
              <a:off x="630936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" name="Rectangle 12"/>
            <p:cNvSpPr/>
            <p:nvPr/>
          </p:nvSpPr>
          <p:spPr>
            <a:xfrm>
              <a:off x="786384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4" name="Rectangle 13"/>
            <p:cNvSpPr/>
            <p:nvPr/>
          </p:nvSpPr>
          <p:spPr>
            <a:xfrm>
              <a:off x="941832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Rectangle 14"/>
            <p:cNvSpPr/>
            <p:nvPr/>
          </p:nvSpPr>
          <p:spPr>
            <a:xfrm>
              <a:off x="1097280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6" name="Rectangle 15"/>
            <p:cNvSpPr/>
            <p:nvPr/>
          </p:nvSpPr>
          <p:spPr>
            <a:xfrm>
              <a:off x="1252728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7" name="Rectangle 16"/>
            <p:cNvSpPr/>
            <p:nvPr/>
          </p:nvSpPr>
          <p:spPr>
            <a:xfrm>
              <a:off x="320040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Rectangle 17"/>
            <p:cNvSpPr/>
            <p:nvPr/>
          </p:nvSpPr>
          <p:spPr>
            <a:xfrm>
              <a:off x="475488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9" name="Rectangle 18"/>
            <p:cNvSpPr/>
            <p:nvPr/>
          </p:nvSpPr>
          <p:spPr>
            <a:xfrm>
              <a:off x="630936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0" name="Rectangle 19"/>
            <p:cNvSpPr/>
            <p:nvPr/>
          </p:nvSpPr>
          <p:spPr>
            <a:xfrm>
              <a:off x="786384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Rectangle 20"/>
            <p:cNvSpPr/>
            <p:nvPr/>
          </p:nvSpPr>
          <p:spPr>
            <a:xfrm>
              <a:off x="941832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2" name="Rectangle 21"/>
            <p:cNvSpPr/>
            <p:nvPr/>
          </p:nvSpPr>
          <p:spPr>
            <a:xfrm>
              <a:off x="1097280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3" name="Rectangle 22"/>
            <p:cNvSpPr/>
            <p:nvPr/>
          </p:nvSpPr>
          <p:spPr>
            <a:xfrm>
              <a:off x="1252728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Rectangle 23"/>
            <p:cNvSpPr/>
            <p:nvPr/>
          </p:nvSpPr>
          <p:spPr>
            <a:xfrm>
              <a:off x="320040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5" name="Rectangle 24"/>
            <p:cNvSpPr/>
            <p:nvPr/>
          </p:nvSpPr>
          <p:spPr>
            <a:xfrm>
              <a:off x="475488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6" name="Rectangle 25"/>
            <p:cNvSpPr/>
            <p:nvPr/>
          </p:nvSpPr>
          <p:spPr>
            <a:xfrm>
              <a:off x="630936" y="2551176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Rectangle 26"/>
            <p:cNvSpPr/>
            <p:nvPr/>
          </p:nvSpPr>
          <p:spPr>
            <a:xfrm>
              <a:off x="786384" y="2551176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8" name="Rectangle 27"/>
            <p:cNvSpPr/>
            <p:nvPr/>
          </p:nvSpPr>
          <p:spPr>
            <a:xfrm>
              <a:off x="941832" y="2551176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Rectangle 28"/>
            <p:cNvSpPr/>
            <p:nvPr/>
          </p:nvSpPr>
          <p:spPr>
            <a:xfrm>
              <a:off x="1097280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0" name="Rectangle 29"/>
            <p:cNvSpPr/>
            <p:nvPr/>
          </p:nvSpPr>
          <p:spPr>
            <a:xfrm>
              <a:off x="1252728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1" name="Rectangle 30"/>
            <p:cNvSpPr/>
            <p:nvPr/>
          </p:nvSpPr>
          <p:spPr>
            <a:xfrm>
              <a:off x="320040" y="2706624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Rectangle 31"/>
            <p:cNvSpPr/>
            <p:nvPr/>
          </p:nvSpPr>
          <p:spPr>
            <a:xfrm>
              <a:off x="475488" y="2706624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Rectangle 32"/>
            <p:cNvSpPr/>
            <p:nvPr/>
          </p:nvSpPr>
          <p:spPr>
            <a:xfrm>
              <a:off x="630936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Rectangle 33"/>
            <p:cNvSpPr/>
            <p:nvPr/>
          </p:nvSpPr>
          <p:spPr>
            <a:xfrm>
              <a:off x="786384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Rectangle 34"/>
            <p:cNvSpPr/>
            <p:nvPr/>
          </p:nvSpPr>
          <p:spPr>
            <a:xfrm>
              <a:off x="941832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6" name="Rectangle 35"/>
            <p:cNvSpPr/>
            <p:nvPr/>
          </p:nvSpPr>
          <p:spPr>
            <a:xfrm>
              <a:off x="1097280" y="2706624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7" name="Rectangle 36"/>
            <p:cNvSpPr/>
            <p:nvPr/>
          </p:nvSpPr>
          <p:spPr>
            <a:xfrm>
              <a:off x="1252728" y="2706624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Rectangle 37"/>
            <p:cNvSpPr/>
            <p:nvPr/>
          </p:nvSpPr>
          <p:spPr>
            <a:xfrm>
              <a:off x="320040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Rectangle 38"/>
            <p:cNvSpPr/>
            <p:nvPr/>
          </p:nvSpPr>
          <p:spPr>
            <a:xfrm>
              <a:off x="475488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Rectangle 39"/>
            <p:cNvSpPr/>
            <p:nvPr/>
          </p:nvSpPr>
          <p:spPr>
            <a:xfrm>
              <a:off x="630936" y="2862072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1" name="Rectangle 40"/>
            <p:cNvSpPr/>
            <p:nvPr/>
          </p:nvSpPr>
          <p:spPr>
            <a:xfrm>
              <a:off x="786384" y="2862072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2" name="Rectangle 41"/>
            <p:cNvSpPr/>
            <p:nvPr/>
          </p:nvSpPr>
          <p:spPr>
            <a:xfrm>
              <a:off x="941832" y="2862072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Rectangle 42"/>
            <p:cNvSpPr/>
            <p:nvPr/>
          </p:nvSpPr>
          <p:spPr>
            <a:xfrm>
              <a:off x="1097280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Rectangle 43"/>
            <p:cNvSpPr/>
            <p:nvPr/>
          </p:nvSpPr>
          <p:spPr>
            <a:xfrm>
              <a:off x="1252728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Rectangle 44"/>
            <p:cNvSpPr/>
            <p:nvPr/>
          </p:nvSpPr>
          <p:spPr>
            <a:xfrm>
              <a:off x="320040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Rectangle 45"/>
            <p:cNvSpPr/>
            <p:nvPr/>
          </p:nvSpPr>
          <p:spPr>
            <a:xfrm>
              <a:off x="475488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Rectangle 46"/>
            <p:cNvSpPr/>
            <p:nvPr/>
          </p:nvSpPr>
          <p:spPr>
            <a:xfrm>
              <a:off x="630936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Rectangle 47"/>
            <p:cNvSpPr/>
            <p:nvPr/>
          </p:nvSpPr>
          <p:spPr>
            <a:xfrm>
              <a:off x="786384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9" name="Rectangle 48"/>
            <p:cNvSpPr/>
            <p:nvPr/>
          </p:nvSpPr>
          <p:spPr>
            <a:xfrm>
              <a:off x="941832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0" name="Rectangle 49"/>
            <p:cNvSpPr/>
            <p:nvPr/>
          </p:nvSpPr>
          <p:spPr>
            <a:xfrm>
              <a:off x="1097280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Rectangle 50"/>
            <p:cNvSpPr/>
            <p:nvPr/>
          </p:nvSpPr>
          <p:spPr>
            <a:xfrm>
              <a:off x="1252728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2" name="Rectangle 51"/>
            <p:cNvSpPr/>
            <p:nvPr/>
          </p:nvSpPr>
          <p:spPr>
            <a:xfrm>
              <a:off x="320040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Rectangle 52"/>
            <p:cNvSpPr/>
            <p:nvPr/>
          </p:nvSpPr>
          <p:spPr>
            <a:xfrm>
              <a:off x="475488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4" name="Rectangle 53"/>
            <p:cNvSpPr/>
            <p:nvPr/>
          </p:nvSpPr>
          <p:spPr>
            <a:xfrm>
              <a:off x="630936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5" name="Rectangle 54"/>
            <p:cNvSpPr/>
            <p:nvPr/>
          </p:nvSpPr>
          <p:spPr>
            <a:xfrm>
              <a:off x="786384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Rectangle 55"/>
            <p:cNvSpPr/>
            <p:nvPr/>
          </p:nvSpPr>
          <p:spPr>
            <a:xfrm>
              <a:off x="941832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7" name="Rectangle 56"/>
            <p:cNvSpPr/>
            <p:nvPr/>
          </p:nvSpPr>
          <p:spPr>
            <a:xfrm>
              <a:off x="1097280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8" name="Rectangle 57"/>
            <p:cNvSpPr/>
            <p:nvPr/>
          </p:nvSpPr>
          <p:spPr>
            <a:xfrm>
              <a:off x="1252728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9" name="TextBox 58"/>
            <p:cNvSpPr txBox="1"/>
            <p:nvPr/>
          </p:nvSpPr>
          <p:spPr>
            <a:xfrm>
              <a:off x="182879" y="3374136"/>
              <a:ext cx="1371600" cy="274320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normal filter</a:t>
              </a: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1965960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Rectangle 60"/>
            <p:cNvSpPr/>
            <p:nvPr/>
          </p:nvSpPr>
          <p:spPr>
            <a:xfrm>
              <a:off x="2121408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2" name="Rectangle 61"/>
            <p:cNvSpPr/>
            <p:nvPr/>
          </p:nvSpPr>
          <p:spPr>
            <a:xfrm>
              <a:off x="2276856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Rectangle 62"/>
            <p:cNvSpPr/>
            <p:nvPr/>
          </p:nvSpPr>
          <p:spPr>
            <a:xfrm>
              <a:off x="2432304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4" name="Rectangle 63"/>
            <p:cNvSpPr/>
            <p:nvPr/>
          </p:nvSpPr>
          <p:spPr>
            <a:xfrm>
              <a:off x="2587752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5" name="Rectangle 64"/>
            <p:cNvSpPr/>
            <p:nvPr/>
          </p:nvSpPr>
          <p:spPr>
            <a:xfrm>
              <a:off x="2743200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6" name="Rectangle 65"/>
            <p:cNvSpPr/>
            <p:nvPr/>
          </p:nvSpPr>
          <p:spPr>
            <a:xfrm>
              <a:off x="2898648" y="224028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7" name="Rectangle 66"/>
            <p:cNvSpPr/>
            <p:nvPr/>
          </p:nvSpPr>
          <p:spPr>
            <a:xfrm>
              <a:off x="1965960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8" name="Rectangle 67"/>
            <p:cNvSpPr/>
            <p:nvPr/>
          </p:nvSpPr>
          <p:spPr>
            <a:xfrm>
              <a:off x="2121408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9" name="Rectangle 68"/>
            <p:cNvSpPr/>
            <p:nvPr/>
          </p:nvSpPr>
          <p:spPr>
            <a:xfrm>
              <a:off x="2276856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0" name="Rectangle 69"/>
            <p:cNvSpPr/>
            <p:nvPr/>
          </p:nvSpPr>
          <p:spPr>
            <a:xfrm>
              <a:off x="2432304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1" name="Rectangle 70"/>
            <p:cNvSpPr/>
            <p:nvPr/>
          </p:nvSpPr>
          <p:spPr>
            <a:xfrm>
              <a:off x="2587752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2" name="Rectangle 71"/>
            <p:cNvSpPr/>
            <p:nvPr/>
          </p:nvSpPr>
          <p:spPr>
            <a:xfrm>
              <a:off x="2743200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3" name="Rectangle 72"/>
            <p:cNvSpPr/>
            <p:nvPr/>
          </p:nvSpPr>
          <p:spPr>
            <a:xfrm>
              <a:off x="2898648" y="239572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4" name="Rectangle 73"/>
            <p:cNvSpPr/>
            <p:nvPr/>
          </p:nvSpPr>
          <p:spPr>
            <a:xfrm>
              <a:off x="1965960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5" name="Rectangle 74"/>
            <p:cNvSpPr/>
            <p:nvPr/>
          </p:nvSpPr>
          <p:spPr>
            <a:xfrm>
              <a:off x="2121408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6" name="Rectangle 75"/>
            <p:cNvSpPr/>
            <p:nvPr/>
          </p:nvSpPr>
          <p:spPr>
            <a:xfrm>
              <a:off x="2276856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7" name="Rectangle 76"/>
            <p:cNvSpPr/>
            <p:nvPr/>
          </p:nvSpPr>
          <p:spPr>
            <a:xfrm>
              <a:off x="2432304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8" name="Rectangle 77"/>
            <p:cNvSpPr/>
            <p:nvPr/>
          </p:nvSpPr>
          <p:spPr>
            <a:xfrm>
              <a:off x="2587752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79" name="Rectangle 78"/>
            <p:cNvSpPr/>
            <p:nvPr/>
          </p:nvSpPr>
          <p:spPr>
            <a:xfrm>
              <a:off x="2743200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0" name="Rectangle 79"/>
            <p:cNvSpPr/>
            <p:nvPr/>
          </p:nvSpPr>
          <p:spPr>
            <a:xfrm>
              <a:off x="2898648" y="2551176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1" name="Rectangle 80"/>
            <p:cNvSpPr/>
            <p:nvPr/>
          </p:nvSpPr>
          <p:spPr>
            <a:xfrm>
              <a:off x="1965960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2" name="Rectangle 81"/>
            <p:cNvSpPr/>
            <p:nvPr/>
          </p:nvSpPr>
          <p:spPr>
            <a:xfrm>
              <a:off x="2121408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3" name="Rectangle 82"/>
            <p:cNvSpPr/>
            <p:nvPr/>
          </p:nvSpPr>
          <p:spPr>
            <a:xfrm>
              <a:off x="2276856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4" name="Rectangle 83"/>
            <p:cNvSpPr/>
            <p:nvPr/>
          </p:nvSpPr>
          <p:spPr>
            <a:xfrm>
              <a:off x="2432304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5" name="Rectangle 84"/>
            <p:cNvSpPr/>
            <p:nvPr/>
          </p:nvSpPr>
          <p:spPr>
            <a:xfrm>
              <a:off x="2587752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6" name="Rectangle 85"/>
            <p:cNvSpPr/>
            <p:nvPr/>
          </p:nvSpPr>
          <p:spPr>
            <a:xfrm>
              <a:off x="2743200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7" name="Rectangle 86"/>
            <p:cNvSpPr/>
            <p:nvPr/>
          </p:nvSpPr>
          <p:spPr>
            <a:xfrm>
              <a:off x="2898648" y="2706624"/>
              <a:ext cx="155448" cy="155448"/>
            </a:xfrm>
            <a:prstGeom prst="rect">
              <a:avLst/>
            </a:prstGeom>
            <a:solidFill>
              <a:srgbClr val="E31837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8" name="Rectangle 87"/>
            <p:cNvSpPr/>
            <p:nvPr/>
          </p:nvSpPr>
          <p:spPr>
            <a:xfrm>
              <a:off x="1965960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89" name="Rectangle 88"/>
            <p:cNvSpPr/>
            <p:nvPr/>
          </p:nvSpPr>
          <p:spPr>
            <a:xfrm>
              <a:off x="2121408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0" name="Rectangle 89"/>
            <p:cNvSpPr/>
            <p:nvPr/>
          </p:nvSpPr>
          <p:spPr>
            <a:xfrm>
              <a:off x="2276856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1" name="Rectangle 90"/>
            <p:cNvSpPr/>
            <p:nvPr/>
          </p:nvSpPr>
          <p:spPr>
            <a:xfrm>
              <a:off x="2432304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2" name="Rectangle 91"/>
            <p:cNvSpPr/>
            <p:nvPr/>
          </p:nvSpPr>
          <p:spPr>
            <a:xfrm>
              <a:off x="2587752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3" name="Rectangle 92"/>
            <p:cNvSpPr/>
            <p:nvPr/>
          </p:nvSpPr>
          <p:spPr>
            <a:xfrm>
              <a:off x="2743200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4" name="Rectangle 93"/>
            <p:cNvSpPr/>
            <p:nvPr/>
          </p:nvSpPr>
          <p:spPr>
            <a:xfrm>
              <a:off x="2898648" y="2862072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5" name="Rectangle 94"/>
            <p:cNvSpPr/>
            <p:nvPr/>
          </p:nvSpPr>
          <p:spPr>
            <a:xfrm>
              <a:off x="1965960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6" name="Rectangle 95"/>
            <p:cNvSpPr/>
            <p:nvPr/>
          </p:nvSpPr>
          <p:spPr>
            <a:xfrm>
              <a:off x="2121408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7" name="Rectangle 96"/>
            <p:cNvSpPr/>
            <p:nvPr/>
          </p:nvSpPr>
          <p:spPr>
            <a:xfrm>
              <a:off x="2276856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8" name="Rectangle 97"/>
            <p:cNvSpPr/>
            <p:nvPr/>
          </p:nvSpPr>
          <p:spPr>
            <a:xfrm>
              <a:off x="2432304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9" name="Rectangle 98"/>
            <p:cNvSpPr/>
            <p:nvPr/>
          </p:nvSpPr>
          <p:spPr>
            <a:xfrm>
              <a:off x="2587752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0" name="Rectangle 99"/>
            <p:cNvSpPr/>
            <p:nvPr/>
          </p:nvSpPr>
          <p:spPr>
            <a:xfrm>
              <a:off x="2743200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1" name="Rectangle 100"/>
            <p:cNvSpPr/>
            <p:nvPr/>
          </p:nvSpPr>
          <p:spPr>
            <a:xfrm>
              <a:off x="2898648" y="3017520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2" name="Rectangle 101"/>
            <p:cNvSpPr/>
            <p:nvPr/>
          </p:nvSpPr>
          <p:spPr>
            <a:xfrm>
              <a:off x="1965960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3" name="Rectangle 102"/>
            <p:cNvSpPr/>
            <p:nvPr/>
          </p:nvSpPr>
          <p:spPr>
            <a:xfrm>
              <a:off x="2121408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4" name="Rectangle 103"/>
            <p:cNvSpPr/>
            <p:nvPr/>
          </p:nvSpPr>
          <p:spPr>
            <a:xfrm>
              <a:off x="2276856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5" name="Rectangle 104"/>
            <p:cNvSpPr/>
            <p:nvPr/>
          </p:nvSpPr>
          <p:spPr>
            <a:xfrm>
              <a:off x="2432304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6" name="Rectangle 105"/>
            <p:cNvSpPr/>
            <p:nvPr/>
          </p:nvSpPr>
          <p:spPr>
            <a:xfrm>
              <a:off x="2587752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7" name="Rectangle 106"/>
            <p:cNvSpPr/>
            <p:nvPr/>
          </p:nvSpPr>
          <p:spPr>
            <a:xfrm>
              <a:off x="2743200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8" name="Rectangle 107"/>
            <p:cNvSpPr/>
            <p:nvPr/>
          </p:nvSpPr>
          <p:spPr>
            <a:xfrm>
              <a:off x="2898648" y="3172968"/>
              <a:ext cx="155448" cy="15544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9BEC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09" name="TextBox 108"/>
            <p:cNvSpPr txBox="1"/>
            <p:nvPr/>
          </p:nvSpPr>
          <p:spPr>
            <a:xfrm>
              <a:off x="1828800" y="3374136"/>
              <a:ext cx="1371600" cy="274320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strip filter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777240" y="38862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Look along long thin lines (7, 11 or 21 pixels) instead of small squares.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Idea: </a:t>
            </a:r>
            <a:r>
              <a:rPr sz="1400" b="0">
                <a:solidFill>
                  <a:srgbClr val="1E1E1E"/>
                </a:solidFill>
                <a:latin typeface="Calibri"/>
              </a:rPr>
              <a:t>RFI often appears as streaks.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4526280" y="1920240"/>
            <a:ext cx="3017520" cy="1188720"/>
            <a:chOff x="4526280" y="1920240"/>
            <a:chExt cx="3017520" cy="1188720"/>
          </a:xfrm>
        </p:grpSpPr>
        <p:sp>
          <p:nvSpPr>
            <p:cNvPr id="112" name="Rectangle 111"/>
            <p:cNvSpPr/>
            <p:nvPr/>
          </p:nvSpPr>
          <p:spPr>
            <a:xfrm>
              <a:off x="4526280" y="2606040"/>
              <a:ext cx="685800" cy="502920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/>
            <a:lstStyle/>
            <a:p>
              <a:pPr algn="ctr"/>
              <a:r>
                <a:rPr sz="1100" b="1">
                  <a:solidFill>
                    <a:srgbClr val="1E1E1E"/>
                  </a:solidFill>
                  <a:latin typeface="Calibri"/>
                </a:rPr>
                <a:t>input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577840" y="2606040"/>
              <a:ext cx="868680" cy="502920"/>
            </a:xfrm>
            <a:prstGeom prst="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Calibri"/>
                </a:rPr>
                <a:t>layers</a:t>
              </a:r>
            </a:p>
          </p:txBody>
        </p:sp>
        <p:sp>
          <p:nvSpPr>
            <p:cNvPr id="114" name="Oval 113"/>
            <p:cNvSpPr/>
            <p:nvPr/>
          </p:nvSpPr>
          <p:spPr>
            <a:xfrm>
              <a:off x="6812280" y="2670048"/>
              <a:ext cx="365760" cy="365760"/>
            </a:xfrm>
            <a:prstGeom prst="ellipse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54864" rIns="54864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Calibri"/>
                </a:rPr>
                <a:t>+</a:t>
              </a:r>
            </a:p>
          </p:txBody>
        </p:sp>
        <p:cxnSp>
          <p:nvCxnSpPr>
            <p:cNvPr id="115" name="Connector 114"/>
            <p:cNvCxnSpPr/>
            <p:nvPr/>
          </p:nvCxnSpPr>
          <p:spPr>
            <a:xfrm>
              <a:off x="5212080" y="2857500"/>
              <a:ext cx="365760" cy="0"/>
            </a:xfrm>
            <a:prstGeom prst="line">
              <a:avLst/>
            </a:prstGeom>
            <a:ln w="19050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5"/>
            <p:cNvCxnSpPr/>
            <p:nvPr/>
          </p:nvCxnSpPr>
          <p:spPr>
            <a:xfrm>
              <a:off x="6446520" y="2857500"/>
              <a:ext cx="365760" cy="0"/>
            </a:xfrm>
            <a:prstGeom prst="line">
              <a:avLst/>
            </a:prstGeom>
            <a:ln w="19050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6"/>
            <p:cNvCxnSpPr/>
            <p:nvPr/>
          </p:nvCxnSpPr>
          <p:spPr>
            <a:xfrm>
              <a:off x="7178040" y="2857500"/>
              <a:ext cx="365760" cy="0"/>
            </a:xfrm>
            <a:prstGeom prst="line">
              <a:avLst/>
            </a:prstGeom>
            <a:ln w="19050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7"/>
            <p:cNvCxnSpPr/>
            <p:nvPr/>
          </p:nvCxnSpPr>
          <p:spPr>
            <a:xfrm flipV="1">
              <a:off x="4873752" y="2240280"/>
              <a:ext cx="0" cy="365760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 118"/>
            <p:cNvCxnSpPr/>
            <p:nvPr/>
          </p:nvCxnSpPr>
          <p:spPr>
            <a:xfrm>
              <a:off x="4873752" y="2240280"/>
              <a:ext cx="2121408" cy="0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or 119"/>
            <p:cNvCxnSpPr/>
            <p:nvPr/>
          </p:nvCxnSpPr>
          <p:spPr>
            <a:xfrm>
              <a:off x="6995160" y="2240280"/>
              <a:ext cx="0" cy="429768"/>
            </a:xfrm>
            <a:prstGeom prst="line">
              <a:avLst/>
            </a:prstGeom>
            <a:ln w="25400">
              <a:solidFill>
                <a:srgbClr val="E3183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5303520" y="1920240"/>
              <a:ext cx="1645920" cy="274320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1">
                  <a:solidFill>
                    <a:srgbClr val="E31837"/>
                  </a:solidFill>
                  <a:latin typeface="Calibri"/>
                </a:rPr>
                <a:t>shortcut</a:t>
              </a:r>
            </a:p>
          </p:txBody>
        </p:sp>
      </p:grpSp>
      <p:sp>
        <p:nvSpPr>
          <p:cNvPr id="122" name="TextBox 121"/>
          <p:cNvSpPr txBox="1"/>
          <p:nvPr/>
        </p:nvSpPr>
        <p:spPr>
          <a:xfrm>
            <a:off x="4480560" y="38862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A bypass road: each block passes its input straight through and only learns a small correction.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Idea: </a:t>
            </a:r>
            <a:r>
              <a:rPr sz="1400" b="0">
                <a:solidFill>
                  <a:srgbClr val="1E1E1E"/>
                </a:solidFill>
                <a:latin typeface="Calibri"/>
              </a:rPr>
              <a:t>faint details are not lost in deep layers.</a:t>
            </a:r>
          </a:p>
        </p:txBody>
      </p:sp>
      <p:grpSp>
        <p:nvGrpSpPr>
          <p:cNvPr id="123" name="Group 122"/>
          <p:cNvGrpSpPr/>
          <p:nvPr/>
        </p:nvGrpSpPr>
        <p:grpSpPr>
          <a:xfrm>
            <a:off x="8229600" y="2382012"/>
            <a:ext cx="2834640" cy="1275588"/>
            <a:chOff x="8229600" y="2382012"/>
            <a:chExt cx="2834640" cy="1275588"/>
          </a:xfrm>
        </p:grpSpPr>
        <p:sp>
          <p:nvSpPr>
            <p:cNvPr id="124" name="Rectangle 123"/>
            <p:cNvSpPr/>
            <p:nvPr/>
          </p:nvSpPr>
          <p:spPr>
            <a:xfrm>
              <a:off x="8321040" y="2834639"/>
              <a:ext cx="164592" cy="50292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5" name="Rectangle 124"/>
            <p:cNvSpPr/>
            <p:nvPr/>
          </p:nvSpPr>
          <p:spPr>
            <a:xfrm>
              <a:off x="8540496" y="2834639"/>
              <a:ext cx="164592" cy="50292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6" name="Rectangle 125"/>
            <p:cNvSpPr/>
            <p:nvPr/>
          </p:nvSpPr>
          <p:spPr>
            <a:xfrm>
              <a:off x="8759952" y="2834639"/>
              <a:ext cx="164592" cy="50292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7" name="Rectangle 126"/>
            <p:cNvSpPr/>
            <p:nvPr/>
          </p:nvSpPr>
          <p:spPr>
            <a:xfrm>
              <a:off x="8979408" y="2834639"/>
              <a:ext cx="164592" cy="50292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8" name="Rectangle 127"/>
            <p:cNvSpPr/>
            <p:nvPr/>
          </p:nvSpPr>
          <p:spPr>
            <a:xfrm>
              <a:off x="9198863" y="2834639"/>
              <a:ext cx="164592" cy="502920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9" name="TextBox 128"/>
            <p:cNvSpPr txBox="1"/>
            <p:nvPr/>
          </p:nvSpPr>
          <p:spPr>
            <a:xfrm>
              <a:off x="8229600" y="3383280"/>
              <a:ext cx="1234440" cy="274320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before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9921240" y="3086100"/>
              <a:ext cx="164592" cy="251460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1" name="Rectangle 130"/>
            <p:cNvSpPr/>
            <p:nvPr/>
          </p:nvSpPr>
          <p:spPr>
            <a:xfrm>
              <a:off x="10140696" y="2482596"/>
              <a:ext cx="164592" cy="854964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2" name="Rectangle 131"/>
            <p:cNvSpPr/>
            <p:nvPr/>
          </p:nvSpPr>
          <p:spPr>
            <a:xfrm>
              <a:off x="10360152" y="2985515"/>
              <a:ext cx="164592" cy="352044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3" name="Rectangle 132"/>
            <p:cNvSpPr/>
            <p:nvPr/>
          </p:nvSpPr>
          <p:spPr>
            <a:xfrm>
              <a:off x="10579608" y="2382012"/>
              <a:ext cx="164592" cy="955547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4" name="Rectangle 133"/>
            <p:cNvSpPr/>
            <p:nvPr/>
          </p:nvSpPr>
          <p:spPr>
            <a:xfrm>
              <a:off x="10799063" y="3136391"/>
              <a:ext cx="164592" cy="201168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35" name="TextBox 134"/>
            <p:cNvSpPr txBox="1"/>
            <p:nvPr/>
          </p:nvSpPr>
          <p:spPr>
            <a:xfrm>
              <a:off x="9829800" y="3383280"/>
              <a:ext cx="1234440" cy="274320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100" b="0">
                  <a:solidFill>
                    <a:srgbClr val="5A6170"/>
                  </a:solidFill>
                  <a:latin typeface="Calibri"/>
                </a:rPr>
                <a:t>after</a:t>
              </a:r>
            </a:p>
          </p:txBody>
        </p:sp>
        <p:cxnSp>
          <p:nvCxnSpPr>
            <p:cNvPr id="136" name="Connector 135"/>
            <p:cNvCxnSpPr/>
            <p:nvPr/>
          </p:nvCxnSpPr>
          <p:spPr>
            <a:xfrm>
              <a:off x="9509760" y="2834640"/>
              <a:ext cx="274320" cy="0"/>
            </a:xfrm>
            <a:prstGeom prst="line">
              <a:avLst/>
            </a:prstGeom>
            <a:ln w="19050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" name="TextBox 136"/>
          <p:cNvSpPr txBox="1"/>
          <p:nvPr/>
        </p:nvSpPr>
        <p:spPr>
          <a:xfrm>
            <a:off x="8183879" y="3886200"/>
            <a:ext cx="3246120" cy="2194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Learns which features matter and turns them up or down.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Idea: </a:t>
            </a:r>
            <a:r>
              <a:rPr sz="1400" b="0">
                <a:solidFill>
                  <a:srgbClr val="1E1E1E"/>
                </a:solidFill>
                <a:latin typeface="Calibri"/>
              </a:rPr>
              <a:t>let faint-RFI features stand 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Full hybrid vs. partial hybrid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4160520" cy="21031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3840480" cy="1965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31837"/>
                </a:solidFill>
                <a:latin typeface="Calibri"/>
              </a:rPr>
              <a:t>Full hybrid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All 9 changes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593,842</a:t>
            </a:r>
            <a:r>
              <a:rPr sz="1600" b="0">
                <a:solidFill>
                  <a:srgbClr val="1E1E1E"/>
                </a:solidFill>
                <a:latin typeface="Calibri"/>
              </a:rPr>
              <a:t>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86200"/>
            <a:ext cx="4160520" cy="21945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3840480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2043"/>
                </a:solidFill>
                <a:latin typeface="Calibri"/>
              </a:rPr>
              <a:t>Partial hybrid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E1E1E"/>
                </a:solidFill>
                <a:latin typeface="Calibri"/>
              </a:rPr>
              <a:t>Group 1 removed: no strips, no shortcuts, no attention (6 changes left)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  <a:latin typeface="Calibri"/>
              </a:rPr>
              <a:t>486,418</a:t>
            </a:r>
            <a:r>
              <a:rPr sz="1600" b="0">
                <a:solidFill>
                  <a:srgbClr val="1E1E1E"/>
                </a:solidFill>
                <a:latin typeface="Calibri"/>
              </a:rPr>
              <a:t> parameters (18% smaller)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257800" y="1983414"/>
            <a:ext cx="6035040" cy="3283530"/>
            <a:chOff x="5257800" y="1983414"/>
            <a:chExt cx="6035040" cy="3283530"/>
          </a:xfrm>
        </p:grpSpPr>
        <p:cxnSp>
          <p:nvCxnSpPr>
            <p:cNvPr id="8" name="Connector 7"/>
            <p:cNvCxnSpPr/>
            <p:nvPr/>
          </p:nvCxnSpPr>
          <p:spPr>
            <a:xfrm>
              <a:off x="5257800" y="4645152"/>
              <a:ext cx="6035040" cy="0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5891479" y="2326643"/>
              <a:ext cx="1750161" cy="2318508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0" name="Connector 9"/>
            <p:cNvCxnSpPr/>
            <p:nvPr/>
          </p:nvCxnSpPr>
          <p:spPr>
            <a:xfrm>
              <a:off x="6766560" y="2312598"/>
              <a:ext cx="0" cy="2809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6693408" y="2312598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>
              <a:off x="6693408" y="2340688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5257800" y="1983414"/>
              <a:ext cx="301752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E31837"/>
                  </a:solidFill>
                  <a:latin typeface="Calibri"/>
                </a:rPr>
                <a:t>0.660 ± 0.004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57800" y="4700016"/>
              <a:ext cx="301752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Full hybrid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(9 changes)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908999" y="2332963"/>
              <a:ext cx="1750161" cy="2312188"/>
            </a:xfrm>
            <a:prstGeom prst="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cxnSp>
          <p:nvCxnSpPr>
            <p:cNvPr id="16" name="Connector 15"/>
            <p:cNvCxnSpPr/>
            <p:nvPr/>
          </p:nvCxnSpPr>
          <p:spPr>
            <a:xfrm>
              <a:off x="9784080" y="2316460"/>
              <a:ext cx="0" cy="33006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6"/>
            <p:cNvCxnSpPr/>
            <p:nvPr/>
          </p:nvCxnSpPr>
          <p:spPr>
            <a:xfrm>
              <a:off x="9710928" y="2316460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7"/>
            <p:cNvCxnSpPr/>
            <p:nvPr/>
          </p:nvCxnSpPr>
          <p:spPr>
            <a:xfrm>
              <a:off x="9710928" y="2349466"/>
              <a:ext cx="146304" cy="0"/>
            </a:xfrm>
            <a:prstGeom prst="line">
              <a:avLst/>
            </a:prstGeom>
            <a:ln w="15875">
              <a:solidFill>
                <a:srgbClr val="1E1E1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8275319" y="1987276"/>
              <a:ext cx="3017520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0.658 ± 0.005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275319" y="4700016"/>
              <a:ext cx="3017520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Partial hybrid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(6 changes)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5257800" y="5349240"/>
            <a:ext cx="62636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E1E1E"/>
                </a:solidFill>
                <a:latin typeface="Calibri"/>
              </a:rPr>
              <a:t>Difference: 0.002 — not significant </a:t>
            </a:r>
            <a:r>
              <a:rPr sz="1400" b="0">
                <a:solidFill>
                  <a:srgbClr val="1E1E1E"/>
                </a:solidFill>
                <a:latin typeface="Calibri"/>
              </a:rPr>
              <a:t>(3 runs each, p = 0.64).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The three RFI-specific parts add 18% more parameters but no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Where everything stands on LOFAR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77239" y="2007656"/>
            <a:ext cx="10607041" cy="3670767"/>
            <a:chOff x="777239" y="2007656"/>
            <a:chExt cx="10607041" cy="3670767"/>
          </a:xfrm>
        </p:grpSpPr>
        <p:cxnSp>
          <p:nvCxnSpPr>
            <p:cNvPr id="4" name="Connector 3"/>
            <p:cNvCxnSpPr/>
            <p:nvPr/>
          </p:nvCxnSpPr>
          <p:spPr>
            <a:xfrm>
              <a:off x="777240" y="5056631"/>
              <a:ext cx="10607040" cy="0"/>
            </a:xfrm>
            <a:prstGeom prst="line">
              <a:avLst/>
            </a:prstGeom>
            <a:ln w="15875">
              <a:solidFill>
                <a:srgbClr val="5A61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/>
            <p:cNvSpPr/>
            <p:nvPr/>
          </p:nvSpPr>
          <p:spPr>
            <a:xfrm>
              <a:off x="1095451" y="3367064"/>
              <a:ext cx="878869" cy="1689567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" name="TextBox 5"/>
            <p:cNvSpPr txBox="1"/>
            <p:nvPr/>
          </p:nvSpPr>
          <p:spPr>
            <a:xfrm>
              <a:off x="777239" y="3037880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0.410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39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σ-clip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threshold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610742" y="2798380"/>
              <a:ext cx="878869" cy="2258251"/>
            </a:xfrm>
            <a:prstGeom prst="rect">
              <a:avLst/>
            </a:prstGeom>
            <a:solidFill>
              <a:srgbClr val="0F204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9" name="TextBox 8"/>
            <p:cNvSpPr txBox="1"/>
            <p:nvPr/>
          </p:nvSpPr>
          <p:spPr>
            <a:xfrm>
              <a:off x="2292531" y="2469196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0.548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292531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Akeret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tf_unet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126034" y="2707721"/>
              <a:ext cx="878869" cy="2348910"/>
            </a:xfrm>
            <a:prstGeom prst="rect">
              <a:avLst/>
            </a:prstGeom>
            <a:solidFill>
              <a:srgbClr val="B9BE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2" name="TextBox 11"/>
            <p:cNvSpPr txBox="1"/>
            <p:nvPr/>
          </p:nvSpPr>
          <p:spPr>
            <a:xfrm>
              <a:off x="3807822" y="2378537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0.570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807822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AOFlagger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41325" y="2633545"/>
              <a:ext cx="878869" cy="2423086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5" name="TextBox 14"/>
            <p:cNvSpPr txBox="1"/>
            <p:nvPr/>
          </p:nvSpPr>
          <p:spPr>
            <a:xfrm>
              <a:off x="5323114" y="2304361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0.588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3114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Mesarcik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U-Net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56616" y="2592336"/>
              <a:ext cx="878869" cy="2464295"/>
            </a:xfrm>
            <a:prstGeom prst="rect">
              <a:avLst/>
            </a:prstGeom>
            <a:solidFill>
              <a:srgbClr val="8E9AA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18" name="TextBox 17"/>
            <p:cNvSpPr txBox="1"/>
            <p:nvPr/>
          </p:nvSpPr>
          <p:spPr>
            <a:xfrm>
              <a:off x="6838405" y="2263152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1E1E1E"/>
                  </a:solidFill>
                  <a:latin typeface="Calibri"/>
                </a:rPr>
                <a:t>0.598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838405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RFI-Net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671908" y="2340961"/>
              <a:ext cx="878869" cy="2715670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1" name="TextBox 20"/>
            <p:cNvSpPr txBox="1"/>
            <p:nvPr/>
          </p:nvSpPr>
          <p:spPr>
            <a:xfrm>
              <a:off x="8353697" y="2011777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E31837"/>
                  </a:solidFill>
                  <a:latin typeface="Calibri"/>
                </a:rPr>
                <a:t>0.659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353697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Partial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hybrid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187199" y="2336840"/>
              <a:ext cx="878869" cy="2719791"/>
            </a:xfrm>
            <a:prstGeom prst="rect">
              <a:avLst/>
            </a:prstGeom>
            <a:solidFill>
              <a:srgbClr val="E318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4" name="TextBox 23"/>
            <p:cNvSpPr txBox="1"/>
            <p:nvPr/>
          </p:nvSpPr>
          <p:spPr>
            <a:xfrm>
              <a:off x="9868988" y="2007656"/>
              <a:ext cx="1515291" cy="29260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400" b="1">
                  <a:solidFill>
                    <a:srgbClr val="E31837"/>
                  </a:solidFill>
                  <a:latin typeface="Calibri"/>
                </a:rPr>
                <a:t>0.660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868988" y="5111495"/>
              <a:ext cx="1515291" cy="566928"/>
            </a:xfrm>
            <a:prstGeom prst="rect">
              <a:avLst/>
            </a:prstGeom>
            <a:noFill/>
          </p:spPr>
          <p:txBody>
            <a:bodyPr wrap="square" anchor="t" lIns="36576" rIns="36576" tIns="18288" bIns="18288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Full</a:t>
              </a:r>
            </a:p>
            <a:p>
              <a:pPr algn="ctr">
                <a:spcAft>
                  <a:spcPts val="0"/>
                </a:spcAft>
              </a:pPr>
              <a:r>
                <a:rPr sz="1200" b="0">
                  <a:solidFill>
                    <a:srgbClr val="1E1E1E"/>
                  </a:solidFill>
                  <a:latin typeface="Calibri"/>
                </a:rPr>
                <a:t>hybrid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170"/>
                </a:solidFill>
                <a:latin typeface="Calibri"/>
              </a:rPr>
              <a:t>max F1 on the 109 expert-labelled LOFAR images. </a:t>
            </a:r>
            <a:r>
              <a:rPr sz="1200" b="0">
                <a:solidFill>
                  <a:srgbClr val="5A6170"/>
                </a:solidFill>
                <a:latin typeface="Calibri"/>
              </a:rPr>
              <a:t>Mesarcik et al. U-Net and RFI-Net values as published by Mesarcik et al. (2022).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E31837"/>
                </a:solidFill>
                <a:latin typeface="Calibri"/>
              </a:rPr>
              <a:t>➢ To Do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691640"/>
            <a:ext cx="10058400" cy="4389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Find what drives the gain: </a:t>
            </a:r>
            <a:r>
              <a:rPr sz="1900" b="0">
                <a:solidFill>
                  <a:srgbClr val="1E1E1E"/>
                </a:solidFill>
                <a:latin typeface="Calibri"/>
              </a:rPr>
              <a:t>test the 6 Group-2 changes one at a time, starting with the Dice loss.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Repeat runs </a:t>
            </a:r>
            <a:r>
              <a:rPr sz="1900" b="0">
                <a:solidFill>
                  <a:srgbClr val="1E1E1E"/>
                </a:solidFill>
                <a:latin typeface="Calibri"/>
              </a:rPr>
              <a:t>where results so far come from a single run.</a:t>
            </a:r>
          </a:p>
          <a:p>
            <a:pPr algn="l">
              <a:spcAft>
                <a:spcPts val="1600"/>
              </a:spcAft>
            </a:pPr>
            <a:r>
              <a:rPr sz="1900" b="1">
                <a:solidFill>
                  <a:srgbClr val="1E1E1E"/>
                </a:solidFill>
                <a:latin typeface="Calibri"/>
              </a:rPr>
              <a:t>•  Project report: </a:t>
            </a:r>
            <a:r>
              <a:rPr sz="1900" b="0">
                <a:solidFill>
                  <a:srgbClr val="1E1E1E"/>
                </a:solidFill>
                <a:latin typeface="Calibri"/>
              </a:rPr>
              <a:t>continue from the full first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Red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